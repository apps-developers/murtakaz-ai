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9"/>
  </p:notesMasterIdLst>
  <p:sldIdLst>
    <p:sldId id="2739" r:id="rId3"/>
    <p:sldId id="371" r:id="rId4"/>
    <p:sldId id="372" r:id="rId5"/>
    <p:sldId id="373" r:id="rId6"/>
    <p:sldId id="3508" r:id="rId7"/>
    <p:sldId id="3600" r:id="rId8"/>
    <p:sldId id="3557" r:id="rId9"/>
    <p:sldId id="3558" r:id="rId10"/>
    <p:sldId id="3592" r:id="rId11"/>
    <p:sldId id="3560" r:id="rId12"/>
    <p:sldId id="3561" r:id="rId13"/>
    <p:sldId id="3593" r:id="rId14"/>
    <p:sldId id="3563" r:id="rId15"/>
    <p:sldId id="3564" r:id="rId16"/>
    <p:sldId id="3594" r:id="rId17"/>
    <p:sldId id="3585" r:id="rId18"/>
    <p:sldId id="3591" r:id="rId19"/>
    <p:sldId id="3595" r:id="rId20"/>
    <p:sldId id="3569" r:id="rId21"/>
    <p:sldId id="3570" r:id="rId22"/>
    <p:sldId id="3571" r:id="rId23"/>
    <p:sldId id="3588" r:id="rId24"/>
    <p:sldId id="3589" r:id="rId25"/>
    <p:sldId id="3590" r:id="rId26"/>
    <p:sldId id="3572" r:id="rId27"/>
    <p:sldId id="3573" r:id="rId28"/>
    <p:sldId id="3574" r:id="rId29"/>
    <p:sldId id="3584" r:id="rId30"/>
    <p:sldId id="320" r:id="rId31"/>
    <p:sldId id="3599" r:id="rId32"/>
    <p:sldId id="3575" r:id="rId33"/>
    <p:sldId id="3576" r:id="rId34"/>
    <p:sldId id="3598" r:id="rId35"/>
    <p:sldId id="3578" r:id="rId36"/>
    <p:sldId id="3579" r:id="rId37"/>
    <p:sldId id="3597"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396184-409C-2EB4-4F14-E41AA842677B}" name="Alhanouf Mohammed Alsubaie" initials="AS" userId="S::ASUBAIE@rafedsa.com::98de09d1-2408-4437-8440-9c5f6a6e860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F5597"/>
    <a:srgbClr val="FFFF00"/>
    <a:srgbClr val="E8E8E8"/>
    <a:srgbClr val="EDEDED"/>
    <a:srgbClr val="F2F2F2"/>
    <a:srgbClr val="E84F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4692D9-4125-479D-B4DF-04191368B8BD}" v="210" dt="2025-09-01T10:16:33.998"/>
  </p1510:revLst>
</p1510:revInfo>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94660"/>
  </p:normalViewPr>
  <p:slideViewPr>
    <p:cSldViewPr snapToGrid="0">
      <p:cViewPr varScale="1">
        <p:scale>
          <a:sx n="105" d="100"/>
          <a:sy n="105" d="100"/>
        </p:scale>
        <p:origin x="11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8/10/relationships/authors" Target="authors.xml"/><Relationship Id="rId20" Type="http://schemas.openxmlformats.org/officeDocument/2006/relationships/slide" Target="slides/slide18.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maha Sulaiman Alkhurayji" userId="78008012-bfe5-4fb4-a012-673e87f3fba2" providerId="ADAL" clId="{D8F2C00E-50C4-4E72-B0B7-2C4F0FCB20F7}"/>
    <pc:docChg chg="undo custSel modSld">
      <pc:chgData name="Almaha Sulaiman Alkhurayji" userId="78008012-bfe5-4fb4-a012-673e87f3fba2" providerId="ADAL" clId="{D8F2C00E-50C4-4E72-B0B7-2C4F0FCB20F7}" dt="2024-10-23T11:38:02.101" v="256" actId="20577"/>
      <pc:docMkLst>
        <pc:docMk/>
      </pc:docMkLst>
      <pc:sldChg chg="modSp mod">
        <pc:chgData name="Almaha Sulaiman Alkhurayji" userId="78008012-bfe5-4fb4-a012-673e87f3fba2" providerId="ADAL" clId="{D8F2C00E-50C4-4E72-B0B7-2C4F0FCB20F7}" dt="2024-10-23T11:09:09.857" v="242" actId="14100"/>
        <pc:sldMkLst>
          <pc:docMk/>
          <pc:sldMk cId="463154942" sldId="310"/>
        </pc:sldMkLst>
      </pc:sldChg>
      <pc:sldChg chg="modSp mod">
        <pc:chgData name="Almaha Sulaiman Alkhurayji" userId="78008012-bfe5-4fb4-a012-673e87f3fba2" providerId="ADAL" clId="{D8F2C00E-50C4-4E72-B0B7-2C4F0FCB20F7}" dt="2024-10-23T11:06:22.770" v="198" actId="14100"/>
        <pc:sldMkLst>
          <pc:docMk/>
          <pc:sldMk cId="912927611" sldId="314"/>
        </pc:sldMkLst>
      </pc:sldChg>
      <pc:sldChg chg="modSp mod">
        <pc:chgData name="Almaha Sulaiman Alkhurayji" userId="78008012-bfe5-4fb4-a012-673e87f3fba2" providerId="ADAL" clId="{D8F2C00E-50C4-4E72-B0B7-2C4F0FCB20F7}" dt="2024-10-23T11:06:30.371" v="200" actId="14100"/>
        <pc:sldMkLst>
          <pc:docMk/>
          <pc:sldMk cId="2799157814" sldId="315"/>
        </pc:sldMkLst>
      </pc:sldChg>
      <pc:sldChg chg="modSp mod">
        <pc:chgData name="Almaha Sulaiman Alkhurayji" userId="78008012-bfe5-4fb4-a012-673e87f3fba2" providerId="ADAL" clId="{D8F2C00E-50C4-4E72-B0B7-2C4F0FCB20F7}" dt="2024-10-23T11:09:04.074" v="240" actId="14100"/>
        <pc:sldMkLst>
          <pc:docMk/>
          <pc:sldMk cId="3050105319" sldId="316"/>
        </pc:sldMkLst>
      </pc:sldChg>
      <pc:sldChg chg="modSp mod">
        <pc:chgData name="Almaha Sulaiman Alkhurayji" userId="78008012-bfe5-4fb4-a012-673e87f3fba2" providerId="ADAL" clId="{D8F2C00E-50C4-4E72-B0B7-2C4F0FCB20F7}" dt="2024-10-23T11:00:37.779" v="171" actId="113"/>
        <pc:sldMkLst>
          <pc:docMk/>
          <pc:sldMk cId="3918420602" sldId="317"/>
        </pc:sldMkLst>
      </pc:sldChg>
      <pc:sldChg chg="modSp mod">
        <pc:chgData name="Almaha Sulaiman Alkhurayji" userId="78008012-bfe5-4fb4-a012-673e87f3fba2" providerId="ADAL" clId="{D8F2C00E-50C4-4E72-B0B7-2C4F0FCB20F7}" dt="2024-10-23T11:08:45.233" v="235" actId="14100"/>
        <pc:sldMkLst>
          <pc:docMk/>
          <pc:sldMk cId="176926527" sldId="318"/>
        </pc:sldMkLst>
      </pc:sldChg>
      <pc:sldChg chg="modSp mod">
        <pc:chgData name="Almaha Sulaiman Alkhurayji" userId="78008012-bfe5-4fb4-a012-673e87f3fba2" providerId="ADAL" clId="{D8F2C00E-50C4-4E72-B0B7-2C4F0FCB20F7}" dt="2024-10-23T11:06:41.464" v="203" actId="14100"/>
        <pc:sldMkLst>
          <pc:docMk/>
          <pc:sldMk cId="156299456" sldId="320"/>
        </pc:sldMkLst>
      </pc:sldChg>
      <pc:sldChg chg="modSp mod">
        <pc:chgData name="Almaha Sulaiman Alkhurayji" userId="78008012-bfe5-4fb4-a012-673e87f3fba2" providerId="ADAL" clId="{D8F2C00E-50C4-4E72-B0B7-2C4F0FCB20F7}" dt="2024-10-23T11:08:16.792" v="228" actId="14100"/>
        <pc:sldMkLst>
          <pc:docMk/>
          <pc:sldMk cId="666539898" sldId="321"/>
        </pc:sldMkLst>
      </pc:sldChg>
      <pc:sldChg chg="modSp mod">
        <pc:chgData name="Almaha Sulaiman Alkhurayji" userId="78008012-bfe5-4fb4-a012-673e87f3fba2" providerId="ADAL" clId="{D8F2C00E-50C4-4E72-B0B7-2C4F0FCB20F7}" dt="2024-10-23T11:08:09.606" v="226" actId="14100"/>
        <pc:sldMkLst>
          <pc:docMk/>
          <pc:sldMk cId="353712478" sldId="322"/>
        </pc:sldMkLst>
      </pc:sldChg>
      <pc:sldChg chg="modSp mod">
        <pc:chgData name="Almaha Sulaiman Alkhurayji" userId="78008012-bfe5-4fb4-a012-673e87f3fba2" providerId="ADAL" clId="{D8F2C00E-50C4-4E72-B0B7-2C4F0FCB20F7}" dt="2024-10-23T11:07:55.200" v="223" actId="14100"/>
        <pc:sldMkLst>
          <pc:docMk/>
          <pc:sldMk cId="2730499172" sldId="323"/>
        </pc:sldMkLst>
      </pc:sldChg>
      <pc:sldChg chg="modSp mod">
        <pc:chgData name="Almaha Sulaiman Alkhurayji" userId="78008012-bfe5-4fb4-a012-673e87f3fba2" providerId="ADAL" clId="{D8F2C00E-50C4-4E72-B0B7-2C4F0FCB20F7}" dt="2024-10-23T11:07:36.749" v="218" actId="14100"/>
        <pc:sldMkLst>
          <pc:docMk/>
          <pc:sldMk cId="1983401941" sldId="325"/>
        </pc:sldMkLst>
      </pc:sldChg>
      <pc:sldChg chg="modSp mod">
        <pc:chgData name="Almaha Sulaiman Alkhurayji" userId="78008012-bfe5-4fb4-a012-673e87f3fba2" providerId="ADAL" clId="{D8F2C00E-50C4-4E72-B0B7-2C4F0FCB20F7}" dt="2024-10-23T11:07:29.739" v="216" actId="14100"/>
        <pc:sldMkLst>
          <pc:docMk/>
          <pc:sldMk cId="3434408130" sldId="326"/>
        </pc:sldMkLst>
      </pc:sldChg>
      <pc:sldChg chg="modSp mod">
        <pc:chgData name="Almaha Sulaiman Alkhurayji" userId="78008012-bfe5-4fb4-a012-673e87f3fba2" providerId="ADAL" clId="{D8F2C00E-50C4-4E72-B0B7-2C4F0FCB20F7}" dt="2024-10-23T11:06:09.066" v="195" actId="14100"/>
        <pc:sldMkLst>
          <pc:docMk/>
          <pc:sldMk cId="1126149800" sldId="327"/>
        </pc:sldMkLst>
      </pc:sldChg>
      <pc:sldChg chg="modSp mod">
        <pc:chgData name="Almaha Sulaiman Alkhurayji" userId="78008012-bfe5-4fb4-a012-673e87f3fba2" providerId="ADAL" clId="{D8F2C00E-50C4-4E72-B0B7-2C4F0FCB20F7}" dt="2024-10-23T11:05:59.399" v="192" actId="14100"/>
        <pc:sldMkLst>
          <pc:docMk/>
          <pc:sldMk cId="1875625202" sldId="328"/>
        </pc:sldMkLst>
      </pc:sldChg>
      <pc:sldChg chg="modSp mod">
        <pc:chgData name="Almaha Sulaiman Alkhurayji" userId="78008012-bfe5-4fb4-a012-673e87f3fba2" providerId="ADAL" clId="{D8F2C00E-50C4-4E72-B0B7-2C4F0FCB20F7}" dt="2024-10-23T11:07:18.410" v="213" actId="14100"/>
        <pc:sldMkLst>
          <pc:docMk/>
          <pc:sldMk cId="1639331347" sldId="333"/>
        </pc:sldMkLst>
      </pc:sldChg>
      <pc:sldChg chg="modSp mod">
        <pc:chgData name="Almaha Sulaiman Alkhurayji" userId="78008012-bfe5-4fb4-a012-673e87f3fba2" providerId="ADAL" clId="{D8F2C00E-50C4-4E72-B0B7-2C4F0FCB20F7}" dt="2024-10-23T11:07:08.863" v="210" actId="14100"/>
        <pc:sldMkLst>
          <pc:docMk/>
          <pc:sldMk cId="3479362249" sldId="334"/>
        </pc:sldMkLst>
      </pc:sldChg>
      <pc:sldChg chg="modSp mod">
        <pc:chgData name="Almaha Sulaiman Alkhurayji" userId="78008012-bfe5-4fb4-a012-673e87f3fba2" providerId="ADAL" clId="{D8F2C00E-50C4-4E72-B0B7-2C4F0FCB20F7}" dt="2024-10-23T11:06:49.822" v="205" actId="14100"/>
        <pc:sldMkLst>
          <pc:docMk/>
          <pc:sldMk cId="3536897771" sldId="374"/>
        </pc:sldMkLst>
      </pc:sldChg>
      <pc:sldChg chg="modSp mod">
        <pc:chgData name="Almaha Sulaiman Alkhurayji" userId="78008012-bfe5-4fb4-a012-673e87f3fba2" providerId="ADAL" clId="{D8F2C00E-50C4-4E72-B0B7-2C4F0FCB20F7}" dt="2024-10-23T11:07:48.091" v="221" actId="14100"/>
        <pc:sldMkLst>
          <pc:docMk/>
          <pc:sldMk cId="1410246188" sldId="376"/>
        </pc:sldMkLst>
      </pc:sldChg>
      <pc:sldChg chg="modSp mod">
        <pc:chgData name="Almaha Sulaiman Alkhurayji" userId="78008012-bfe5-4fb4-a012-673e87f3fba2" providerId="ADAL" clId="{D8F2C00E-50C4-4E72-B0B7-2C4F0FCB20F7}" dt="2024-10-23T11:38:02.101" v="256" actId="20577"/>
        <pc:sldMkLst>
          <pc:docMk/>
          <pc:sldMk cId="1241990080" sldId="2739"/>
        </pc:sldMkLst>
      </pc:sldChg>
      <pc:sldChg chg="modSp mod">
        <pc:chgData name="Almaha Sulaiman Alkhurayji" userId="78008012-bfe5-4fb4-a012-673e87f3fba2" providerId="ADAL" clId="{D8F2C00E-50C4-4E72-B0B7-2C4F0FCB20F7}" dt="2024-10-16T11:33:00.327" v="0" actId="208"/>
        <pc:sldMkLst>
          <pc:docMk/>
          <pc:sldMk cId="3896275407" sldId="3508"/>
        </pc:sldMkLst>
      </pc:sldChg>
      <pc:sldChg chg="modSp mod">
        <pc:chgData name="Almaha Sulaiman Alkhurayji" userId="78008012-bfe5-4fb4-a012-673e87f3fba2" providerId="ADAL" clId="{D8F2C00E-50C4-4E72-B0B7-2C4F0FCB20F7}" dt="2024-10-23T11:03:18.597" v="173" actId="113"/>
        <pc:sldMkLst>
          <pc:docMk/>
          <pc:sldMk cId="617947693" sldId="3513"/>
        </pc:sldMkLst>
      </pc:sldChg>
      <pc:sldChg chg="modSp mod">
        <pc:chgData name="Almaha Sulaiman Alkhurayji" userId="78008012-bfe5-4fb4-a012-673e87f3fba2" providerId="ADAL" clId="{D8F2C00E-50C4-4E72-B0B7-2C4F0FCB20F7}" dt="2024-10-23T11:08:55.247" v="237" actId="14100"/>
        <pc:sldMkLst>
          <pc:docMk/>
          <pc:sldMk cId="1602202368" sldId="3529"/>
        </pc:sldMkLst>
      </pc:sldChg>
      <pc:sldChg chg="modSp mod">
        <pc:chgData name="Almaha Sulaiman Alkhurayji" userId="78008012-bfe5-4fb4-a012-673e87f3fba2" providerId="ADAL" clId="{D8F2C00E-50C4-4E72-B0B7-2C4F0FCB20F7}" dt="2024-10-23T11:03:31.024" v="176" actId="113"/>
        <pc:sldMkLst>
          <pc:docMk/>
          <pc:sldMk cId="1891672261" sldId="3532"/>
        </pc:sldMkLst>
      </pc:sldChg>
      <pc:sldChg chg="modSp mod">
        <pc:chgData name="Almaha Sulaiman Alkhurayji" userId="78008012-bfe5-4fb4-a012-673e87f3fba2" providerId="ADAL" clId="{D8F2C00E-50C4-4E72-B0B7-2C4F0FCB20F7}" dt="2024-10-23T11:08:49.416" v="236" actId="14100"/>
        <pc:sldMkLst>
          <pc:docMk/>
          <pc:sldMk cId="962261468" sldId="3533"/>
        </pc:sldMkLst>
      </pc:sldChg>
      <pc:sldChg chg="modSp mod">
        <pc:chgData name="Almaha Sulaiman Alkhurayji" userId="78008012-bfe5-4fb4-a012-673e87f3fba2" providerId="ADAL" clId="{D8F2C00E-50C4-4E72-B0B7-2C4F0FCB20F7}" dt="2024-10-23T11:08:27.946" v="231" actId="14100"/>
        <pc:sldMkLst>
          <pc:docMk/>
          <pc:sldMk cId="3816719732" sldId="3534"/>
        </pc:sldMkLst>
      </pc:sldChg>
      <pc:sldChg chg="modSp mod">
        <pc:chgData name="Almaha Sulaiman Alkhurayji" userId="78008012-bfe5-4fb4-a012-673e87f3fba2" providerId="ADAL" clId="{D8F2C00E-50C4-4E72-B0B7-2C4F0FCB20F7}" dt="2024-10-17T08:30:21.126" v="43" actId="207"/>
        <pc:sldMkLst>
          <pc:docMk/>
          <pc:sldMk cId="3269527737" sldId="3536"/>
        </pc:sldMkLst>
      </pc:sldChg>
      <pc:sldChg chg="modSp mod">
        <pc:chgData name="Almaha Sulaiman Alkhurayji" userId="78008012-bfe5-4fb4-a012-673e87f3fba2" providerId="ADAL" clId="{D8F2C00E-50C4-4E72-B0B7-2C4F0FCB20F7}" dt="2024-10-20T08:29:29.166" v="142" actId="207"/>
        <pc:sldMkLst>
          <pc:docMk/>
          <pc:sldMk cId="427575272" sldId="3537"/>
        </pc:sldMkLst>
      </pc:sldChg>
      <pc:sldChg chg="modSp mod">
        <pc:chgData name="Almaha Sulaiman Alkhurayji" userId="78008012-bfe5-4fb4-a012-673e87f3fba2" providerId="ADAL" clId="{D8F2C00E-50C4-4E72-B0B7-2C4F0FCB20F7}" dt="2024-10-23T11:06:56.992" v="206" actId="14100"/>
        <pc:sldMkLst>
          <pc:docMk/>
          <pc:sldMk cId="3074552904" sldId="3538"/>
        </pc:sldMkLst>
      </pc:sldChg>
      <pc:sldChg chg="modSp mod">
        <pc:chgData name="Almaha Sulaiman Alkhurayji" userId="78008012-bfe5-4fb4-a012-673e87f3fba2" providerId="ADAL" clId="{D8F2C00E-50C4-4E72-B0B7-2C4F0FCB20F7}" dt="2024-10-16T11:33:09.014" v="1" actId="208"/>
        <pc:sldMkLst>
          <pc:docMk/>
          <pc:sldMk cId="3584786656" sldId="3541"/>
        </pc:sldMkLst>
      </pc:sldChg>
    </pc:docChg>
  </pc:docChgLst>
  <pc:docChgLst>
    <pc:chgData name="Almaha Sulaiman Alkhurayji" userId="78008012-bfe5-4fb4-a012-673e87f3fba2" providerId="ADAL" clId="{BF77EBE9-9AA7-4421-BE32-6F2377E3A42A}"/>
    <pc:docChg chg="custSel addSld delSld modSld">
      <pc:chgData name="Almaha Sulaiman Alkhurayji" userId="78008012-bfe5-4fb4-a012-673e87f3fba2" providerId="ADAL" clId="{BF77EBE9-9AA7-4421-BE32-6F2377E3A42A}" dt="2025-06-25T03:42:59.743" v="173" actId="2696"/>
      <pc:docMkLst>
        <pc:docMk/>
      </pc:docMkLst>
      <pc:sldChg chg="del">
        <pc:chgData name="Almaha Sulaiman Alkhurayji" userId="78008012-bfe5-4fb4-a012-673e87f3fba2" providerId="ADAL" clId="{BF77EBE9-9AA7-4421-BE32-6F2377E3A42A}" dt="2025-06-25T03:42:59.743" v="173" actId="2696"/>
        <pc:sldMkLst>
          <pc:docMk/>
          <pc:sldMk cId="479567248" sldId="3550"/>
        </pc:sldMkLst>
      </pc:sldChg>
      <pc:sldChg chg="modSp mod">
        <pc:chgData name="Almaha Sulaiman Alkhurayji" userId="78008012-bfe5-4fb4-a012-673e87f3fba2" providerId="ADAL" clId="{BF77EBE9-9AA7-4421-BE32-6F2377E3A42A}" dt="2025-05-29T08:57:08.444" v="171" actId="20577"/>
        <pc:sldMkLst>
          <pc:docMk/>
          <pc:sldMk cId="1704863469" sldId="3593"/>
        </pc:sldMkLst>
      </pc:sldChg>
      <pc:sldChg chg="add">
        <pc:chgData name="Almaha Sulaiman Alkhurayji" userId="78008012-bfe5-4fb4-a012-673e87f3fba2" providerId="ADAL" clId="{BF77EBE9-9AA7-4421-BE32-6F2377E3A42A}" dt="2025-06-25T03:42:56.400" v="172"/>
        <pc:sldMkLst>
          <pc:docMk/>
          <pc:sldMk cId="755718484" sldId="3599"/>
        </pc:sldMkLst>
      </pc:sldChg>
    </pc:docChg>
  </pc:docChgLst>
  <pc:docChgLst>
    <pc:chgData name="Almaha Sulaiman Alkhurayji" userId="78008012-bfe5-4fb4-a012-673e87f3fba2" providerId="ADAL" clId="{7CD739ED-4CBC-4695-BA7D-765563C71846}"/>
    <pc:docChg chg="undo custSel modSld">
      <pc:chgData name="Almaha Sulaiman Alkhurayji" userId="78008012-bfe5-4fb4-a012-673e87f3fba2" providerId="ADAL" clId="{7CD739ED-4CBC-4695-BA7D-765563C71846}" dt="2025-07-06T08:21:34.221" v="17"/>
      <pc:docMkLst>
        <pc:docMk/>
      </pc:docMkLst>
      <pc:sldChg chg="modSp">
        <pc:chgData name="Almaha Sulaiman Alkhurayji" userId="78008012-bfe5-4fb4-a012-673e87f3fba2" providerId="ADAL" clId="{7CD739ED-4CBC-4695-BA7D-765563C71846}" dt="2025-07-06T08:21:34.221" v="17"/>
        <pc:sldMkLst>
          <pc:docMk/>
          <pc:sldMk cId="931739813" sldId="3585"/>
        </pc:sldMkLst>
        <pc:graphicFrameChg chg="mod">
          <ac:chgData name="Almaha Sulaiman Alkhurayji" userId="78008012-bfe5-4fb4-a012-673e87f3fba2" providerId="ADAL" clId="{7CD739ED-4CBC-4695-BA7D-765563C71846}" dt="2025-07-06T08:21:34.221" v="17"/>
          <ac:graphicFrameMkLst>
            <pc:docMk/>
            <pc:sldMk cId="931739813" sldId="3585"/>
            <ac:graphicFrameMk id="15" creationId="{4D91B2E5-381B-D677-ABC2-6AD765456EFA}"/>
          </ac:graphicFrameMkLst>
        </pc:graphicFrameChg>
      </pc:sldChg>
      <pc:sldChg chg="modSp mod">
        <pc:chgData name="Almaha Sulaiman Alkhurayji" userId="78008012-bfe5-4fb4-a012-673e87f3fba2" providerId="ADAL" clId="{7CD739ED-4CBC-4695-BA7D-765563C71846}" dt="2025-07-01T04:28:59.314" v="3" actId="20577"/>
        <pc:sldMkLst>
          <pc:docMk/>
          <pc:sldMk cId="147347071" sldId="3592"/>
        </pc:sldMkLst>
        <pc:spChg chg="mod">
          <ac:chgData name="Almaha Sulaiman Alkhurayji" userId="78008012-bfe5-4fb4-a012-673e87f3fba2" providerId="ADAL" clId="{7CD739ED-4CBC-4695-BA7D-765563C71846}" dt="2025-07-01T04:28:59.314" v="3" actId="20577"/>
          <ac:spMkLst>
            <pc:docMk/>
            <pc:sldMk cId="147347071" sldId="3592"/>
            <ac:spMk id="10" creationId="{4D4FFFC4-E065-64A4-2E89-31676DB5159D}"/>
          </ac:spMkLst>
        </pc:spChg>
      </pc:sldChg>
      <pc:sldChg chg="modSp mod">
        <pc:chgData name="Almaha Sulaiman Alkhurayji" userId="78008012-bfe5-4fb4-a012-673e87f3fba2" providerId="ADAL" clId="{7CD739ED-4CBC-4695-BA7D-765563C71846}" dt="2025-07-03T06:00:53.128" v="16" actId="20577"/>
        <pc:sldMkLst>
          <pc:docMk/>
          <pc:sldMk cId="1704863469" sldId="3593"/>
        </pc:sldMkLst>
        <pc:graphicFrameChg chg="modGraphic">
          <ac:chgData name="Almaha Sulaiman Alkhurayji" userId="78008012-bfe5-4fb4-a012-673e87f3fba2" providerId="ADAL" clId="{7CD739ED-4CBC-4695-BA7D-765563C71846}" dt="2025-07-03T06:00:53.128" v="16" actId="20577"/>
          <ac:graphicFrameMkLst>
            <pc:docMk/>
            <pc:sldMk cId="1704863469" sldId="3593"/>
            <ac:graphicFrameMk id="30" creationId="{30E0A729-7199-4198-2374-EDF075FD9F3A}"/>
          </ac:graphicFrameMkLst>
        </pc:graphicFrameChg>
      </pc:sldChg>
      <pc:sldChg chg="modSp mod">
        <pc:chgData name="Almaha Sulaiman Alkhurayji" userId="78008012-bfe5-4fb4-a012-673e87f3fba2" providerId="ADAL" clId="{7CD739ED-4CBC-4695-BA7D-765563C71846}" dt="2025-07-03T05:57:30.221" v="6" actId="121"/>
        <pc:sldMkLst>
          <pc:docMk/>
          <pc:sldMk cId="4011593300" sldId="3594"/>
        </pc:sldMkLst>
        <pc:graphicFrameChg chg="mod modGraphic">
          <ac:chgData name="Almaha Sulaiman Alkhurayji" userId="78008012-bfe5-4fb4-a012-673e87f3fba2" providerId="ADAL" clId="{7CD739ED-4CBC-4695-BA7D-765563C71846}" dt="2025-07-03T05:57:30.221" v="6" actId="121"/>
          <ac:graphicFrameMkLst>
            <pc:docMk/>
            <pc:sldMk cId="4011593300" sldId="3594"/>
            <ac:graphicFrameMk id="15" creationId="{7CD979C5-50BD-4F22-6ABB-D3E63659D409}"/>
          </ac:graphicFrameMkLst>
        </pc:graphicFrameChg>
      </pc:sldChg>
    </pc:docChg>
  </pc:docChgLst>
  <pc:docChgLst>
    <pc:chgData name="Almaha Sulaiman Alkhurayji" userId="78008012-bfe5-4fb4-a012-673e87f3fba2" providerId="ADAL" clId="{D3C95237-74DB-4345-8076-8C4D91D0D2E7}"/>
    <pc:docChg chg="undo redo custSel addSld delSld modSld sldOrd">
      <pc:chgData name="Almaha Sulaiman Alkhurayji" userId="78008012-bfe5-4fb4-a012-673e87f3fba2" providerId="ADAL" clId="{D3C95237-74DB-4345-8076-8C4D91D0D2E7}" dt="2024-11-25T10:18:38.305" v="1321" actId="113"/>
      <pc:docMkLst>
        <pc:docMk/>
      </pc:docMkLst>
      <pc:sldChg chg="modSp mod">
        <pc:chgData name="Almaha Sulaiman Alkhurayji" userId="78008012-bfe5-4fb4-a012-673e87f3fba2" providerId="ADAL" clId="{D3C95237-74DB-4345-8076-8C4D91D0D2E7}" dt="2024-11-25T09:50:13.782" v="1304" actId="20577"/>
        <pc:sldMkLst>
          <pc:docMk/>
          <pc:sldMk cId="156299456" sldId="320"/>
        </pc:sldMkLst>
      </pc:sldChg>
      <pc:sldChg chg="modSp mod">
        <pc:chgData name="Almaha Sulaiman Alkhurayji" userId="78008012-bfe5-4fb4-a012-673e87f3fba2" providerId="ADAL" clId="{D3C95237-74DB-4345-8076-8C4D91D0D2E7}" dt="2024-11-20T09:07:28.139" v="1057" actId="20577"/>
        <pc:sldMkLst>
          <pc:docMk/>
          <pc:sldMk cId="3536897771" sldId="374"/>
        </pc:sldMkLst>
      </pc:sldChg>
      <pc:sldChg chg="modSp mod">
        <pc:chgData name="Almaha Sulaiman Alkhurayji" userId="78008012-bfe5-4fb4-a012-673e87f3fba2" providerId="ADAL" clId="{D3C95237-74DB-4345-8076-8C4D91D0D2E7}" dt="2024-11-21T07:16:33.116" v="1261" actId="20577"/>
        <pc:sldMkLst>
          <pc:docMk/>
          <pc:sldMk cId="1241990080" sldId="2739"/>
        </pc:sldMkLst>
      </pc:sldChg>
      <pc:sldChg chg="addSp delSp modSp mod">
        <pc:chgData name="Almaha Sulaiman Alkhurayji" userId="78008012-bfe5-4fb4-a012-673e87f3fba2" providerId="ADAL" clId="{D3C95237-74DB-4345-8076-8C4D91D0D2E7}" dt="2024-11-25T10:18:38.305" v="1321" actId="113"/>
        <pc:sldMkLst>
          <pc:docMk/>
          <pc:sldMk cId="3896275407" sldId="3508"/>
        </pc:sldMkLst>
      </pc:sldChg>
      <pc:sldChg chg="del">
        <pc:chgData name="Almaha Sulaiman Alkhurayji" userId="78008012-bfe5-4fb4-a012-673e87f3fba2" providerId="ADAL" clId="{D3C95237-74DB-4345-8076-8C4D91D0D2E7}" dt="2024-11-12T08:40:34.080" v="17" actId="2696"/>
        <pc:sldMkLst>
          <pc:docMk/>
          <pc:sldMk cId="617947693" sldId="3513"/>
        </pc:sldMkLst>
      </pc:sldChg>
      <pc:sldChg chg="modSp del mod">
        <pc:chgData name="Almaha Sulaiman Alkhurayji" userId="78008012-bfe5-4fb4-a012-673e87f3fba2" providerId="ADAL" clId="{D3C95237-74DB-4345-8076-8C4D91D0D2E7}" dt="2024-11-25T10:06:47.742" v="1320" actId="2696"/>
        <pc:sldMkLst>
          <pc:docMk/>
          <pc:sldMk cId="454628700" sldId="3527"/>
        </pc:sldMkLst>
      </pc:sldChg>
      <pc:sldChg chg="modSp mod">
        <pc:chgData name="Almaha Sulaiman Alkhurayji" userId="78008012-bfe5-4fb4-a012-673e87f3fba2" providerId="ADAL" clId="{D3C95237-74DB-4345-8076-8C4D91D0D2E7}" dt="2024-11-21T05:33:47.106" v="1244"/>
        <pc:sldMkLst>
          <pc:docMk/>
          <pc:sldMk cId="1602202368" sldId="3529"/>
        </pc:sldMkLst>
      </pc:sldChg>
      <pc:sldChg chg="modSp mod">
        <pc:chgData name="Almaha Sulaiman Alkhurayji" userId="78008012-bfe5-4fb4-a012-673e87f3fba2" providerId="ADAL" clId="{D3C95237-74DB-4345-8076-8C4D91D0D2E7}" dt="2024-11-12T10:47:12.428" v="254" actId="207"/>
        <pc:sldMkLst>
          <pc:docMk/>
          <pc:sldMk cId="1891672261" sldId="3532"/>
        </pc:sldMkLst>
      </pc:sldChg>
      <pc:sldChg chg="ord">
        <pc:chgData name="Almaha Sulaiman Alkhurayji" userId="78008012-bfe5-4fb4-a012-673e87f3fba2" providerId="ADAL" clId="{D3C95237-74DB-4345-8076-8C4D91D0D2E7}" dt="2024-11-12T09:16:18.090" v="250" actId="20578"/>
        <pc:sldMkLst>
          <pc:docMk/>
          <pc:sldMk cId="3816719732" sldId="3534"/>
        </pc:sldMkLst>
      </pc:sldChg>
      <pc:sldChg chg="addSp delSp modSp mod">
        <pc:chgData name="Almaha Sulaiman Alkhurayji" userId="78008012-bfe5-4fb4-a012-673e87f3fba2" providerId="ADAL" clId="{D3C95237-74DB-4345-8076-8C4D91D0D2E7}" dt="2024-11-21T08:54:40.237" v="1265" actId="14100"/>
        <pc:sldMkLst>
          <pc:docMk/>
          <pc:sldMk cId="76587484" sldId="3535"/>
        </pc:sldMkLst>
      </pc:sldChg>
      <pc:sldChg chg="modSp del mod">
        <pc:chgData name="Almaha Sulaiman Alkhurayji" userId="78008012-bfe5-4fb4-a012-673e87f3fba2" providerId="ADAL" clId="{D3C95237-74DB-4345-8076-8C4D91D0D2E7}" dt="2024-11-21T11:18:31.376" v="1267" actId="2696"/>
        <pc:sldMkLst>
          <pc:docMk/>
          <pc:sldMk cId="3269527737" sldId="3536"/>
        </pc:sldMkLst>
      </pc:sldChg>
      <pc:sldChg chg="modSp mod">
        <pc:chgData name="Almaha Sulaiman Alkhurayji" userId="78008012-bfe5-4fb4-a012-673e87f3fba2" providerId="ADAL" clId="{D3C95237-74DB-4345-8076-8C4D91D0D2E7}" dt="2024-11-13T11:34:29.681" v="599" actId="207"/>
        <pc:sldMkLst>
          <pc:docMk/>
          <pc:sldMk cId="427575272" sldId="3537"/>
        </pc:sldMkLst>
      </pc:sldChg>
      <pc:sldChg chg="addSp delSp modSp mod">
        <pc:chgData name="Almaha Sulaiman Alkhurayji" userId="78008012-bfe5-4fb4-a012-673e87f3fba2" providerId="ADAL" clId="{D3C95237-74DB-4345-8076-8C4D91D0D2E7}" dt="2024-11-20T10:40:36.213" v="1119" actId="14734"/>
        <pc:sldMkLst>
          <pc:docMk/>
          <pc:sldMk cId="3074552904" sldId="3538"/>
        </pc:sldMkLst>
      </pc:sldChg>
      <pc:sldChg chg="modSp mod">
        <pc:chgData name="Almaha Sulaiman Alkhurayji" userId="78008012-bfe5-4fb4-a012-673e87f3fba2" providerId="ADAL" clId="{D3C95237-74DB-4345-8076-8C4D91D0D2E7}" dt="2024-11-14T08:31:12.342" v="852" actId="20577"/>
        <pc:sldMkLst>
          <pc:docMk/>
          <pc:sldMk cId="371895807" sldId="3539"/>
        </pc:sldMkLst>
      </pc:sldChg>
      <pc:sldChg chg="modSp mod">
        <pc:chgData name="Almaha Sulaiman Alkhurayji" userId="78008012-bfe5-4fb4-a012-673e87f3fba2" providerId="ADAL" clId="{D3C95237-74DB-4345-8076-8C4D91D0D2E7}" dt="2024-11-14T08:36:56.923" v="855" actId="207"/>
        <pc:sldMkLst>
          <pc:docMk/>
          <pc:sldMk cId="1023643736" sldId="3540"/>
        </pc:sldMkLst>
      </pc:sldChg>
      <pc:sldChg chg="addSp delSp modSp mod">
        <pc:chgData name="Almaha Sulaiman Alkhurayji" userId="78008012-bfe5-4fb4-a012-673e87f3fba2" providerId="ADAL" clId="{D3C95237-74DB-4345-8076-8C4D91D0D2E7}" dt="2024-11-20T12:11:23.632" v="1152" actId="1076"/>
        <pc:sldMkLst>
          <pc:docMk/>
          <pc:sldMk cId="3584786656" sldId="3541"/>
        </pc:sldMkLst>
      </pc:sldChg>
      <pc:sldChg chg="add del">
        <pc:chgData name="Almaha Sulaiman Alkhurayji" userId="78008012-bfe5-4fb4-a012-673e87f3fba2" providerId="ADAL" clId="{D3C95237-74DB-4345-8076-8C4D91D0D2E7}" dt="2024-11-12T08:37:28.925" v="1" actId="2696"/>
        <pc:sldMkLst>
          <pc:docMk/>
          <pc:sldMk cId="2801758068" sldId="3542"/>
        </pc:sldMkLst>
      </pc:sldChg>
      <pc:sldChg chg="modSp add mod">
        <pc:chgData name="Almaha Sulaiman Alkhurayji" userId="78008012-bfe5-4fb4-a012-673e87f3fba2" providerId="ADAL" clId="{D3C95237-74DB-4345-8076-8C4D91D0D2E7}" dt="2024-11-12T08:40:08.906" v="16"/>
        <pc:sldMkLst>
          <pc:docMk/>
          <pc:sldMk cId="3063083551" sldId="3542"/>
        </pc:sldMkLst>
      </pc:sldChg>
      <pc:sldChg chg="addSp modSp add mod">
        <pc:chgData name="Almaha Sulaiman Alkhurayji" userId="78008012-bfe5-4fb4-a012-673e87f3fba2" providerId="ADAL" clId="{D3C95237-74DB-4345-8076-8C4D91D0D2E7}" dt="2024-11-25T10:02:36.148" v="1319" actId="1076"/>
        <pc:sldMkLst>
          <pc:docMk/>
          <pc:sldMk cId="1370252964" sldId="3543"/>
        </pc:sldMkLst>
      </pc:sldChg>
      <pc:sldChg chg="add">
        <pc:chgData name="Almaha Sulaiman Alkhurayji" userId="78008012-bfe5-4fb4-a012-673e87f3fba2" providerId="ADAL" clId="{D3C95237-74DB-4345-8076-8C4D91D0D2E7}" dt="2024-11-21T11:18:26.563" v="1266"/>
        <pc:sldMkLst>
          <pc:docMk/>
          <pc:sldMk cId="1311439450" sldId="3544"/>
        </pc:sldMkLst>
      </pc:sldChg>
      <pc:sldChg chg="modSp add mod">
        <pc:chgData name="Almaha Sulaiman Alkhurayji" userId="78008012-bfe5-4fb4-a012-673e87f3fba2" providerId="ADAL" clId="{D3C95237-74DB-4345-8076-8C4D91D0D2E7}" dt="2024-11-25T09:49:42.954" v="1282" actId="20577"/>
        <pc:sldMkLst>
          <pc:docMk/>
          <pc:sldMk cId="3094360024" sldId="3545"/>
        </pc:sldMkLst>
      </pc:sldChg>
    </pc:docChg>
  </pc:docChgLst>
  <pc:docChgLst>
    <pc:chgData name="Almaha Sulaiman Alkhurayji" userId="78008012-bfe5-4fb4-a012-673e87f3fba2" providerId="ADAL" clId="{DCAE8C8D-1DE7-4542-A4B1-9FAF3DEDA16A}"/>
    <pc:docChg chg="undo custSel modSld">
      <pc:chgData name="Almaha Sulaiman Alkhurayji" userId="78008012-bfe5-4fb4-a012-673e87f3fba2" providerId="ADAL" clId="{DCAE8C8D-1DE7-4542-A4B1-9FAF3DEDA16A}" dt="2025-03-04T10:54:07.015" v="976" actId="20577"/>
      <pc:docMkLst>
        <pc:docMk/>
      </pc:docMkLst>
      <pc:sldChg chg="modSp mod">
        <pc:chgData name="Almaha Sulaiman Alkhurayji" userId="78008012-bfe5-4fb4-a012-673e87f3fba2" providerId="ADAL" clId="{DCAE8C8D-1DE7-4542-A4B1-9FAF3DEDA16A}" dt="2025-03-03T12:40:42.774" v="276" actId="14100"/>
        <pc:sldMkLst>
          <pc:docMk/>
          <pc:sldMk cId="463154942" sldId="310"/>
        </pc:sldMkLst>
      </pc:sldChg>
      <pc:sldChg chg="modSp mod">
        <pc:chgData name="Almaha Sulaiman Alkhurayji" userId="78008012-bfe5-4fb4-a012-673e87f3fba2" providerId="ADAL" clId="{DCAE8C8D-1DE7-4542-A4B1-9FAF3DEDA16A}" dt="2025-03-03T12:42:58.777" v="289" actId="2711"/>
        <pc:sldMkLst>
          <pc:docMk/>
          <pc:sldMk cId="3050105319" sldId="316"/>
        </pc:sldMkLst>
      </pc:sldChg>
      <pc:sldChg chg="modSp mod">
        <pc:chgData name="Almaha Sulaiman Alkhurayji" userId="78008012-bfe5-4fb4-a012-673e87f3fba2" providerId="ADAL" clId="{DCAE8C8D-1DE7-4542-A4B1-9FAF3DEDA16A}" dt="2025-03-03T12:42:35.392" v="287" actId="14100"/>
        <pc:sldMkLst>
          <pc:docMk/>
          <pc:sldMk cId="3918420602" sldId="317"/>
        </pc:sldMkLst>
      </pc:sldChg>
      <pc:sldChg chg="modSp mod">
        <pc:chgData name="Almaha Sulaiman Alkhurayji" userId="78008012-bfe5-4fb4-a012-673e87f3fba2" providerId="ADAL" clId="{DCAE8C8D-1DE7-4542-A4B1-9FAF3DEDA16A}" dt="2025-03-04T10:50:40.747" v="943" actId="20577"/>
        <pc:sldMkLst>
          <pc:docMk/>
          <pc:sldMk cId="1639331347" sldId="333"/>
        </pc:sldMkLst>
      </pc:sldChg>
      <pc:sldChg chg="modSp mod">
        <pc:chgData name="Almaha Sulaiman Alkhurayji" userId="78008012-bfe5-4fb4-a012-673e87f3fba2" providerId="ADAL" clId="{DCAE8C8D-1DE7-4542-A4B1-9FAF3DEDA16A}" dt="2025-03-04T10:54:07.015" v="976" actId="20577"/>
        <pc:sldMkLst>
          <pc:docMk/>
          <pc:sldMk cId="3479362249" sldId="334"/>
        </pc:sldMkLst>
      </pc:sldChg>
      <pc:sldChg chg="modSp mod">
        <pc:chgData name="Almaha Sulaiman Alkhurayji" userId="78008012-bfe5-4fb4-a012-673e87f3fba2" providerId="ADAL" clId="{DCAE8C8D-1DE7-4542-A4B1-9FAF3DEDA16A}" dt="2025-03-03T12:40:22.520" v="272" actId="113"/>
        <pc:sldMkLst>
          <pc:docMk/>
          <pc:sldMk cId="2162746539" sldId="3546"/>
        </pc:sldMkLst>
      </pc:sldChg>
      <pc:sldChg chg="addSp delSp modSp mod">
        <pc:chgData name="Almaha Sulaiman Alkhurayji" userId="78008012-bfe5-4fb4-a012-673e87f3fba2" providerId="ADAL" clId="{DCAE8C8D-1DE7-4542-A4B1-9FAF3DEDA16A}" dt="2025-03-04T10:52:45.028" v="967" actId="14734"/>
        <pc:sldMkLst>
          <pc:docMk/>
          <pc:sldMk cId="1895359077" sldId="3553"/>
        </pc:sldMkLst>
      </pc:sldChg>
    </pc:docChg>
  </pc:docChgLst>
  <pc:docChgLst>
    <pc:chgData name="Almaha Sulaiman Alkhurayji" userId="78008012-bfe5-4fb4-a012-673e87f3fba2" providerId="ADAL" clId="{E14692D9-4125-479D-B4DF-04191368B8BD}"/>
    <pc:docChg chg="undo custSel addSld modSld">
      <pc:chgData name="Almaha Sulaiman Alkhurayji" userId="78008012-bfe5-4fb4-a012-673e87f3fba2" providerId="ADAL" clId="{E14692D9-4125-479D-B4DF-04191368B8BD}" dt="2025-09-15T09:25:07.032" v="610" actId="14100"/>
      <pc:docMkLst>
        <pc:docMk/>
      </pc:docMkLst>
      <pc:sldChg chg="addSp delSp modSp mod">
        <pc:chgData name="Almaha Sulaiman Alkhurayji" userId="78008012-bfe5-4fb4-a012-673e87f3fba2" providerId="ADAL" clId="{E14692D9-4125-479D-B4DF-04191368B8BD}" dt="2025-08-31T05:51:00.932" v="588" actId="1076"/>
        <pc:sldMkLst>
          <pc:docMk/>
          <pc:sldMk cId="3896275407" sldId="3508"/>
        </pc:sldMkLst>
        <pc:graphicFrameChg chg="add mod">
          <ac:chgData name="Almaha Sulaiman Alkhurayji" userId="78008012-bfe5-4fb4-a012-673e87f3fba2" providerId="ADAL" clId="{E14692D9-4125-479D-B4DF-04191368B8BD}" dt="2025-08-31T05:51:00.932" v="588" actId="1076"/>
          <ac:graphicFrameMkLst>
            <pc:docMk/>
            <pc:sldMk cId="3896275407" sldId="3508"/>
            <ac:graphicFrameMk id="3" creationId="{34C4DD7B-5FAC-3E1F-7044-61B3DC83DC77}"/>
          </ac:graphicFrameMkLst>
        </pc:graphicFrameChg>
      </pc:sldChg>
      <pc:sldChg chg="modSp mod">
        <pc:chgData name="Almaha Sulaiman Alkhurayji" userId="78008012-bfe5-4fb4-a012-673e87f3fba2" providerId="ADAL" clId="{E14692D9-4125-479D-B4DF-04191368B8BD}" dt="2025-09-01T09:41:34.799" v="603" actId="20577"/>
        <pc:sldMkLst>
          <pc:docMk/>
          <pc:sldMk cId="1981943875" sldId="3563"/>
        </pc:sldMkLst>
        <pc:graphicFrameChg chg="modGraphic">
          <ac:chgData name="Almaha Sulaiman Alkhurayji" userId="78008012-bfe5-4fb4-a012-673e87f3fba2" providerId="ADAL" clId="{E14692D9-4125-479D-B4DF-04191368B8BD}" dt="2025-09-01T09:41:34.799" v="603" actId="20577"/>
          <ac:graphicFrameMkLst>
            <pc:docMk/>
            <pc:sldMk cId="1981943875" sldId="3563"/>
            <ac:graphicFrameMk id="13" creationId="{1E4FCB29-3777-5B99-A0EC-B06E4B48F4D0}"/>
          </ac:graphicFrameMkLst>
        </pc:graphicFrameChg>
      </pc:sldChg>
      <pc:sldChg chg="modSp mod">
        <pc:chgData name="Almaha Sulaiman Alkhurayji" userId="78008012-bfe5-4fb4-a012-673e87f3fba2" providerId="ADAL" clId="{E14692D9-4125-479D-B4DF-04191368B8BD}" dt="2025-08-10T06:44:36.261" v="332"/>
        <pc:sldMkLst>
          <pc:docMk/>
          <pc:sldMk cId="3662586873" sldId="3571"/>
        </pc:sldMkLst>
        <pc:graphicFrameChg chg="mod modGraphic">
          <ac:chgData name="Almaha Sulaiman Alkhurayji" userId="78008012-bfe5-4fb4-a012-673e87f3fba2" providerId="ADAL" clId="{E14692D9-4125-479D-B4DF-04191368B8BD}" dt="2025-08-10T06:44:36.261" v="332"/>
          <ac:graphicFrameMkLst>
            <pc:docMk/>
            <pc:sldMk cId="3662586873" sldId="3571"/>
            <ac:graphicFrameMk id="6" creationId="{2789BD45-5C08-4000-8B10-38CE89618E2B}"/>
          </ac:graphicFrameMkLst>
        </pc:graphicFrameChg>
      </pc:sldChg>
      <pc:sldChg chg="modSp mod">
        <pc:chgData name="Almaha Sulaiman Alkhurayji" userId="78008012-bfe5-4fb4-a012-673e87f3fba2" providerId="ADAL" clId="{E14692D9-4125-479D-B4DF-04191368B8BD}" dt="2025-08-12T09:43:23.586" v="522" actId="13926"/>
        <pc:sldMkLst>
          <pc:docMk/>
          <pc:sldMk cId="1294622055" sldId="3574"/>
        </pc:sldMkLst>
        <pc:graphicFrameChg chg="mod modGraphic">
          <ac:chgData name="Almaha Sulaiman Alkhurayji" userId="78008012-bfe5-4fb4-a012-673e87f3fba2" providerId="ADAL" clId="{E14692D9-4125-479D-B4DF-04191368B8BD}" dt="2025-08-12T09:43:23.586" v="522" actId="13926"/>
          <ac:graphicFrameMkLst>
            <pc:docMk/>
            <pc:sldMk cId="1294622055" sldId="3574"/>
            <ac:graphicFrameMk id="6" creationId="{2789BD45-5C08-4000-8B10-38CE89618E2B}"/>
          </ac:graphicFrameMkLst>
        </pc:graphicFrameChg>
      </pc:sldChg>
      <pc:sldChg chg="modSp">
        <pc:chgData name="Almaha Sulaiman Alkhurayji" userId="78008012-bfe5-4fb4-a012-673e87f3fba2" providerId="ADAL" clId="{E14692D9-4125-479D-B4DF-04191368B8BD}" dt="2025-08-07T09:24:08.390" v="245"/>
        <pc:sldMkLst>
          <pc:docMk/>
          <pc:sldMk cId="1033541563" sldId="3588"/>
        </pc:sldMkLst>
        <pc:graphicFrameChg chg="mod">
          <ac:chgData name="Almaha Sulaiman Alkhurayji" userId="78008012-bfe5-4fb4-a012-673e87f3fba2" providerId="ADAL" clId="{E14692D9-4125-479D-B4DF-04191368B8BD}" dt="2025-08-07T09:24:08.390" v="245"/>
          <ac:graphicFrameMkLst>
            <pc:docMk/>
            <pc:sldMk cId="1033541563" sldId="3588"/>
            <ac:graphicFrameMk id="12" creationId="{1E4FCB29-3777-5B99-A0EC-B06E4B48F4D0}"/>
          </ac:graphicFrameMkLst>
        </pc:graphicFrameChg>
      </pc:sldChg>
      <pc:sldChg chg="modSp mod">
        <pc:chgData name="Almaha Sulaiman Alkhurayji" userId="78008012-bfe5-4fb4-a012-673e87f3fba2" providerId="ADAL" clId="{E14692D9-4125-479D-B4DF-04191368B8BD}" dt="2025-08-12T08:22:27.079" v="510" actId="404"/>
        <pc:sldMkLst>
          <pc:docMk/>
          <pc:sldMk cId="2018633964" sldId="3590"/>
        </pc:sldMkLst>
        <pc:graphicFrameChg chg="mod modGraphic">
          <ac:chgData name="Almaha Sulaiman Alkhurayji" userId="78008012-bfe5-4fb4-a012-673e87f3fba2" providerId="ADAL" clId="{E14692D9-4125-479D-B4DF-04191368B8BD}" dt="2025-08-12T08:22:27.079" v="510" actId="404"/>
          <ac:graphicFrameMkLst>
            <pc:docMk/>
            <pc:sldMk cId="2018633964" sldId="3590"/>
            <ac:graphicFrameMk id="6" creationId="{2789BD45-5C08-4000-8B10-38CE89618E2B}"/>
          </ac:graphicFrameMkLst>
        </pc:graphicFrameChg>
      </pc:sldChg>
      <pc:sldChg chg="modSp mod">
        <pc:chgData name="Almaha Sulaiman Alkhurayji" userId="78008012-bfe5-4fb4-a012-673e87f3fba2" providerId="ADAL" clId="{E14692D9-4125-479D-B4DF-04191368B8BD}" dt="2025-08-31T05:46:19.332" v="567"/>
        <pc:sldMkLst>
          <pc:docMk/>
          <pc:sldMk cId="147347071" sldId="3592"/>
        </pc:sldMkLst>
        <pc:graphicFrameChg chg="mod modGraphic">
          <ac:chgData name="Almaha Sulaiman Alkhurayji" userId="78008012-bfe5-4fb4-a012-673e87f3fba2" providerId="ADAL" clId="{E14692D9-4125-479D-B4DF-04191368B8BD}" dt="2025-08-31T05:46:19.332" v="567"/>
          <ac:graphicFrameMkLst>
            <pc:docMk/>
            <pc:sldMk cId="147347071" sldId="3592"/>
            <ac:graphicFrameMk id="6" creationId="{2789BD45-5C08-4000-8B10-38CE89618E2B}"/>
          </ac:graphicFrameMkLst>
        </pc:graphicFrameChg>
      </pc:sldChg>
      <pc:sldChg chg="modSp mod">
        <pc:chgData name="Almaha Sulaiman Alkhurayji" userId="78008012-bfe5-4fb4-a012-673e87f3fba2" providerId="ADAL" clId="{E14692D9-4125-479D-B4DF-04191368B8BD}" dt="2025-07-27T09:34:57.074" v="39" actId="14100"/>
        <pc:sldMkLst>
          <pc:docMk/>
          <pc:sldMk cId="1704863469" sldId="3593"/>
        </pc:sldMkLst>
        <pc:graphicFrameChg chg="mod modGraphic">
          <ac:chgData name="Almaha Sulaiman Alkhurayji" userId="78008012-bfe5-4fb4-a012-673e87f3fba2" providerId="ADAL" clId="{E14692D9-4125-479D-B4DF-04191368B8BD}" dt="2025-07-27T09:34:57.074" v="39" actId="14100"/>
          <ac:graphicFrameMkLst>
            <pc:docMk/>
            <pc:sldMk cId="1704863469" sldId="3593"/>
            <ac:graphicFrameMk id="30" creationId="{30E0A729-7199-4198-2374-EDF075FD9F3A}"/>
          </ac:graphicFrameMkLst>
        </pc:graphicFrameChg>
      </pc:sldChg>
      <pc:sldChg chg="modSp mod">
        <pc:chgData name="Almaha Sulaiman Alkhurayji" userId="78008012-bfe5-4fb4-a012-673e87f3fba2" providerId="ADAL" clId="{E14692D9-4125-479D-B4DF-04191368B8BD}" dt="2025-09-01T10:16:33.998" v="606"/>
        <pc:sldMkLst>
          <pc:docMk/>
          <pc:sldMk cId="4011593300" sldId="3594"/>
        </pc:sldMkLst>
        <pc:graphicFrameChg chg="mod modGraphic">
          <ac:chgData name="Almaha Sulaiman Alkhurayji" userId="78008012-bfe5-4fb4-a012-673e87f3fba2" providerId="ADAL" clId="{E14692D9-4125-479D-B4DF-04191368B8BD}" dt="2025-09-01T10:16:33.998" v="606"/>
          <ac:graphicFrameMkLst>
            <pc:docMk/>
            <pc:sldMk cId="4011593300" sldId="3594"/>
            <ac:graphicFrameMk id="15" creationId="{7CD979C5-50BD-4F22-6ABB-D3E63659D409}"/>
          </ac:graphicFrameMkLst>
        </pc:graphicFrameChg>
      </pc:sldChg>
      <pc:sldChg chg="modSp mod">
        <pc:chgData name="Almaha Sulaiman Alkhurayji" userId="78008012-bfe5-4fb4-a012-673e87f3fba2" providerId="ADAL" clId="{E14692D9-4125-479D-B4DF-04191368B8BD}" dt="2025-09-15T09:25:07.032" v="610" actId="14100"/>
        <pc:sldMkLst>
          <pc:docMk/>
          <pc:sldMk cId="3477754786" sldId="3595"/>
        </pc:sldMkLst>
        <pc:graphicFrameChg chg="mod modGraphic">
          <ac:chgData name="Almaha Sulaiman Alkhurayji" userId="78008012-bfe5-4fb4-a012-673e87f3fba2" providerId="ADAL" clId="{E14692D9-4125-479D-B4DF-04191368B8BD}" dt="2025-09-15T09:25:07.032" v="610" actId="14100"/>
          <ac:graphicFrameMkLst>
            <pc:docMk/>
            <pc:sldMk cId="3477754786" sldId="3595"/>
            <ac:graphicFrameMk id="6" creationId="{2789BD45-5C08-4000-8B10-38CE89618E2B}"/>
          </ac:graphicFrameMkLst>
        </pc:graphicFrameChg>
      </pc:sldChg>
      <pc:sldChg chg="modSp mod">
        <pc:chgData name="Almaha Sulaiman Alkhurayji" userId="78008012-bfe5-4fb4-a012-673e87f3fba2" providerId="ADAL" clId="{E14692D9-4125-479D-B4DF-04191368B8BD}" dt="2025-08-27T12:25:18.427" v="527" actId="20577"/>
        <pc:sldMkLst>
          <pc:docMk/>
          <pc:sldMk cId="3729628813" sldId="3597"/>
        </pc:sldMkLst>
        <pc:graphicFrameChg chg="mod modGraphic">
          <ac:chgData name="Almaha Sulaiman Alkhurayji" userId="78008012-bfe5-4fb4-a012-673e87f3fba2" providerId="ADAL" clId="{E14692D9-4125-479D-B4DF-04191368B8BD}" dt="2025-08-27T12:25:18.427" v="527" actId="20577"/>
          <ac:graphicFrameMkLst>
            <pc:docMk/>
            <pc:sldMk cId="3729628813" sldId="3597"/>
            <ac:graphicFrameMk id="6" creationId="{2789BD45-5C08-4000-8B10-38CE89618E2B}"/>
          </ac:graphicFrameMkLst>
        </pc:graphicFrameChg>
      </pc:sldChg>
      <pc:sldChg chg="modSp mod">
        <pc:chgData name="Almaha Sulaiman Alkhurayji" userId="78008012-bfe5-4fb4-a012-673e87f3fba2" providerId="ADAL" clId="{E14692D9-4125-479D-B4DF-04191368B8BD}" dt="2025-08-11T08:32:28.462" v="440" actId="20577"/>
        <pc:sldMkLst>
          <pc:docMk/>
          <pc:sldMk cId="1141038384" sldId="3598"/>
        </pc:sldMkLst>
        <pc:graphicFrameChg chg="mod modGraphic">
          <ac:chgData name="Almaha Sulaiman Alkhurayji" userId="78008012-bfe5-4fb4-a012-673e87f3fba2" providerId="ADAL" clId="{E14692D9-4125-479D-B4DF-04191368B8BD}" dt="2025-08-11T08:32:28.462" v="440" actId="20577"/>
          <ac:graphicFrameMkLst>
            <pc:docMk/>
            <pc:sldMk cId="1141038384" sldId="3598"/>
            <ac:graphicFrameMk id="6" creationId="{2789BD45-5C08-4000-8B10-38CE89618E2B}"/>
          </ac:graphicFrameMkLst>
        </pc:graphicFrameChg>
      </pc:sldChg>
      <pc:sldChg chg="modSp mod">
        <pc:chgData name="Almaha Sulaiman Alkhurayji" userId="78008012-bfe5-4fb4-a012-673e87f3fba2" providerId="ADAL" clId="{E14692D9-4125-479D-B4DF-04191368B8BD}" dt="2025-08-11T11:19:59.442" v="456" actId="14100"/>
        <pc:sldMkLst>
          <pc:docMk/>
          <pc:sldMk cId="755718484" sldId="3599"/>
        </pc:sldMkLst>
        <pc:graphicFrameChg chg="mod modGraphic">
          <ac:chgData name="Almaha Sulaiman Alkhurayji" userId="78008012-bfe5-4fb4-a012-673e87f3fba2" providerId="ADAL" clId="{E14692D9-4125-479D-B4DF-04191368B8BD}" dt="2025-08-11T11:19:59.442" v="456" actId="14100"/>
          <ac:graphicFrameMkLst>
            <pc:docMk/>
            <pc:sldMk cId="755718484" sldId="3599"/>
            <ac:graphicFrameMk id="5" creationId="{8B4484DE-416C-8D70-BA52-87718B56BCE5}"/>
          </ac:graphicFrameMkLst>
        </pc:graphicFrameChg>
      </pc:sldChg>
      <pc:sldChg chg="addSp delSp modSp add mod">
        <pc:chgData name="Almaha Sulaiman Alkhurayji" userId="78008012-bfe5-4fb4-a012-673e87f3fba2" providerId="ADAL" clId="{E14692D9-4125-479D-B4DF-04191368B8BD}" dt="2025-08-31T05:52:26.922" v="602" actId="1076"/>
        <pc:sldMkLst>
          <pc:docMk/>
          <pc:sldMk cId="2197920200" sldId="3600"/>
        </pc:sldMkLst>
        <pc:spChg chg="mod">
          <ac:chgData name="Almaha Sulaiman Alkhurayji" userId="78008012-bfe5-4fb4-a012-673e87f3fba2" providerId="ADAL" clId="{E14692D9-4125-479D-B4DF-04191368B8BD}" dt="2025-08-07T12:16:23.355" v="276" actId="20577"/>
          <ac:spMkLst>
            <pc:docMk/>
            <pc:sldMk cId="2197920200" sldId="3600"/>
            <ac:spMk id="47" creationId="{74E732A6-1591-E064-84BA-9E6017D3D020}"/>
          </ac:spMkLst>
        </pc:spChg>
        <pc:graphicFrameChg chg="add mod">
          <ac:chgData name="Almaha Sulaiman Alkhurayji" userId="78008012-bfe5-4fb4-a012-673e87f3fba2" providerId="ADAL" clId="{E14692D9-4125-479D-B4DF-04191368B8BD}" dt="2025-08-31T05:52:26.922" v="602" actId="1076"/>
          <ac:graphicFrameMkLst>
            <pc:docMk/>
            <pc:sldMk cId="2197920200" sldId="3600"/>
            <ac:graphicFrameMk id="3" creationId="{8056B78A-07A0-3C0C-DCED-A9C4DEF1172F}"/>
          </ac:graphicFrameMkLst>
        </pc:graphicFrameChg>
      </pc:sldChg>
    </pc:docChg>
  </pc:docChgLst>
  <pc:docChgLst>
    <pc:chgData name="Almaha Sulaiman Alkhurayji" userId="78008012-bfe5-4fb4-a012-673e87f3fba2" providerId="ADAL" clId="{833D65C6-8F47-4B80-93DA-A278EF8DCA48}"/>
    <pc:docChg chg="modSld">
      <pc:chgData name="Almaha Sulaiman Alkhurayji" userId="78008012-bfe5-4fb4-a012-673e87f3fba2" providerId="ADAL" clId="{833D65C6-8F47-4B80-93DA-A278EF8DCA48}" dt="2025-02-27T06:06:09.767" v="1" actId="14734"/>
      <pc:docMkLst>
        <pc:docMk/>
      </pc:docMkLst>
      <pc:sldChg chg="modSp mod">
        <pc:chgData name="Almaha Sulaiman Alkhurayji" userId="78008012-bfe5-4fb4-a012-673e87f3fba2" providerId="ADAL" clId="{833D65C6-8F47-4B80-93DA-A278EF8DCA48}" dt="2025-02-27T06:06:09.767" v="1" actId="14734"/>
        <pc:sldMkLst>
          <pc:docMk/>
          <pc:sldMk cId="1217490282" sldId="3548"/>
        </pc:sldMkLst>
      </pc:sldChg>
    </pc:docChg>
  </pc:docChgLst>
  <pc:docChgLst>
    <pc:chgData name="Almaha Sulaiman Alkhurayji" userId="78008012-bfe5-4fb4-a012-673e87f3fba2" providerId="ADAL" clId="{86012D73-32F4-4A07-B145-C4A369B67DCC}"/>
    <pc:docChg chg="undo custSel modSld">
      <pc:chgData name="Almaha Sulaiman Alkhurayji" userId="78008012-bfe5-4fb4-a012-673e87f3fba2" providerId="ADAL" clId="{86012D73-32F4-4A07-B145-C4A369B67DCC}" dt="2024-10-14T09:46:10.425" v="113" actId="404"/>
      <pc:docMkLst>
        <pc:docMk/>
      </pc:docMkLst>
      <pc:sldChg chg="modSp mod">
        <pc:chgData name="Almaha Sulaiman Alkhurayji" userId="78008012-bfe5-4fb4-a012-673e87f3fba2" providerId="ADAL" clId="{86012D73-32F4-4A07-B145-C4A369B67DCC}" dt="2024-10-14T09:03:04.155" v="91" actId="404"/>
        <pc:sldMkLst>
          <pc:docMk/>
          <pc:sldMk cId="2731639576" sldId="371"/>
        </pc:sldMkLst>
      </pc:sldChg>
      <pc:sldChg chg="modSp mod">
        <pc:chgData name="Almaha Sulaiman Alkhurayji" userId="78008012-bfe5-4fb4-a012-673e87f3fba2" providerId="ADAL" clId="{86012D73-32F4-4A07-B145-C4A369B67DCC}" dt="2024-10-14T09:29:39.397" v="110" actId="13926"/>
        <pc:sldMkLst>
          <pc:docMk/>
          <pc:sldMk cId="1410246188" sldId="376"/>
        </pc:sldMkLst>
      </pc:sldChg>
      <pc:sldChg chg="modSp mod">
        <pc:chgData name="Almaha Sulaiman Alkhurayji" userId="78008012-bfe5-4fb4-a012-673e87f3fba2" providerId="ADAL" clId="{86012D73-32F4-4A07-B145-C4A369B67DCC}" dt="2024-10-14T09:02:28.228" v="86" actId="207"/>
        <pc:sldMkLst>
          <pc:docMk/>
          <pc:sldMk cId="1241990080" sldId="2739"/>
        </pc:sldMkLst>
      </pc:sldChg>
      <pc:sldChg chg="addSp delSp modSp mod">
        <pc:chgData name="Almaha Sulaiman Alkhurayji" userId="78008012-bfe5-4fb4-a012-673e87f3fba2" providerId="ADAL" clId="{86012D73-32F4-4A07-B145-C4A369B67DCC}" dt="2024-10-14T09:24:02.957" v="103" actId="14100"/>
        <pc:sldMkLst>
          <pc:docMk/>
          <pc:sldMk cId="3896275407" sldId="3508"/>
        </pc:sldMkLst>
      </pc:sldChg>
      <pc:sldChg chg="modSp mod">
        <pc:chgData name="Almaha Sulaiman Alkhurayji" userId="78008012-bfe5-4fb4-a012-673e87f3fba2" providerId="ADAL" clId="{86012D73-32F4-4A07-B145-C4A369B67DCC}" dt="2024-10-08T11:02:22.139" v="84"/>
        <pc:sldMkLst>
          <pc:docMk/>
          <pc:sldMk cId="617947693" sldId="3513"/>
        </pc:sldMkLst>
      </pc:sldChg>
      <pc:sldChg chg="modSp">
        <pc:chgData name="Almaha Sulaiman Alkhurayji" userId="78008012-bfe5-4fb4-a012-673e87f3fba2" providerId="ADAL" clId="{86012D73-32F4-4A07-B145-C4A369B67DCC}" dt="2024-10-08T09:23:36.434" v="4"/>
        <pc:sldMkLst>
          <pc:docMk/>
          <pc:sldMk cId="76587484" sldId="3535"/>
        </pc:sldMkLst>
      </pc:sldChg>
      <pc:sldChg chg="modSp mod">
        <pc:chgData name="Almaha Sulaiman Alkhurayji" userId="78008012-bfe5-4fb4-a012-673e87f3fba2" providerId="ADAL" clId="{86012D73-32F4-4A07-B145-C4A369B67DCC}" dt="2024-10-14T09:46:10.425" v="113" actId="404"/>
        <pc:sldMkLst>
          <pc:docMk/>
          <pc:sldMk cId="3074552904" sldId="3538"/>
        </pc:sldMkLst>
      </pc:sldChg>
      <pc:sldChg chg="addSp delSp modSp mod">
        <pc:chgData name="Almaha Sulaiman Alkhurayji" userId="78008012-bfe5-4fb4-a012-673e87f3fba2" providerId="ADAL" clId="{86012D73-32F4-4A07-B145-C4A369B67DCC}" dt="2024-10-14T09:23:41.425" v="101" actId="14100"/>
        <pc:sldMkLst>
          <pc:docMk/>
          <pc:sldMk cId="3584786656" sldId="3541"/>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ttconline-my.sharepoint.com/personal/akhuriji_rafedsa_com/Documents/Desktop/2025/&#1575;&#1604;&#1606;&#1578;&#1610;&#1580;&#1577;%20&#1575;&#1604;&#1603;&#1604;&#1610;&#1577;%20&#1604;&#1604;&#1585;&#1576;&#1593;%20&#1575;&#1604;&#1575;&#1608;&#1604;%202025%20&#1605;&#1582;&#1578;&#1589;&#158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ttconline-my.sharepoint.com/personal/akhuriji_rafedsa_com/Documents/Desktop/2025/&#1575;&#1604;&#1606;&#1578;&#1610;&#1580;&#1577;%20&#1575;&#1604;&#1603;&#1604;&#1610;&#1577;%20&#1604;&#1604;&#1585;&#1576;&#1593;%20&#1575;&#1604;&#1579;&#1575;&#1606;&#1610;%202025%20&#1605;&#1582;&#1578;&#1589;&#1585;.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206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Sheet1!$A$1:$A$10</c:f>
              <c:strCache>
                <c:ptCount val="10"/>
                <c:pt idx="0">
                  <c:v>الاستراتيجية وتطوير الأعمال</c:v>
                </c:pt>
                <c:pt idx="1">
                  <c:v>الموارد البشرية</c:v>
                </c:pt>
                <c:pt idx="2">
                  <c:v>الخدمات المؤسسية</c:v>
                </c:pt>
                <c:pt idx="3">
                  <c:v>الأعمال الخاصة</c:v>
                </c:pt>
                <c:pt idx="4">
                  <c:v>القانونية</c:v>
                </c:pt>
                <c:pt idx="5">
                  <c:v>التشغيل</c:v>
                </c:pt>
                <c:pt idx="6">
                  <c:v>المالية</c:v>
                </c:pt>
                <c:pt idx="7">
                  <c:v>التخطيط والأداء</c:v>
                </c:pt>
                <c:pt idx="8">
                  <c:v>التحول الرقمي</c:v>
                </c:pt>
                <c:pt idx="9">
                  <c:v>العقود والمشتريات</c:v>
                </c:pt>
              </c:strCache>
            </c:strRef>
          </c:cat>
          <c:val>
            <c:numRef>
              <c:f>Sheet1!$B$1:$B$10</c:f>
              <c:numCache>
                <c:formatCode>0%</c:formatCode>
                <c:ptCount val="10"/>
                <c:pt idx="0">
                  <c:v>0.1</c:v>
                </c:pt>
                <c:pt idx="1">
                  <c:v>0.42000000000000004</c:v>
                </c:pt>
                <c:pt idx="2">
                  <c:v>0.42150000000000004</c:v>
                </c:pt>
                <c:pt idx="3">
                  <c:v>0.57339499999999999</c:v>
                </c:pt>
                <c:pt idx="4">
                  <c:v>0.64999999999999991</c:v>
                </c:pt>
                <c:pt idx="5">
                  <c:v>0.83609278350515459</c:v>
                </c:pt>
                <c:pt idx="6">
                  <c:v>0.87400000000000011</c:v>
                </c:pt>
                <c:pt idx="7">
                  <c:v>0.94875730994152052</c:v>
                </c:pt>
                <c:pt idx="8">
                  <c:v>1</c:v>
                </c:pt>
                <c:pt idx="9">
                  <c:v>1</c:v>
                </c:pt>
              </c:numCache>
            </c:numRef>
          </c:val>
          <c:extLst>
            <c:ext xmlns:c16="http://schemas.microsoft.com/office/drawing/2014/chart" uri="{C3380CC4-5D6E-409C-BE32-E72D297353CC}">
              <c16:uniqueId val="{00000000-8237-4280-A459-C55D6990F79D}"/>
            </c:ext>
          </c:extLst>
        </c:ser>
        <c:dLbls>
          <c:dLblPos val="outEnd"/>
          <c:showLegendKey val="0"/>
          <c:showVal val="1"/>
          <c:showCatName val="0"/>
          <c:showSerName val="0"/>
          <c:showPercent val="0"/>
          <c:showBubbleSize val="0"/>
        </c:dLbls>
        <c:gapWidth val="219"/>
        <c:overlap val="-27"/>
        <c:axId val="2031630336"/>
        <c:axId val="2031630816"/>
      </c:barChart>
      <c:catAx>
        <c:axId val="2031630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rgbClr val="002060"/>
                </a:solidFill>
                <a:latin typeface="Sakkal Majalla" panose="02000000000000000000" pitchFamily="2" charset="-78"/>
                <a:ea typeface="+mn-ea"/>
                <a:cs typeface="Sakkal Majalla" panose="02000000000000000000" pitchFamily="2" charset="-78"/>
              </a:defRPr>
            </a:pPr>
            <a:endParaRPr lang="en-US"/>
          </a:p>
        </c:txPr>
        <c:crossAx val="2031630816"/>
        <c:crosses val="autoZero"/>
        <c:auto val="1"/>
        <c:lblAlgn val="ctr"/>
        <c:lblOffset val="100"/>
        <c:noMultiLvlLbl val="0"/>
      </c:catAx>
      <c:valAx>
        <c:axId val="2031630816"/>
        <c:scaling>
          <c:orientation val="minMax"/>
        </c:scaling>
        <c:delete val="1"/>
        <c:axPos val="l"/>
        <c:numFmt formatCode="0%" sourceLinked="1"/>
        <c:majorTickMark val="none"/>
        <c:minorTickMark val="none"/>
        <c:tickLblPos val="nextTo"/>
        <c:crossAx val="20316303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dLblPos val="outEnd"/>
          <c:showLegendKey val="0"/>
          <c:showVal val="1"/>
          <c:showCatName val="0"/>
          <c:showSerName val="0"/>
          <c:showPercent val="0"/>
          <c:showBubbleSize val="0"/>
        </c:dLbls>
        <c:gapWidth val="219"/>
        <c:overlap val="-27"/>
        <c:axId val="2031630336"/>
        <c:axId val="2031630816"/>
      </c:barChart>
      <c:catAx>
        <c:axId val="2031630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rgbClr val="002060"/>
                </a:solidFill>
                <a:latin typeface="Sakkal Majalla" panose="02000000000000000000" pitchFamily="2" charset="-78"/>
                <a:ea typeface="+mn-ea"/>
                <a:cs typeface="Almarai"/>
              </a:defRPr>
            </a:pPr>
            <a:endParaRPr lang="en-US"/>
          </a:p>
        </c:txPr>
        <c:crossAx val="2031630816"/>
        <c:crosses val="autoZero"/>
        <c:auto val="1"/>
        <c:lblAlgn val="ctr"/>
        <c:lblOffset val="100"/>
        <c:noMultiLvlLbl val="0"/>
      </c:catAx>
      <c:valAx>
        <c:axId val="2031630816"/>
        <c:scaling>
          <c:orientation val="minMax"/>
        </c:scaling>
        <c:delete val="1"/>
        <c:axPos val="l"/>
        <c:numFmt formatCode="0%" sourceLinked="1"/>
        <c:majorTickMark val="none"/>
        <c:minorTickMark val="none"/>
        <c:tickLblPos val="nextTo"/>
        <c:crossAx val="20316303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206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Sheet1!$A$1:$A$10</c:f>
              <c:strCache>
                <c:ptCount val="10"/>
                <c:pt idx="0">
                  <c:v>الاستراتيجية وتطوير الأعمال</c:v>
                </c:pt>
                <c:pt idx="1">
                  <c:v>الخدمات المؤسسية</c:v>
                </c:pt>
                <c:pt idx="2">
                  <c:v>الموارد البشرية</c:v>
                </c:pt>
                <c:pt idx="3">
                  <c:v>القانونية</c:v>
                </c:pt>
                <c:pt idx="4">
                  <c:v>التشغيل</c:v>
                </c:pt>
                <c:pt idx="5">
                  <c:v>الأعمال الخاصة</c:v>
                </c:pt>
                <c:pt idx="6">
                  <c:v>المالية</c:v>
                </c:pt>
                <c:pt idx="7">
                  <c:v>التخطيط والأداء</c:v>
                </c:pt>
                <c:pt idx="8">
                  <c:v>العقود والمشتريات</c:v>
                </c:pt>
                <c:pt idx="9">
                  <c:v>التحول الرقمي</c:v>
                </c:pt>
              </c:strCache>
            </c:strRef>
          </c:cat>
          <c:val>
            <c:numRef>
              <c:f>Sheet1!$B$1:$B$10</c:f>
              <c:numCache>
                <c:formatCode>0%</c:formatCode>
                <c:ptCount val="10"/>
                <c:pt idx="0">
                  <c:v>0.1</c:v>
                </c:pt>
                <c:pt idx="1">
                  <c:v>0.36099999999999999</c:v>
                </c:pt>
                <c:pt idx="2">
                  <c:v>0.41562499999999997</c:v>
                </c:pt>
                <c:pt idx="3">
                  <c:v>0.65</c:v>
                </c:pt>
                <c:pt idx="4">
                  <c:v>0.84323167239404351</c:v>
                </c:pt>
                <c:pt idx="5">
                  <c:v>0.87114999999999998</c:v>
                </c:pt>
                <c:pt idx="6">
                  <c:v>0.90550000000000008</c:v>
                </c:pt>
                <c:pt idx="7">
                  <c:v>0.96149415204678368</c:v>
                </c:pt>
                <c:pt idx="8">
                  <c:v>0.96326388888888881</c:v>
                </c:pt>
                <c:pt idx="9">
                  <c:v>1</c:v>
                </c:pt>
              </c:numCache>
            </c:numRef>
          </c:val>
          <c:extLst>
            <c:ext xmlns:c16="http://schemas.microsoft.com/office/drawing/2014/chart" uri="{C3380CC4-5D6E-409C-BE32-E72D297353CC}">
              <c16:uniqueId val="{00000000-325B-4A94-BE17-6F4D9265788E}"/>
            </c:ext>
          </c:extLst>
        </c:ser>
        <c:dLbls>
          <c:dLblPos val="outEnd"/>
          <c:showLegendKey val="0"/>
          <c:showVal val="1"/>
          <c:showCatName val="0"/>
          <c:showSerName val="0"/>
          <c:showPercent val="0"/>
          <c:showBubbleSize val="0"/>
        </c:dLbls>
        <c:gapWidth val="219"/>
        <c:overlap val="-27"/>
        <c:axId val="1806268576"/>
        <c:axId val="1806270976"/>
      </c:barChart>
      <c:catAx>
        <c:axId val="1806268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rgbClr val="002060"/>
                </a:solidFill>
                <a:latin typeface="Sakkal Majalla" panose="02000000000000000000" pitchFamily="2" charset="-78"/>
                <a:ea typeface="+mn-ea"/>
                <a:cs typeface="Sakkal Majalla" panose="02000000000000000000" pitchFamily="2" charset="-78"/>
              </a:defRPr>
            </a:pPr>
            <a:endParaRPr lang="en-US"/>
          </a:p>
        </c:txPr>
        <c:crossAx val="1806270976"/>
        <c:crosses val="autoZero"/>
        <c:auto val="1"/>
        <c:lblAlgn val="ctr"/>
        <c:lblOffset val="100"/>
        <c:noMultiLvlLbl val="0"/>
      </c:catAx>
      <c:valAx>
        <c:axId val="1806270976"/>
        <c:scaling>
          <c:orientation val="minMax"/>
        </c:scaling>
        <c:delete val="1"/>
        <c:axPos val="l"/>
        <c:numFmt formatCode="0%" sourceLinked="1"/>
        <c:majorTickMark val="none"/>
        <c:minorTickMark val="none"/>
        <c:tickLblPos val="nextTo"/>
        <c:crossAx val="18062685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84E22D-D439-4D6F-BC6D-415F7D7A2208}" type="datetimeFigureOut">
              <a:rPr lang="en-US" smtClean="0"/>
              <a:t>9/15/2025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EA5308-B9DC-45A8-A9E7-2D2031AC3572}" type="slidenum">
              <a:rPr lang="en-US" smtClean="0"/>
              <a:t>‹#›</a:t>
            </a:fld>
            <a:endParaRPr lang="en-US"/>
          </a:p>
        </p:txBody>
      </p:sp>
    </p:spTree>
    <p:extLst>
      <p:ext uri="{BB962C8B-B14F-4D97-AF65-F5344CB8AC3E}">
        <p14:creationId xmlns:p14="http://schemas.microsoft.com/office/powerpoint/2010/main" val="2682764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a:p>
        </p:txBody>
      </p:sp>
      <p:sp>
        <p:nvSpPr>
          <p:cNvPr id="4" name="عنصر نائب لرقم الشريحة 3"/>
          <p:cNvSpPr>
            <a:spLocks noGrp="1"/>
          </p:cNvSpPr>
          <p:nvPr>
            <p:ph type="sldNum" sz="quarter" idx="5"/>
          </p:nvPr>
        </p:nvSpPr>
        <p:spPr/>
        <p:txBody>
          <a:bodyPr/>
          <a:lstStyle/>
          <a:p>
            <a:fld id="{3CEA5308-B9DC-45A8-A9E7-2D2031AC3572}" type="slidenum">
              <a:rPr lang="en-US" smtClean="0"/>
              <a:t>9</a:t>
            </a:fld>
            <a:endParaRPr lang="en-US"/>
          </a:p>
        </p:txBody>
      </p:sp>
    </p:spTree>
    <p:extLst>
      <p:ext uri="{BB962C8B-B14F-4D97-AF65-F5344CB8AC3E}">
        <p14:creationId xmlns:p14="http://schemas.microsoft.com/office/powerpoint/2010/main" val="4039022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1397CB-9539-4675-A1FC-2C501C7F16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1534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56A954-E46E-4882-95E9-F4ED321E9C2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421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1397CB-9539-4675-A1FC-2C501C7F16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2793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a:p>
        </p:txBody>
      </p:sp>
      <p:sp>
        <p:nvSpPr>
          <p:cNvPr id="4" name="عنصر نائب لرقم الشريحة 3"/>
          <p:cNvSpPr>
            <a:spLocks noGrp="1"/>
          </p:cNvSpPr>
          <p:nvPr>
            <p:ph type="sldNum" sz="quarter" idx="5"/>
          </p:nvPr>
        </p:nvSpPr>
        <p:spPr/>
        <p:txBody>
          <a:bodyPr/>
          <a:lstStyle/>
          <a:p>
            <a:fld id="{3CEA5308-B9DC-45A8-A9E7-2D2031AC3572}" type="slidenum">
              <a:rPr lang="en-US" smtClean="0"/>
              <a:t>18</a:t>
            </a:fld>
            <a:endParaRPr lang="en-US"/>
          </a:p>
        </p:txBody>
      </p:sp>
    </p:spTree>
    <p:extLst>
      <p:ext uri="{BB962C8B-B14F-4D97-AF65-F5344CB8AC3E}">
        <p14:creationId xmlns:p14="http://schemas.microsoft.com/office/powerpoint/2010/main" val="26503472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035410-DAA8-4C2C-ABC8-58E5A647E69B}"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391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a:p>
        </p:txBody>
      </p:sp>
      <p:sp>
        <p:nvSpPr>
          <p:cNvPr id="4" name="عنصر نائب لرقم الشريحة 3"/>
          <p:cNvSpPr>
            <a:spLocks noGrp="1"/>
          </p:cNvSpPr>
          <p:nvPr>
            <p:ph type="sldNum" sz="quarter" idx="5"/>
          </p:nvPr>
        </p:nvSpPr>
        <p:spPr/>
        <p:txBody>
          <a:bodyPr/>
          <a:lstStyle/>
          <a:p>
            <a:fld id="{3CEA5308-B9DC-45A8-A9E7-2D2031AC3572}" type="slidenum">
              <a:rPr lang="en-US" smtClean="0"/>
              <a:t>21</a:t>
            </a:fld>
            <a:endParaRPr lang="en-US"/>
          </a:p>
        </p:txBody>
      </p:sp>
    </p:spTree>
    <p:extLst>
      <p:ext uri="{BB962C8B-B14F-4D97-AF65-F5344CB8AC3E}">
        <p14:creationId xmlns:p14="http://schemas.microsoft.com/office/powerpoint/2010/main" val="3085823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EE5380-7F71-4C33-B5ED-45AF57C38F5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84397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a:p>
        </p:txBody>
      </p:sp>
      <p:sp>
        <p:nvSpPr>
          <p:cNvPr id="4" name="عنصر نائب لرقم الشريحة 3"/>
          <p:cNvSpPr>
            <a:spLocks noGrp="1"/>
          </p:cNvSpPr>
          <p:nvPr>
            <p:ph type="sldNum" sz="quarter" idx="5"/>
          </p:nvPr>
        </p:nvSpPr>
        <p:spPr/>
        <p:txBody>
          <a:bodyPr/>
          <a:lstStyle/>
          <a:p>
            <a:fld id="{3CEA5308-B9DC-45A8-A9E7-2D2031AC3572}" type="slidenum">
              <a:rPr lang="en-US" smtClean="0"/>
              <a:t>24</a:t>
            </a:fld>
            <a:endParaRPr lang="en-US"/>
          </a:p>
        </p:txBody>
      </p:sp>
    </p:spTree>
    <p:extLst>
      <p:ext uri="{BB962C8B-B14F-4D97-AF65-F5344CB8AC3E}">
        <p14:creationId xmlns:p14="http://schemas.microsoft.com/office/powerpoint/2010/main" val="999164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988D60-C0B3-418B-8EEC-CDD383A7EA7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81229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A0472-924D-D30D-5C36-A71357EA5B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220FF-192F-8120-A258-BDBE743250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EED24B-FCA3-5DE4-716E-087CFADEEB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280F7B-36F9-80D7-182A-8795D00BEB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1397CB-9539-4675-A1FC-2C501C7F16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98709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D79390-2639-4CCD-A77F-66E31A07268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86762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B3098-36E8-50A2-0EBB-A6A0CEA4C8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EA40D0-69F0-8E6D-1485-20E63970FE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A12009C-4419-80DD-5508-E06256B15ECD}"/>
              </a:ext>
            </a:extLst>
          </p:cNvPr>
          <p:cNvSpPr>
            <a:spLocks noGrp="1"/>
          </p:cNvSpPr>
          <p:nvPr>
            <p:ph type="dt" sz="half" idx="10"/>
          </p:nvPr>
        </p:nvSpPr>
        <p:spPr/>
        <p:txBody>
          <a:bodyPr/>
          <a:lstStyle/>
          <a:p>
            <a:fld id="{C441CC3E-5F41-4377-A80C-0B082CACD212}" type="datetimeFigureOut">
              <a:rPr lang="en-US" smtClean="0"/>
              <a:t>9/15/2025</a:t>
            </a:fld>
            <a:endParaRPr lang="en-US"/>
          </a:p>
        </p:txBody>
      </p:sp>
      <p:sp>
        <p:nvSpPr>
          <p:cNvPr id="5" name="Footer Placeholder 4">
            <a:extLst>
              <a:ext uri="{FF2B5EF4-FFF2-40B4-BE49-F238E27FC236}">
                <a16:creationId xmlns:a16="http://schemas.microsoft.com/office/drawing/2014/main" id="{ACD5ABED-3D86-ECA4-383E-142982FD5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B80666-CEB2-7DB9-8A21-3C93B3BE2204}"/>
              </a:ext>
            </a:extLst>
          </p:cNvPr>
          <p:cNvSpPr>
            <a:spLocks noGrp="1"/>
          </p:cNvSpPr>
          <p:nvPr>
            <p:ph type="sldNum" sz="quarter" idx="12"/>
          </p:nvPr>
        </p:nvSpPr>
        <p:spPr/>
        <p:txBody>
          <a:bodyPr/>
          <a:lstStyle/>
          <a:p>
            <a:fld id="{85DFA07A-3F31-4C5A-8B83-821B7E52B6A8}" type="slidenum">
              <a:rPr lang="en-US" smtClean="0"/>
              <a:t>‹#›</a:t>
            </a:fld>
            <a:endParaRPr lang="en-US"/>
          </a:p>
        </p:txBody>
      </p:sp>
    </p:spTree>
    <p:extLst>
      <p:ext uri="{BB962C8B-B14F-4D97-AF65-F5344CB8AC3E}">
        <p14:creationId xmlns:p14="http://schemas.microsoft.com/office/powerpoint/2010/main" val="3725839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DFA87-6DD1-C4BF-8FB9-1757CE3BE6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D88BC7-D73B-D8D3-BABC-7DC01357B5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6CCF5D-D707-9CAC-B064-8C1FE95A4C3C}"/>
              </a:ext>
            </a:extLst>
          </p:cNvPr>
          <p:cNvSpPr>
            <a:spLocks noGrp="1"/>
          </p:cNvSpPr>
          <p:nvPr>
            <p:ph type="dt" sz="half" idx="10"/>
          </p:nvPr>
        </p:nvSpPr>
        <p:spPr/>
        <p:txBody>
          <a:bodyPr/>
          <a:lstStyle/>
          <a:p>
            <a:fld id="{C441CC3E-5F41-4377-A80C-0B082CACD212}" type="datetimeFigureOut">
              <a:rPr lang="en-US" smtClean="0"/>
              <a:t>9/15/2025</a:t>
            </a:fld>
            <a:endParaRPr lang="en-US"/>
          </a:p>
        </p:txBody>
      </p:sp>
      <p:sp>
        <p:nvSpPr>
          <p:cNvPr id="5" name="Footer Placeholder 4">
            <a:extLst>
              <a:ext uri="{FF2B5EF4-FFF2-40B4-BE49-F238E27FC236}">
                <a16:creationId xmlns:a16="http://schemas.microsoft.com/office/drawing/2014/main" id="{DA1FE41C-C406-A4A9-2682-DCD6109609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AF64C4-8FD1-711D-0B4A-8045EF19CA41}"/>
              </a:ext>
            </a:extLst>
          </p:cNvPr>
          <p:cNvSpPr>
            <a:spLocks noGrp="1"/>
          </p:cNvSpPr>
          <p:nvPr>
            <p:ph type="sldNum" sz="quarter" idx="12"/>
          </p:nvPr>
        </p:nvSpPr>
        <p:spPr/>
        <p:txBody>
          <a:bodyPr/>
          <a:lstStyle/>
          <a:p>
            <a:fld id="{85DFA07A-3F31-4C5A-8B83-821B7E52B6A8}" type="slidenum">
              <a:rPr lang="en-US" smtClean="0"/>
              <a:t>‹#›</a:t>
            </a:fld>
            <a:endParaRPr lang="en-US"/>
          </a:p>
        </p:txBody>
      </p:sp>
    </p:spTree>
    <p:extLst>
      <p:ext uri="{BB962C8B-B14F-4D97-AF65-F5344CB8AC3E}">
        <p14:creationId xmlns:p14="http://schemas.microsoft.com/office/powerpoint/2010/main" val="3380243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3DA5B-CD26-C82F-10EC-EA21E780C6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4296F8-6871-0335-F370-FA4E5245E1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511730-952D-66F3-38A2-DDDEDC3661B1}"/>
              </a:ext>
            </a:extLst>
          </p:cNvPr>
          <p:cNvSpPr>
            <a:spLocks noGrp="1"/>
          </p:cNvSpPr>
          <p:nvPr>
            <p:ph type="dt" sz="half" idx="10"/>
          </p:nvPr>
        </p:nvSpPr>
        <p:spPr/>
        <p:txBody>
          <a:bodyPr/>
          <a:lstStyle/>
          <a:p>
            <a:fld id="{C441CC3E-5F41-4377-A80C-0B082CACD212}" type="datetimeFigureOut">
              <a:rPr lang="en-US" smtClean="0"/>
              <a:t>9/15/2025</a:t>
            </a:fld>
            <a:endParaRPr lang="en-US"/>
          </a:p>
        </p:txBody>
      </p:sp>
      <p:sp>
        <p:nvSpPr>
          <p:cNvPr id="5" name="Footer Placeholder 4">
            <a:extLst>
              <a:ext uri="{FF2B5EF4-FFF2-40B4-BE49-F238E27FC236}">
                <a16:creationId xmlns:a16="http://schemas.microsoft.com/office/drawing/2014/main" id="{C6C3BC37-D929-1148-5528-9045CAC13C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B16304-1786-1B8F-A1E5-9DEE9E6CCDB8}"/>
              </a:ext>
            </a:extLst>
          </p:cNvPr>
          <p:cNvSpPr>
            <a:spLocks noGrp="1"/>
          </p:cNvSpPr>
          <p:nvPr>
            <p:ph type="sldNum" sz="quarter" idx="12"/>
          </p:nvPr>
        </p:nvSpPr>
        <p:spPr/>
        <p:txBody>
          <a:bodyPr/>
          <a:lstStyle/>
          <a:p>
            <a:fld id="{85DFA07A-3F31-4C5A-8B83-821B7E52B6A8}" type="slidenum">
              <a:rPr lang="en-US" smtClean="0"/>
              <a:t>‹#›</a:t>
            </a:fld>
            <a:endParaRPr lang="en-US"/>
          </a:p>
        </p:txBody>
      </p:sp>
    </p:spTree>
    <p:extLst>
      <p:ext uri="{BB962C8B-B14F-4D97-AF65-F5344CB8AC3E}">
        <p14:creationId xmlns:p14="http://schemas.microsoft.com/office/powerpoint/2010/main" val="2635446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EB206-3807-F03A-4BAE-0CCD02BF13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3BC4A0-01D6-ADF5-6665-DD18B565F4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82BA54-A1EE-F07C-9922-3D8D182671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CBC799-BCC3-9F1B-7B1B-48345C3D0529}"/>
              </a:ext>
            </a:extLst>
          </p:cNvPr>
          <p:cNvSpPr>
            <a:spLocks noGrp="1"/>
          </p:cNvSpPr>
          <p:nvPr>
            <p:ph type="dt" sz="half" idx="10"/>
          </p:nvPr>
        </p:nvSpPr>
        <p:spPr/>
        <p:txBody>
          <a:bodyPr/>
          <a:lstStyle/>
          <a:p>
            <a:fld id="{C441CC3E-5F41-4377-A80C-0B082CACD212}" type="datetimeFigureOut">
              <a:rPr lang="en-US" smtClean="0"/>
              <a:t>9/15/2025</a:t>
            </a:fld>
            <a:endParaRPr lang="en-US"/>
          </a:p>
        </p:txBody>
      </p:sp>
      <p:sp>
        <p:nvSpPr>
          <p:cNvPr id="6" name="Footer Placeholder 5">
            <a:extLst>
              <a:ext uri="{FF2B5EF4-FFF2-40B4-BE49-F238E27FC236}">
                <a16:creationId xmlns:a16="http://schemas.microsoft.com/office/drawing/2014/main" id="{B5B5CA22-5A33-C9AF-E3A2-754B7355D8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08BF60-E77D-0B28-18B4-CE804751E5B4}"/>
              </a:ext>
            </a:extLst>
          </p:cNvPr>
          <p:cNvSpPr>
            <a:spLocks noGrp="1"/>
          </p:cNvSpPr>
          <p:nvPr>
            <p:ph type="sldNum" sz="quarter" idx="12"/>
          </p:nvPr>
        </p:nvSpPr>
        <p:spPr/>
        <p:txBody>
          <a:bodyPr/>
          <a:lstStyle/>
          <a:p>
            <a:fld id="{85DFA07A-3F31-4C5A-8B83-821B7E52B6A8}" type="slidenum">
              <a:rPr lang="en-US" smtClean="0"/>
              <a:t>‹#›</a:t>
            </a:fld>
            <a:endParaRPr lang="en-US"/>
          </a:p>
        </p:txBody>
      </p:sp>
    </p:spTree>
    <p:extLst>
      <p:ext uri="{BB962C8B-B14F-4D97-AF65-F5344CB8AC3E}">
        <p14:creationId xmlns:p14="http://schemas.microsoft.com/office/powerpoint/2010/main" val="1613174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D4207-397A-C607-34E6-EEBD26A26E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BF68AC-619A-D174-0FB2-8089E74479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F1A8EC-473C-1E95-27C6-D3E866F595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6B9F75-50B3-04FD-6A88-92AAE0ADB9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066B32-0A83-1F8E-2FA6-4049D686E3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4DB2FF-333B-EC04-6DCE-9233C84376DA}"/>
              </a:ext>
            </a:extLst>
          </p:cNvPr>
          <p:cNvSpPr>
            <a:spLocks noGrp="1"/>
          </p:cNvSpPr>
          <p:nvPr>
            <p:ph type="dt" sz="half" idx="10"/>
          </p:nvPr>
        </p:nvSpPr>
        <p:spPr/>
        <p:txBody>
          <a:bodyPr/>
          <a:lstStyle/>
          <a:p>
            <a:fld id="{C441CC3E-5F41-4377-A80C-0B082CACD212}" type="datetimeFigureOut">
              <a:rPr lang="en-US" smtClean="0"/>
              <a:t>9/15/2025</a:t>
            </a:fld>
            <a:endParaRPr lang="en-US"/>
          </a:p>
        </p:txBody>
      </p:sp>
      <p:sp>
        <p:nvSpPr>
          <p:cNvPr id="8" name="Footer Placeholder 7">
            <a:extLst>
              <a:ext uri="{FF2B5EF4-FFF2-40B4-BE49-F238E27FC236}">
                <a16:creationId xmlns:a16="http://schemas.microsoft.com/office/drawing/2014/main" id="{0DA862C4-B30B-1701-51AB-30CE474DF8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F597550-5A7C-C319-C73C-578D08D58802}"/>
              </a:ext>
            </a:extLst>
          </p:cNvPr>
          <p:cNvSpPr>
            <a:spLocks noGrp="1"/>
          </p:cNvSpPr>
          <p:nvPr>
            <p:ph type="sldNum" sz="quarter" idx="12"/>
          </p:nvPr>
        </p:nvSpPr>
        <p:spPr/>
        <p:txBody>
          <a:bodyPr/>
          <a:lstStyle/>
          <a:p>
            <a:fld id="{85DFA07A-3F31-4C5A-8B83-821B7E52B6A8}" type="slidenum">
              <a:rPr lang="en-US" smtClean="0"/>
              <a:t>‹#›</a:t>
            </a:fld>
            <a:endParaRPr lang="en-US"/>
          </a:p>
        </p:txBody>
      </p:sp>
    </p:spTree>
    <p:extLst>
      <p:ext uri="{BB962C8B-B14F-4D97-AF65-F5344CB8AC3E}">
        <p14:creationId xmlns:p14="http://schemas.microsoft.com/office/powerpoint/2010/main" val="1252478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E2A6A-A43D-B8AC-DC4D-DD2708645F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DA24E7-82DA-275A-80D8-78C14DA6D28B}"/>
              </a:ext>
            </a:extLst>
          </p:cNvPr>
          <p:cNvSpPr>
            <a:spLocks noGrp="1"/>
          </p:cNvSpPr>
          <p:nvPr>
            <p:ph type="dt" sz="half" idx="10"/>
          </p:nvPr>
        </p:nvSpPr>
        <p:spPr/>
        <p:txBody>
          <a:bodyPr/>
          <a:lstStyle/>
          <a:p>
            <a:fld id="{C441CC3E-5F41-4377-A80C-0B082CACD212}" type="datetimeFigureOut">
              <a:rPr lang="en-US" smtClean="0"/>
              <a:t>9/15/2025</a:t>
            </a:fld>
            <a:endParaRPr lang="en-US"/>
          </a:p>
        </p:txBody>
      </p:sp>
      <p:sp>
        <p:nvSpPr>
          <p:cNvPr id="4" name="Footer Placeholder 3">
            <a:extLst>
              <a:ext uri="{FF2B5EF4-FFF2-40B4-BE49-F238E27FC236}">
                <a16:creationId xmlns:a16="http://schemas.microsoft.com/office/drawing/2014/main" id="{0265C4E7-C712-C312-BF22-1B257D692C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57A4E5-C92B-080E-A3F5-7489C05D7818}"/>
              </a:ext>
            </a:extLst>
          </p:cNvPr>
          <p:cNvSpPr>
            <a:spLocks noGrp="1"/>
          </p:cNvSpPr>
          <p:nvPr>
            <p:ph type="sldNum" sz="quarter" idx="12"/>
          </p:nvPr>
        </p:nvSpPr>
        <p:spPr/>
        <p:txBody>
          <a:bodyPr/>
          <a:lstStyle/>
          <a:p>
            <a:fld id="{85DFA07A-3F31-4C5A-8B83-821B7E52B6A8}" type="slidenum">
              <a:rPr lang="en-US" smtClean="0"/>
              <a:t>‹#›</a:t>
            </a:fld>
            <a:endParaRPr lang="en-US"/>
          </a:p>
        </p:txBody>
      </p:sp>
    </p:spTree>
    <p:extLst>
      <p:ext uri="{BB962C8B-B14F-4D97-AF65-F5344CB8AC3E}">
        <p14:creationId xmlns:p14="http://schemas.microsoft.com/office/powerpoint/2010/main" val="4119490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354173-9B7D-855F-95D0-07987E5BF272}"/>
              </a:ext>
            </a:extLst>
          </p:cNvPr>
          <p:cNvSpPr>
            <a:spLocks noGrp="1"/>
          </p:cNvSpPr>
          <p:nvPr>
            <p:ph type="dt" sz="half" idx="10"/>
          </p:nvPr>
        </p:nvSpPr>
        <p:spPr/>
        <p:txBody>
          <a:bodyPr/>
          <a:lstStyle/>
          <a:p>
            <a:fld id="{C441CC3E-5F41-4377-A80C-0B082CACD212}" type="datetimeFigureOut">
              <a:rPr lang="en-US" smtClean="0"/>
              <a:t>9/15/2025</a:t>
            </a:fld>
            <a:endParaRPr lang="en-US"/>
          </a:p>
        </p:txBody>
      </p:sp>
      <p:sp>
        <p:nvSpPr>
          <p:cNvPr id="3" name="Footer Placeholder 2">
            <a:extLst>
              <a:ext uri="{FF2B5EF4-FFF2-40B4-BE49-F238E27FC236}">
                <a16:creationId xmlns:a16="http://schemas.microsoft.com/office/drawing/2014/main" id="{5F542E52-62DB-8770-E7EB-ED6B9DCF54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844F67-40B7-5CD3-FB29-598D0CAAACE4}"/>
              </a:ext>
            </a:extLst>
          </p:cNvPr>
          <p:cNvSpPr>
            <a:spLocks noGrp="1"/>
          </p:cNvSpPr>
          <p:nvPr>
            <p:ph type="sldNum" sz="quarter" idx="12"/>
          </p:nvPr>
        </p:nvSpPr>
        <p:spPr/>
        <p:txBody>
          <a:bodyPr/>
          <a:lstStyle/>
          <a:p>
            <a:fld id="{85DFA07A-3F31-4C5A-8B83-821B7E52B6A8}" type="slidenum">
              <a:rPr lang="en-US" smtClean="0"/>
              <a:t>‹#›</a:t>
            </a:fld>
            <a:endParaRPr lang="en-US"/>
          </a:p>
        </p:txBody>
      </p:sp>
    </p:spTree>
    <p:extLst>
      <p:ext uri="{BB962C8B-B14F-4D97-AF65-F5344CB8AC3E}">
        <p14:creationId xmlns:p14="http://schemas.microsoft.com/office/powerpoint/2010/main" val="3401224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D0EF0-1A37-BECE-3A2D-3B84E01173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74B203-E113-55BD-DDA8-74CE5991B3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C824BA-A7DE-B961-0E6B-C158A12A89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DD65FD-81DD-8750-3348-40654F00DE1B}"/>
              </a:ext>
            </a:extLst>
          </p:cNvPr>
          <p:cNvSpPr>
            <a:spLocks noGrp="1"/>
          </p:cNvSpPr>
          <p:nvPr>
            <p:ph type="dt" sz="half" idx="10"/>
          </p:nvPr>
        </p:nvSpPr>
        <p:spPr/>
        <p:txBody>
          <a:bodyPr/>
          <a:lstStyle/>
          <a:p>
            <a:fld id="{C441CC3E-5F41-4377-A80C-0B082CACD212}" type="datetimeFigureOut">
              <a:rPr lang="en-US" smtClean="0"/>
              <a:t>9/15/2025</a:t>
            </a:fld>
            <a:endParaRPr lang="en-US"/>
          </a:p>
        </p:txBody>
      </p:sp>
      <p:sp>
        <p:nvSpPr>
          <p:cNvPr id="6" name="Footer Placeholder 5">
            <a:extLst>
              <a:ext uri="{FF2B5EF4-FFF2-40B4-BE49-F238E27FC236}">
                <a16:creationId xmlns:a16="http://schemas.microsoft.com/office/drawing/2014/main" id="{97BA9342-1E4C-691C-6A47-32D9A2B662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234E33-DEBC-74C6-036C-FDD93A8A3372}"/>
              </a:ext>
            </a:extLst>
          </p:cNvPr>
          <p:cNvSpPr>
            <a:spLocks noGrp="1"/>
          </p:cNvSpPr>
          <p:nvPr>
            <p:ph type="sldNum" sz="quarter" idx="12"/>
          </p:nvPr>
        </p:nvSpPr>
        <p:spPr/>
        <p:txBody>
          <a:bodyPr/>
          <a:lstStyle/>
          <a:p>
            <a:fld id="{85DFA07A-3F31-4C5A-8B83-821B7E52B6A8}" type="slidenum">
              <a:rPr lang="en-US" smtClean="0"/>
              <a:t>‹#›</a:t>
            </a:fld>
            <a:endParaRPr lang="en-US"/>
          </a:p>
        </p:txBody>
      </p:sp>
    </p:spTree>
    <p:extLst>
      <p:ext uri="{BB962C8B-B14F-4D97-AF65-F5344CB8AC3E}">
        <p14:creationId xmlns:p14="http://schemas.microsoft.com/office/powerpoint/2010/main" val="2104089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9BB2A-6DDF-C4AA-B148-7C9D381FE1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79FAC4-2F7D-D0F2-C23F-3B6F85838E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6A4A8E6-4D03-E494-43CC-067D57EEC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214260-D806-3F78-5A60-03703398A06F}"/>
              </a:ext>
            </a:extLst>
          </p:cNvPr>
          <p:cNvSpPr>
            <a:spLocks noGrp="1"/>
          </p:cNvSpPr>
          <p:nvPr>
            <p:ph type="dt" sz="half" idx="10"/>
          </p:nvPr>
        </p:nvSpPr>
        <p:spPr/>
        <p:txBody>
          <a:bodyPr/>
          <a:lstStyle/>
          <a:p>
            <a:fld id="{C441CC3E-5F41-4377-A80C-0B082CACD212}" type="datetimeFigureOut">
              <a:rPr lang="en-US" smtClean="0"/>
              <a:t>9/15/2025</a:t>
            </a:fld>
            <a:endParaRPr lang="en-US"/>
          </a:p>
        </p:txBody>
      </p:sp>
      <p:sp>
        <p:nvSpPr>
          <p:cNvPr id="6" name="Footer Placeholder 5">
            <a:extLst>
              <a:ext uri="{FF2B5EF4-FFF2-40B4-BE49-F238E27FC236}">
                <a16:creationId xmlns:a16="http://schemas.microsoft.com/office/drawing/2014/main" id="{A079E8AD-EC1E-0494-A272-D0CE9E99D2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CACD08-8955-3D70-82E4-A8D36E05FC5C}"/>
              </a:ext>
            </a:extLst>
          </p:cNvPr>
          <p:cNvSpPr>
            <a:spLocks noGrp="1"/>
          </p:cNvSpPr>
          <p:nvPr>
            <p:ph type="sldNum" sz="quarter" idx="12"/>
          </p:nvPr>
        </p:nvSpPr>
        <p:spPr/>
        <p:txBody>
          <a:bodyPr/>
          <a:lstStyle/>
          <a:p>
            <a:fld id="{85DFA07A-3F31-4C5A-8B83-821B7E52B6A8}" type="slidenum">
              <a:rPr lang="en-US" smtClean="0"/>
              <a:t>‹#›</a:t>
            </a:fld>
            <a:endParaRPr lang="en-US"/>
          </a:p>
        </p:txBody>
      </p:sp>
    </p:spTree>
    <p:extLst>
      <p:ext uri="{BB962C8B-B14F-4D97-AF65-F5344CB8AC3E}">
        <p14:creationId xmlns:p14="http://schemas.microsoft.com/office/powerpoint/2010/main" val="752059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9C268-FCF9-62EF-C1B6-6716196D81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32BF4B-C8ED-D81E-1FE6-010FC96F80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AE7CC6-19C7-1B98-220C-C5289D08A16B}"/>
              </a:ext>
            </a:extLst>
          </p:cNvPr>
          <p:cNvSpPr>
            <a:spLocks noGrp="1"/>
          </p:cNvSpPr>
          <p:nvPr>
            <p:ph type="dt" sz="half" idx="10"/>
          </p:nvPr>
        </p:nvSpPr>
        <p:spPr/>
        <p:txBody>
          <a:bodyPr/>
          <a:lstStyle/>
          <a:p>
            <a:fld id="{C441CC3E-5F41-4377-A80C-0B082CACD212}" type="datetimeFigureOut">
              <a:rPr lang="en-US" smtClean="0"/>
              <a:t>9/15/2025</a:t>
            </a:fld>
            <a:endParaRPr lang="en-US"/>
          </a:p>
        </p:txBody>
      </p:sp>
      <p:sp>
        <p:nvSpPr>
          <p:cNvPr id="5" name="Footer Placeholder 4">
            <a:extLst>
              <a:ext uri="{FF2B5EF4-FFF2-40B4-BE49-F238E27FC236}">
                <a16:creationId xmlns:a16="http://schemas.microsoft.com/office/drawing/2014/main" id="{B59E0F53-FF72-137F-E358-D3665AC513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FDF4D-58C9-0088-D86D-3940B97C3071}"/>
              </a:ext>
            </a:extLst>
          </p:cNvPr>
          <p:cNvSpPr>
            <a:spLocks noGrp="1"/>
          </p:cNvSpPr>
          <p:nvPr>
            <p:ph type="sldNum" sz="quarter" idx="12"/>
          </p:nvPr>
        </p:nvSpPr>
        <p:spPr/>
        <p:txBody>
          <a:bodyPr/>
          <a:lstStyle/>
          <a:p>
            <a:fld id="{85DFA07A-3F31-4C5A-8B83-821B7E52B6A8}" type="slidenum">
              <a:rPr lang="en-US" smtClean="0"/>
              <a:t>‹#›</a:t>
            </a:fld>
            <a:endParaRPr lang="en-US"/>
          </a:p>
        </p:txBody>
      </p:sp>
    </p:spTree>
    <p:extLst>
      <p:ext uri="{BB962C8B-B14F-4D97-AF65-F5344CB8AC3E}">
        <p14:creationId xmlns:p14="http://schemas.microsoft.com/office/powerpoint/2010/main" val="2856833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2AE6F-3538-73F3-1788-75645842ED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834AB8-2384-07A9-D90C-0A85001B74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879AB3-92BB-DDEE-DCB6-AB3750305BB7}"/>
              </a:ext>
            </a:extLst>
          </p:cNvPr>
          <p:cNvSpPr>
            <a:spLocks noGrp="1"/>
          </p:cNvSpPr>
          <p:nvPr>
            <p:ph type="dt" sz="half" idx="10"/>
          </p:nvPr>
        </p:nvSpPr>
        <p:spPr/>
        <p:txBody>
          <a:bodyPr/>
          <a:lstStyle/>
          <a:p>
            <a:fld id="{C441CC3E-5F41-4377-A80C-0B082CACD212}" type="datetimeFigureOut">
              <a:rPr lang="en-US" smtClean="0"/>
              <a:t>9/15/2025</a:t>
            </a:fld>
            <a:endParaRPr lang="en-US"/>
          </a:p>
        </p:txBody>
      </p:sp>
      <p:sp>
        <p:nvSpPr>
          <p:cNvPr id="5" name="Footer Placeholder 4">
            <a:extLst>
              <a:ext uri="{FF2B5EF4-FFF2-40B4-BE49-F238E27FC236}">
                <a16:creationId xmlns:a16="http://schemas.microsoft.com/office/drawing/2014/main" id="{EC6E26C7-A2DF-7723-F5BC-D0724C2564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9FA18A-93D5-31DB-5E48-57DB0FBCFCD0}"/>
              </a:ext>
            </a:extLst>
          </p:cNvPr>
          <p:cNvSpPr>
            <a:spLocks noGrp="1"/>
          </p:cNvSpPr>
          <p:nvPr>
            <p:ph type="sldNum" sz="quarter" idx="12"/>
          </p:nvPr>
        </p:nvSpPr>
        <p:spPr/>
        <p:txBody>
          <a:bodyPr/>
          <a:lstStyle/>
          <a:p>
            <a:fld id="{85DFA07A-3F31-4C5A-8B83-821B7E52B6A8}" type="slidenum">
              <a:rPr lang="en-US" smtClean="0"/>
              <a:t>‹#›</a:t>
            </a:fld>
            <a:endParaRPr lang="en-US"/>
          </a:p>
        </p:txBody>
      </p:sp>
    </p:spTree>
    <p:extLst>
      <p:ext uri="{BB962C8B-B14F-4D97-AF65-F5344CB8AC3E}">
        <p14:creationId xmlns:p14="http://schemas.microsoft.com/office/powerpoint/2010/main" val="24719102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5D4BF-3A37-4830-9B09-69B9ED9BEB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A03FA6-0703-458A-8D09-1FE0F2DEC4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1E3837-D7B8-4DA3-AF08-35D7B3FB83FA}"/>
              </a:ext>
            </a:extLst>
          </p:cNvPr>
          <p:cNvSpPr>
            <a:spLocks noGrp="1"/>
          </p:cNvSpPr>
          <p:nvPr>
            <p:ph type="dt" sz="half" idx="10"/>
          </p:nvPr>
        </p:nvSpPr>
        <p:spPr/>
        <p:txBody>
          <a:bodyPr/>
          <a:lstStyle/>
          <a:p>
            <a:fld id="{A54AE19D-5405-4E2E-A07F-B254BCBA024D}" type="datetimeFigureOut">
              <a:rPr lang="en-US" smtClean="0"/>
              <a:t>9/15/2025</a:t>
            </a:fld>
            <a:endParaRPr lang="en-US"/>
          </a:p>
        </p:txBody>
      </p:sp>
      <p:sp>
        <p:nvSpPr>
          <p:cNvPr id="5" name="Footer Placeholder 4">
            <a:extLst>
              <a:ext uri="{FF2B5EF4-FFF2-40B4-BE49-F238E27FC236}">
                <a16:creationId xmlns:a16="http://schemas.microsoft.com/office/drawing/2014/main" id="{F3B1245A-DDC8-43E1-9AD3-6A5C510F96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7BDD25-A5BB-40B0-ADDE-1DF0A02A960C}"/>
              </a:ext>
            </a:extLst>
          </p:cNvPr>
          <p:cNvSpPr>
            <a:spLocks noGrp="1"/>
          </p:cNvSpPr>
          <p:nvPr>
            <p:ph type="sldNum" sz="quarter" idx="12"/>
          </p:nvPr>
        </p:nvSpPr>
        <p:spPr/>
        <p:txBody>
          <a:bodyPr/>
          <a:lstStyle/>
          <a:p>
            <a:fld id="{F677AD98-F848-42FD-9A09-81B89CAC6EEE}" type="slidenum">
              <a:rPr lang="en-US" smtClean="0"/>
              <a:t>‹#›</a:t>
            </a:fld>
            <a:endParaRPr lang="en-US"/>
          </a:p>
        </p:txBody>
      </p:sp>
    </p:spTree>
    <p:extLst>
      <p:ext uri="{BB962C8B-B14F-4D97-AF65-F5344CB8AC3E}">
        <p14:creationId xmlns:p14="http://schemas.microsoft.com/office/powerpoint/2010/main" val="2857041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FD5C2-9BC8-4478-A4FB-7AF0135178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917E57-EDFF-49AD-9026-EBF3B6C53D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7CEF48-59DB-4FDC-A41A-17DA5EB9E386}"/>
              </a:ext>
            </a:extLst>
          </p:cNvPr>
          <p:cNvSpPr>
            <a:spLocks noGrp="1"/>
          </p:cNvSpPr>
          <p:nvPr>
            <p:ph type="dt" sz="half" idx="10"/>
          </p:nvPr>
        </p:nvSpPr>
        <p:spPr/>
        <p:txBody>
          <a:bodyPr/>
          <a:lstStyle/>
          <a:p>
            <a:fld id="{A54AE19D-5405-4E2E-A07F-B254BCBA024D}" type="datetimeFigureOut">
              <a:rPr lang="en-US" smtClean="0"/>
              <a:t>9/15/2025</a:t>
            </a:fld>
            <a:endParaRPr lang="en-US"/>
          </a:p>
        </p:txBody>
      </p:sp>
      <p:sp>
        <p:nvSpPr>
          <p:cNvPr id="5" name="Footer Placeholder 4">
            <a:extLst>
              <a:ext uri="{FF2B5EF4-FFF2-40B4-BE49-F238E27FC236}">
                <a16:creationId xmlns:a16="http://schemas.microsoft.com/office/drawing/2014/main" id="{EFFE285B-3499-453F-B26E-3D53FC46B3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8C17F4-A4E8-45C7-B65F-176F97146BE1}"/>
              </a:ext>
            </a:extLst>
          </p:cNvPr>
          <p:cNvSpPr>
            <a:spLocks noGrp="1"/>
          </p:cNvSpPr>
          <p:nvPr>
            <p:ph type="sldNum" sz="quarter" idx="12"/>
          </p:nvPr>
        </p:nvSpPr>
        <p:spPr/>
        <p:txBody>
          <a:bodyPr/>
          <a:lstStyle/>
          <a:p>
            <a:fld id="{F677AD98-F848-42FD-9A09-81B89CAC6EEE}" type="slidenum">
              <a:rPr lang="en-US" smtClean="0"/>
              <a:t>‹#›</a:t>
            </a:fld>
            <a:endParaRPr lang="en-US"/>
          </a:p>
        </p:txBody>
      </p:sp>
    </p:spTree>
    <p:extLst>
      <p:ext uri="{BB962C8B-B14F-4D97-AF65-F5344CB8AC3E}">
        <p14:creationId xmlns:p14="http://schemas.microsoft.com/office/powerpoint/2010/main" val="13276183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DC57F-5DC6-439C-9133-80E63D7138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F5A9BE-1F7C-4670-A017-36877BE48C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964323-662B-4FC8-AE7C-3FB3ADB535DD}"/>
              </a:ext>
            </a:extLst>
          </p:cNvPr>
          <p:cNvSpPr>
            <a:spLocks noGrp="1"/>
          </p:cNvSpPr>
          <p:nvPr>
            <p:ph type="dt" sz="half" idx="10"/>
          </p:nvPr>
        </p:nvSpPr>
        <p:spPr/>
        <p:txBody>
          <a:bodyPr/>
          <a:lstStyle/>
          <a:p>
            <a:fld id="{A54AE19D-5405-4E2E-A07F-B254BCBA024D}" type="datetimeFigureOut">
              <a:rPr lang="en-US" smtClean="0"/>
              <a:t>9/15/2025</a:t>
            </a:fld>
            <a:endParaRPr lang="en-US"/>
          </a:p>
        </p:txBody>
      </p:sp>
      <p:sp>
        <p:nvSpPr>
          <p:cNvPr id="5" name="Footer Placeholder 4">
            <a:extLst>
              <a:ext uri="{FF2B5EF4-FFF2-40B4-BE49-F238E27FC236}">
                <a16:creationId xmlns:a16="http://schemas.microsoft.com/office/drawing/2014/main" id="{2860B034-D3B7-43EE-BD75-BBEA23B5B2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5A7D9-7E4D-418A-B35E-581F8F9544EB}"/>
              </a:ext>
            </a:extLst>
          </p:cNvPr>
          <p:cNvSpPr>
            <a:spLocks noGrp="1"/>
          </p:cNvSpPr>
          <p:nvPr>
            <p:ph type="sldNum" sz="quarter" idx="12"/>
          </p:nvPr>
        </p:nvSpPr>
        <p:spPr/>
        <p:txBody>
          <a:bodyPr/>
          <a:lstStyle/>
          <a:p>
            <a:fld id="{F677AD98-F848-42FD-9A09-81B89CAC6EEE}" type="slidenum">
              <a:rPr lang="en-US" smtClean="0"/>
              <a:t>‹#›</a:t>
            </a:fld>
            <a:endParaRPr lang="en-US"/>
          </a:p>
        </p:txBody>
      </p:sp>
    </p:spTree>
    <p:extLst>
      <p:ext uri="{BB962C8B-B14F-4D97-AF65-F5344CB8AC3E}">
        <p14:creationId xmlns:p14="http://schemas.microsoft.com/office/powerpoint/2010/main" val="8633555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A1FC0-8821-49A8-99DF-CA16915FF9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5276FE-5335-49A4-94C6-B54565B34B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BE939F9-3BF6-4AE4-BC64-A20D027CC0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AD3934-0FF5-430D-811B-1A2C9E149CF6}"/>
              </a:ext>
            </a:extLst>
          </p:cNvPr>
          <p:cNvSpPr>
            <a:spLocks noGrp="1"/>
          </p:cNvSpPr>
          <p:nvPr>
            <p:ph type="dt" sz="half" idx="10"/>
          </p:nvPr>
        </p:nvSpPr>
        <p:spPr/>
        <p:txBody>
          <a:bodyPr/>
          <a:lstStyle/>
          <a:p>
            <a:fld id="{A54AE19D-5405-4E2E-A07F-B254BCBA024D}" type="datetimeFigureOut">
              <a:rPr lang="en-US" smtClean="0"/>
              <a:t>9/15/2025</a:t>
            </a:fld>
            <a:endParaRPr lang="en-US"/>
          </a:p>
        </p:txBody>
      </p:sp>
      <p:sp>
        <p:nvSpPr>
          <p:cNvPr id="6" name="Footer Placeholder 5">
            <a:extLst>
              <a:ext uri="{FF2B5EF4-FFF2-40B4-BE49-F238E27FC236}">
                <a16:creationId xmlns:a16="http://schemas.microsoft.com/office/drawing/2014/main" id="{73EC9223-6B1B-4F1D-AA18-60700C8A0B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D21FBC-F7CA-4A53-B3D5-45A0079F4481}"/>
              </a:ext>
            </a:extLst>
          </p:cNvPr>
          <p:cNvSpPr>
            <a:spLocks noGrp="1"/>
          </p:cNvSpPr>
          <p:nvPr>
            <p:ph type="sldNum" sz="quarter" idx="12"/>
          </p:nvPr>
        </p:nvSpPr>
        <p:spPr/>
        <p:txBody>
          <a:bodyPr/>
          <a:lstStyle/>
          <a:p>
            <a:fld id="{F677AD98-F848-42FD-9A09-81B89CAC6EEE}" type="slidenum">
              <a:rPr lang="en-US" smtClean="0"/>
              <a:t>‹#›</a:t>
            </a:fld>
            <a:endParaRPr lang="en-US"/>
          </a:p>
        </p:txBody>
      </p:sp>
    </p:spTree>
    <p:extLst>
      <p:ext uri="{BB962C8B-B14F-4D97-AF65-F5344CB8AC3E}">
        <p14:creationId xmlns:p14="http://schemas.microsoft.com/office/powerpoint/2010/main" val="2603178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CF979-ECC2-45CB-A630-E9C9C092E52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3B574D-76FF-41DB-81F0-A504052673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A62D0E-9D23-4215-99DA-CBF4E9BF3B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37416B-E943-438F-8503-767C2C98F7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67E4C6-2646-4206-B92E-BAE6F02BB2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230752-96C0-47E9-9D28-3CB5394E232B}"/>
              </a:ext>
            </a:extLst>
          </p:cNvPr>
          <p:cNvSpPr>
            <a:spLocks noGrp="1"/>
          </p:cNvSpPr>
          <p:nvPr>
            <p:ph type="dt" sz="half" idx="10"/>
          </p:nvPr>
        </p:nvSpPr>
        <p:spPr/>
        <p:txBody>
          <a:bodyPr/>
          <a:lstStyle/>
          <a:p>
            <a:fld id="{A54AE19D-5405-4E2E-A07F-B254BCBA024D}" type="datetimeFigureOut">
              <a:rPr lang="en-US" smtClean="0"/>
              <a:t>9/15/2025</a:t>
            </a:fld>
            <a:endParaRPr lang="en-US"/>
          </a:p>
        </p:txBody>
      </p:sp>
      <p:sp>
        <p:nvSpPr>
          <p:cNvPr id="8" name="Footer Placeholder 7">
            <a:extLst>
              <a:ext uri="{FF2B5EF4-FFF2-40B4-BE49-F238E27FC236}">
                <a16:creationId xmlns:a16="http://schemas.microsoft.com/office/drawing/2014/main" id="{B279FB0C-73F5-47F2-B16C-21D716C86B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1D1B34-8AF1-41E1-B081-9DD0A52A1B16}"/>
              </a:ext>
            </a:extLst>
          </p:cNvPr>
          <p:cNvSpPr>
            <a:spLocks noGrp="1"/>
          </p:cNvSpPr>
          <p:nvPr>
            <p:ph type="sldNum" sz="quarter" idx="12"/>
          </p:nvPr>
        </p:nvSpPr>
        <p:spPr/>
        <p:txBody>
          <a:bodyPr/>
          <a:lstStyle/>
          <a:p>
            <a:fld id="{F677AD98-F848-42FD-9A09-81B89CAC6EEE}" type="slidenum">
              <a:rPr lang="en-US" smtClean="0"/>
              <a:t>‹#›</a:t>
            </a:fld>
            <a:endParaRPr lang="en-US"/>
          </a:p>
        </p:txBody>
      </p:sp>
    </p:spTree>
    <p:extLst>
      <p:ext uri="{BB962C8B-B14F-4D97-AF65-F5344CB8AC3E}">
        <p14:creationId xmlns:p14="http://schemas.microsoft.com/office/powerpoint/2010/main" val="40774808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8A07A-3841-40EB-9BF5-DC2BF185EF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1EE598-D4D5-4BDE-924C-4CBD363ECF29}"/>
              </a:ext>
            </a:extLst>
          </p:cNvPr>
          <p:cNvSpPr>
            <a:spLocks noGrp="1"/>
          </p:cNvSpPr>
          <p:nvPr>
            <p:ph type="dt" sz="half" idx="10"/>
          </p:nvPr>
        </p:nvSpPr>
        <p:spPr/>
        <p:txBody>
          <a:bodyPr/>
          <a:lstStyle/>
          <a:p>
            <a:fld id="{A54AE19D-5405-4E2E-A07F-B254BCBA024D}" type="datetimeFigureOut">
              <a:rPr lang="en-US" smtClean="0"/>
              <a:t>9/15/2025</a:t>
            </a:fld>
            <a:endParaRPr lang="en-US"/>
          </a:p>
        </p:txBody>
      </p:sp>
      <p:sp>
        <p:nvSpPr>
          <p:cNvPr id="4" name="Footer Placeholder 3">
            <a:extLst>
              <a:ext uri="{FF2B5EF4-FFF2-40B4-BE49-F238E27FC236}">
                <a16:creationId xmlns:a16="http://schemas.microsoft.com/office/drawing/2014/main" id="{AB2DC6A8-49D8-4FB3-A9A5-3443FCD0E9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5AD7B0-F29E-4D59-9118-B290D3687983}"/>
              </a:ext>
            </a:extLst>
          </p:cNvPr>
          <p:cNvSpPr>
            <a:spLocks noGrp="1"/>
          </p:cNvSpPr>
          <p:nvPr>
            <p:ph type="sldNum" sz="quarter" idx="12"/>
          </p:nvPr>
        </p:nvSpPr>
        <p:spPr/>
        <p:txBody>
          <a:bodyPr/>
          <a:lstStyle/>
          <a:p>
            <a:fld id="{F677AD98-F848-42FD-9A09-81B89CAC6EEE}" type="slidenum">
              <a:rPr lang="en-US" smtClean="0"/>
              <a:t>‹#›</a:t>
            </a:fld>
            <a:endParaRPr lang="en-US"/>
          </a:p>
        </p:txBody>
      </p:sp>
    </p:spTree>
    <p:extLst>
      <p:ext uri="{BB962C8B-B14F-4D97-AF65-F5344CB8AC3E}">
        <p14:creationId xmlns:p14="http://schemas.microsoft.com/office/powerpoint/2010/main" val="32048788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5D2418-D770-40F5-B894-44FDD9AA8658}"/>
              </a:ext>
            </a:extLst>
          </p:cNvPr>
          <p:cNvSpPr>
            <a:spLocks noGrp="1"/>
          </p:cNvSpPr>
          <p:nvPr>
            <p:ph type="dt" sz="half" idx="10"/>
          </p:nvPr>
        </p:nvSpPr>
        <p:spPr/>
        <p:txBody>
          <a:bodyPr/>
          <a:lstStyle/>
          <a:p>
            <a:fld id="{A54AE19D-5405-4E2E-A07F-B254BCBA024D}" type="datetimeFigureOut">
              <a:rPr lang="en-US" smtClean="0"/>
              <a:t>9/15/2025</a:t>
            </a:fld>
            <a:endParaRPr lang="en-US"/>
          </a:p>
        </p:txBody>
      </p:sp>
      <p:sp>
        <p:nvSpPr>
          <p:cNvPr id="3" name="Footer Placeholder 2">
            <a:extLst>
              <a:ext uri="{FF2B5EF4-FFF2-40B4-BE49-F238E27FC236}">
                <a16:creationId xmlns:a16="http://schemas.microsoft.com/office/drawing/2014/main" id="{2760E10A-D903-4B5C-A154-CA2F963DE1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F88C0A-660E-4294-9145-AE82070A2B1B}"/>
              </a:ext>
            </a:extLst>
          </p:cNvPr>
          <p:cNvSpPr>
            <a:spLocks noGrp="1"/>
          </p:cNvSpPr>
          <p:nvPr>
            <p:ph type="sldNum" sz="quarter" idx="12"/>
          </p:nvPr>
        </p:nvSpPr>
        <p:spPr/>
        <p:txBody>
          <a:bodyPr/>
          <a:lstStyle/>
          <a:p>
            <a:fld id="{F677AD98-F848-42FD-9A09-81B89CAC6EEE}" type="slidenum">
              <a:rPr lang="en-US" smtClean="0"/>
              <a:t>‹#›</a:t>
            </a:fld>
            <a:endParaRPr lang="en-US"/>
          </a:p>
        </p:txBody>
      </p:sp>
    </p:spTree>
    <p:extLst>
      <p:ext uri="{BB962C8B-B14F-4D97-AF65-F5344CB8AC3E}">
        <p14:creationId xmlns:p14="http://schemas.microsoft.com/office/powerpoint/2010/main" val="27360356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1DBED-02C5-EB8B-833A-224C0BFF6A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C906B7-92E8-D9E8-E1DE-24FF56F79E6E}"/>
              </a:ext>
            </a:extLst>
          </p:cNvPr>
          <p:cNvSpPr>
            <a:spLocks noGrp="1"/>
          </p:cNvSpPr>
          <p:nvPr>
            <p:ph type="dt" sz="half" idx="10"/>
          </p:nvPr>
        </p:nvSpPr>
        <p:spPr/>
        <p:txBody>
          <a:bodyPr/>
          <a:lstStyle/>
          <a:p>
            <a:fld id="{A54AE19D-5405-4E2E-A07F-B254BCBA024D}" type="datetimeFigureOut">
              <a:rPr lang="en-US" smtClean="0"/>
              <a:t>9/15/2025</a:t>
            </a:fld>
            <a:endParaRPr lang="en-US"/>
          </a:p>
        </p:txBody>
      </p:sp>
      <p:sp>
        <p:nvSpPr>
          <p:cNvPr id="4" name="Footer Placeholder 3">
            <a:extLst>
              <a:ext uri="{FF2B5EF4-FFF2-40B4-BE49-F238E27FC236}">
                <a16:creationId xmlns:a16="http://schemas.microsoft.com/office/drawing/2014/main" id="{43319C1D-8B18-838B-6AE2-55F7315BD9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7F0372-8D77-0B33-64A9-B3549E144C77}"/>
              </a:ext>
            </a:extLst>
          </p:cNvPr>
          <p:cNvSpPr>
            <a:spLocks noGrp="1"/>
          </p:cNvSpPr>
          <p:nvPr>
            <p:ph type="sldNum" sz="quarter" idx="12"/>
          </p:nvPr>
        </p:nvSpPr>
        <p:spPr/>
        <p:txBody>
          <a:bodyPr/>
          <a:lstStyle/>
          <a:p>
            <a:fld id="{F677AD98-F848-42FD-9A09-81B89CAC6EEE}" type="slidenum">
              <a:rPr lang="en-US" smtClean="0"/>
              <a:t>‹#›</a:t>
            </a:fld>
            <a:endParaRPr lang="en-US"/>
          </a:p>
        </p:txBody>
      </p:sp>
      <p:graphicFrame>
        <p:nvGraphicFramePr>
          <p:cNvPr id="6" name="Table 6">
            <a:extLst>
              <a:ext uri="{FF2B5EF4-FFF2-40B4-BE49-F238E27FC236}">
                <a16:creationId xmlns:a16="http://schemas.microsoft.com/office/drawing/2014/main" id="{8EDC26B2-A5D5-C766-8E52-16D23F404B48}"/>
              </a:ext>
            </a:extLst>
          </p:cNvPr>
          <p:cNvGraphicFramePr>
            <a:graphicFrameLocks noGrp="1"/>
          </p:cNvGraphicFramePr>
          <p:nvPr userDrawn="1">
            <p:extLst>
              <p:ext uri="{D42A27DB-BD31-4B8C-83A1-F6EECF244321}">
                <p14:modId xmlns:p14="http://schemas.microsoft.com/office/powerpoint/2010/main" val="2990407318"/>
              </p:ext>
            </p:extLst>
          </p:nvPr>
        </p:nvGraphicFramePr>
        <p:xfrm>
          <a:off x="2308225" y="3319991"/>
          <a:ext cx="8128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169894160"/>
                    </a:ext>
                  </a:extLst>
                </a:gridCol>
                <a:gridCol w="2032000">
                  <a:extLst>
                    <a:ext uri="{9D8B030D-6E8A-4147-A177-3AD203B41FA5}">
                      <a16:colId xmlns:a16="http://schemas.microsoft.com/office/drawing/2014/main" val="276398997"/>
                    </a:ext>
                  </a:extLst>
                </a:gridCol>
                <a:gridCol w="2032000">
                  <a:extLst>
                    <a:ext uri="{9D8B030D-6E8A-4147-A177-3AD203B41FA5}">
                      <a16:colId xmlns:a16="http://schemas.microsoft.com/office/drawing/2014/main" val="19124651"/>
                    </a:ext>
                  </a:extLst>
                </a:gridCol>
                <a:gridCol w="2032000">
                  <a:extLst>
                    <a:ext uri="{9D8B030D-6E8A-4147-A177-3AD203B41FA5}">
                      <a16:colId xmlns:a16="http://schemas.microsoft.com/office/drawing/2014/main" val="645164543"/>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05796549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10569646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34597816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15557213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337600479"/>
                  </a:ext>
                </a:extLst>
              </a:tr>
            </a:tbl>
          </a:graphicData>
        </a:graphic>
      </p:graphicFrame>
    </p:spTree>
    <p:extLst>
      <p:ext uri="{BB962C8B-B14F-4D97-AF65-F5344CB8AC3E}">
        <p14:creationId xmlns:p14="http://schemas.microsoft.com/office/powerpoint/2010/main" val="37922014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0FE32-6BD3-4338-BD1F-7B649D4B91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8D1D94-AF5F-4863-B516-99D0A1175C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EABBDC1-3C75-4A54-9280-EE6FA4FD39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CF188C-5C3E-4094-8FE5-5FEC4CD1E90E}"/>
              </a:ext>
            </a:extLst>
          </p:cNvPr>
          <p:cNvSpPr>
            <a:spLocks noGrp="1"/>
          </p:cNvSpPr>
          <p:nvPr>
            <p:ph type="dt" sz="half" idx="10"/>
          </p:nvPr>
        </p:nvSpPr>
        <p:spPr/>
        <p:txBody>
          <a:bodyPr/>
          <a:lstStyle/>
          <a:p>
            <a:fld id="{A54AE19D-5405-4E2E-A07F-B254BCBA024D}" type="datetimeFigureOut">
              <a:rPr lang="en-US" smtClean="0"/>
              <a:t>9/15/2025</a:t>
            </a:fld>
            <a:endParaRPr lang="en-US"/>
          </a:p>
        </p:txBody>
      </p:sp>
      <p:sp>
        <p:nvSpPr>
          <p:cNvPr id="6" name="Footer Placeholder 5">
            <a:extLst>
              <a:ext uri="{FF2B5EF4-FFF2-40B4-BE49-F238E27FC236}">
                <a16:creationId xmlns:a16="http://schemas.microsoft.com/office/drawing/2014/main" id="{B987A60E-318C-482E-913B-7D12803C9D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2EA667-7918-4742-8D7D-9BBC8A99846D}"/>
              </a:ext>
            </a:extLst>
          </p:cNvPr>
          <p:cNvSpPr>
            <a:spLocks noGrp="1"/>
          </p:cNvSpPr>
          <p:nvPr>
            <p:ph type="sldNum" sz="quarter" idx="12"/>
          </p:nvPr>
        </p:nvSpPr>
        <p:spPr/>
        <p:txBody>
          <a:bodyPr/>
          <a:lstStyle/>
          <a:p>
            <a:fld id="{F677AD98-F848-42FD-9A09-81B89CAC6EEE}" type="slidenum">
              <a:rPr lang="en-US" smtClean="0"/>
              <a:t>‹#›</a:t>
            </a:fld>
            <a:endParaRPr lang="en-US"/>
          </a:p>
        </p:txBody>
      </p:sp>
    </p:spTree>
    <p:extLst>
      <p:ext uri="{BB962C8B-B14F-4D97-AF65-F5344CB8AC3E}">
        <p14:creationId xmlns:p14="http://schemas.microsoft.com/office/powerpoint/2010/main" val="34425139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1C088-8CF5-4E7D-A95A-3DF814D560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0A80BBE-998A-4787-B04C-B96663F3E9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579283-8C0E-478E-BA73-B74E562305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1DE6B4-AF46-4F1B-A780-A956EC535773}"/>
              </a:ext>
            </a:extLst>
          </p:cNvPr>
          <p:cNvSpPr>
            <a:spLocks noGrp="1"/>
          </p:cNvSpPr>
          <p:nvPr>
            <p:ph type="dt" sz="half" idx="10"/>
          </p:nvPr>
        </p:nvSpPr>
        <p:spPr/>
        <p:txBody>
          <a:bodyPr/>
          <a:lstStyle/>
          <a:p>
            <a:fld id="{A54AE19D-5405-4E2E-A07F-B254BCBA024D}" type="datetimeFigureOut">
              <a:rPr lang="en-US" smtClean="0"/>
              <a:t>9/15/2025</a:t>
            </a:fld>
            <a:endParaRPr lang="en-US"/>
          </a:p>
        </p:txBody>
      </p:sp>
      <p:sp>
        <p:nvSpPr>
          <p:cNvPr id="6" name="Footer Placeholder 5">
            <a:extLst>
              <a:ext uri="{FF2B5EF4-FFF2-40B4-BE49-F238E27FC236}">
                <a16:creationId xmlns:a16="http://schemas.microsoft.com/office/drawing/2014/main" id="{32F7098B-B6A4-4827-A2BF-E20C8631B5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EF4142-A331-44C5-848C-9D5F1494F901}"/>
              </a:ext>
            </a:extLst>
          </p:cNvPr>
          <p:cNvSpPr>
            <a:spLocks noGrp="1"/>
          </p:cNvSpPr>
          <p:nvPr>
            <p:ph type="sldNum" sz="quarter" idx="12"/>
          </p:nvPr>
        </p:nvSpPr>
        <p:spPr/>
        <p:txBody>
          <a:bodyPr/>
          <a:lstStyle/>
          <a:p>
            <a:fld id="{F677AD98-F848-42FD-9A09-81B89CAC6EEE}" type="slidenum">
              <a:rPr lang="en-US" smtClean="0"/>
              <a:t>‹#›</a:t>
            </a:fld>
            <a:endParaRPr lang="en-US"/>
          </a:p>
        </p:txBody>
      </p:sp>
    </p:spTree>
    <p:extLst>
      <p:ext uri="{BB962C8B-B14F-4D97-AF65-F5344CB8AC3E}">
        <p14:creationId xmlns:p14="http://schemas.microsoft.com/office/powerpoint/2010/main" val="1740081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F07CC-851F-4574-BD16-4BF7B16B74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4B07B8-6023-4DE5-BFC1-BB552116FA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F8E78E-65BC-4E36-8882-8F192FAF7FA3}"/>
              </a:ext>
            </a:extLst>
          </p:cNvPr>
          <p:cNvSpPr>
            <a:spLocks noGrp="1"/>
          </p:cNvSpPr>
          <p:nvPr>
            <p:ph type="dt" sz="half" idx="10"/>
          </p:nvPr>
        </p:nvSpPr>
        <p:spPr/>
        <p:txBody>
          <a:bodyPr/>
          <a:lstStyle/>
          <a:p>
            <a:fld id="{A54AE19D-5405-4E2E-A07F-B254BCBA024D}" type="datetimeFigureOut">
              <a:rPr lang="en-US" smtClean="0"/>
              <a:t>9/15/2025</a:t>
            </a:fld>
            <a:endParaRPr lang="en-US"/>
          </a:p>
        </p:txBody>
      </p:sp>
      <p:sp>
        <p:nvSpPr>
          <p:cNvPr id="5" name="Footer Placeholder 4">
            <a:extLst>
              <a:ext uri="{FF2B5EF4-FFF2-40B4-BE49-F238E27FC236}">
                <a16:creationId xmlns:a16="http://schemas.microsoft.com/office/drawing/2014/main" id="{5F559454-0FC9-40AB-A73E-446D106030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6E5CF7-8365-4683-A5AC-4E07E36564A3}"/>
              </a:ext>
            </a:extLst>
          </p:cNvPr>
          <p:cNvSpPr>
            <a:spLocks noGrp="1"/>
          </p:cNvSpPr>
          <p:nvPr>
            <p:ph type="sldNum" sz="quarter" idx="12"/>
          </p:nvPr>
        </p:nvSpPr>
        <p:spPr/>
        <p:txBody>
          <a:bodyPr/>
          <a:lstStyle/>
          <a:p>
            <a:fld id="{F677AD98-F848-42FD-9A09-81B89CAC6EEE}" type="slidenum">
              <a:rPr lang="en-US" smtClean="0"/>
              <a:t>‹#›</a:t>
            </a:fld>
            <a:endParaRPr lang="en-US"/>
          </a:p>
        </p:txBody>
      </p:sp>
    </p:spTree>
    <p:extLst>
      <p:ext uri="{BB962C8B-B14F-4D97-AF65-F5344CB8AC3E}">
        <p14:creationId xmlns:p14="http://schemas.microsoft.com/office/powerpoint/2010/main" val="28033242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DFEDAB-68A8-4D2D-8ABB-74B31E5B16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6E6E65-2E55-45AC-946E-05C143C066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A824BB-B205-41FF-AFD8-3E8B0B39EC63}"/>
              </a:ext>
            </a:extLst>
          </p:cNvPr>
          <p:cNvSpPr>
            <a:spLocks noGrp="1"/>
          </p:cNvSpPr>
          <p:nvPr>
            <p:ph type="dt" sz="half" idx="10"/>
          </p:nvPr>
        </p:nvSpPr>
        <p:spPr/>
        <p:txBody>
          <a:bodyPr/>
          <a:lstStyle/>
          <a:p>
            <a:fld id="{A54AE19D-5405-4E2E-A07F-B254BCBA024D}" type="datetimeFigureOut">
              <a:rPr lang="en-US" smtClean="0"/>
              <a:t>9/15/2025</a:t>
            </a:fld>
            <a:endParaRPr lang="en-US"/>
          </a:p>
        </p:txBody>
      </p:sp>
      <p:sp>
        <p:nvSpPr>
          <p:cNvPr id="5" name="Footer Placeholder 4">
            <a:extLst>
              <a:ext uri="{FF2B5EF4-FFF2-40B4-BE49-F238E27FC236}">
                <a16:creationId xmlns:a16="http://schemas.microsoft.com/office/drawing/2014/main" id="{02158CF1-2CEF-4788-A64E-EA9FD079B2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B8DCD5-68D3-43C0-9209-9F49D0515C39}"/>
              </a:ext>
            </a:extLst>
          </p:cNvPr>
          <p:cNvSpPr>
            <a:spLocks noGrp="1"/>
          </p:cNvSpPr>
          <p:nvPr>
            <p:ph type="sldNum" sz="quarter" idx="12"/>
          </p:nvPr>
        </p:nvSpPr>
        <p:spPr/>
        <p:txBody>
          <a:bodyPr/>
          <a:lstStyle/>
          <a:p>
            <a:fld id="{F677AD98-F848-42FD-9A09-81B89CAC6EEE}" type="slidenum">
              <a:rPr lang="en-US" smtClean="0"/>
              <a:t>‹#›</a:t>
            </a:fld>
            <a:endParaRPr lang="en-US"/>
          </a:p>
        </p:txBody>
      </p:sp>
    </p:spTree>
    <p:extLst>
      <p:ext uri="{BB962C8B-B14F-4D97-AF65-F5344CB8AC3E}">
        <p14:creationId xmlns:p14="http://schemas.microsoft.com/office/powerpoint/2010/main" val="177219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F2038B-3979-F346-12B3-B714721F19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C64DD9-2C1E-69AB-68B7-08604035C6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BD6AA0-1E36-160C-B1C5-FB6164B3EC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41CC3E-5F41-4377-A80C-0B082CACD212}" type="datetimeFigureOut">
              <a:rPr lang="en-US" smtClean="0"/>
              <a:t>9/15/2025</a:t>
            </a:fld>
            <a:endParaRPr lang="en-US"/>
          </a:p>
        </p:txBody>
      </p:sp>
      <p:sp>
        <p:nvSpPr>
          <p:cNvPr id="5" name="Footer Placeholder 4">
            <a:extLst>
              <a:ext uri="{FF2B5EF4-FFF2-40B4-BE49-F238E27FC236}">
                <a16:creationId xmlns:a16="http://schemas.microsoft.com/office/drawing/2014/main" id="{9970ABBC-90FC-6940-3A60-9310EFD938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2B977F1-7143-3707-9236-91695FFFF0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DFA07A-3F31-4C5A-8B83-821B7E52B6A8}" type="slidenum">
              <a:rPr lang="en-US" smtClean="0"/>
              <a:t>‹#›</a:t>
            </a:fld>
            <a:endParaRPr lang="en-US"/>
          </a:p>
        </p:txBody>
      </p:sp>
    </p:spTree>
    <p:extLst>
      <p:ext uri="{BB962C8B-B14F-4D97-AF65-F5344CB8AC3E}">
        <p14:creationId xmlns:p14="http://schemas.microsoft.com/office/powerpoint/2010/main" val="1513414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B7A519-78A8-43D7-85DC-3862E83132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86694D-2787-421E-8D1E-02701EFC21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50FFE8-B474-40ED-9AB1-986A115DD5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4AE19D-5405-4E2E-A07F-B254BCBA024D}" type="datetimeFigureOut">
              <a:rPr lang="en-US" smtClean="0"/>
              <a:t>9/15/2025</a:t>
            </a:fld>
            <a:endParaRPr lang="en-US"/>
          </a:p>
        </p:txBody>
      </p:sp>
      <p:sp>
        <p:nvSpPr>
          <p:cNvPr id="5" name="Footer Placeholder 4">
            <a:extLst>
              <a:ext uri="{FF2B5EF4-FFF2-40B4-BE49-F238E27FC236}">
                <a16:creationId xmlns:a16="http://schemas.microsoft.com/office/drawing/2014/main" id="{B2F8528C-0497-469D-A36B-E2DBF16F29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DCF2954-36CE-4025-A1E6-E44B9AD094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77AD98-F848-42FD-9A09-81B89CAC6EEE}" type="slidenum">
              <a:rPr lang="en-US" smtClean="0"/>
              <a:t>‹#›</a:t>
            </a:fld>
            <a:endParaRPr lang="en-US"/>
          </a:p>
        </p:txBody>
      </p:sp>
    </p:spTree>
    <p:extLst>
      <p:ext uri="{BB962C8B-B14F-4D97-AF65-F5344CB8AC3E}">
        <p14:creationId xmlns:p14="http://schemas.microsoft.com/office/powerpoint/2010/main" val="2676690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1.wdp"/><Relationship Id="rId7"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13.xml"/><Relationship Id="rId5" Type="http://schemas.openxmlformats.org/officeDocument/2006/relationships/image" Target="../media/image8.emf"/><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6.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12.png"/><Relationship Id="rId11" Type="http://schemas.openxmlformats.org/officeDocument/2006/relationships/image" Target="../media/image16.png"/><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image" Target="../media/image10.png"/><Relationship Id="rId9" Type="http://schemas.microsoft.com/office/2007/relationships/hdphoto" Target="../media/hdphoto2.wdp"/><Relationship Id="rId14" Type="http://schemas.openxmlformats.org/officeDocument/2006/relationships/image" Target="../media/image8.emf"/></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emf"/><Relationship Id="rId1" Type="http://schemas.openxmlformats.org/officeDocument/2006/relationships/slideLayout" Target="../slideLayouts/slideLayout13.xml"/><Relationship Id="rId5" Type="http://schemas.openxmlformats.org/officeDocument/2006/relationships/chart" Target="../charts/char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emf"/><Relationship Id="rId1" Type="http://schemas.openxmlformats.org/officeDocument/2006/relationships/slideLayout" Target="../slideLayouts/slideLayout13.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3EC7C6E-2DE2-47BA-BF60-92B9C7F21C47}"/>
              </a:ext>
            </a:extLst>
          </p:cNvPr>
          <p:cNvSpPr/>
          <p:nvPr/>
        </p:nvSpPr>
        <p:spPr>
          <a:xfrm>
            <a:off x="1533069" y="5853343"/>
            <a:ext cx="129190" cy="9000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66"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 name="Group 12">
            <a:extLst>
              <a:ext uri="{FF2B5EF4-FFF2-40B4-BE49-F238E27FC236}">
                <a16:creationId xmlns:a16="http://schemas.microsoft.com/office/drawing/2014/main" id="{4AC68BEE-3857-4D7A-927F-2A4F4C2AF2A1}"/>
              </a:ext>
            </a:extLst>
          </p:cNvPr>
          <p:cNvGrpSpPr/>
          <p:nvPr/>
        </p:nvGrpSpPr>
        <p:grpSpPr>
          <a:xfrm>
            <a:off x="4890661" y="5516127"/>
            <a:ext cx="5639086" cy="833645"/>
            <a:chOff x="-152221" y="8068251"/>
            <a:chExt cx="8020279" cy="1185665"/>
          </a:xfrm>
        </p:grpSpPr>
        <p:sp>
          <p:nvSpPr>
            <p:cNvPr id="7" name="TextBox 6">
              <a:extLst>
                <a:ext uri="{FF2B5EF4-FFF2-40B4-BE49-F238E27FC236}">
                  <a16:creationId xmlns:a16="http://schemas.microsoft.com/office/drawing/2014/main" id="{323AA36F-FBF9-4015-A3F8-CED1B34A11D3}"/>
                </a:ext>
              </a:extLst>
            </p:cNvPr>
            <p:cNvSpPr txBox="1"/>
            <p:nvPr/>
          </p:nvSpPr>
          <p:spPr>
            <a:xfrm>
              <a:off x="979853" y="8068251"/>
              <a:ext cx="6888205" cy="87000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3375" b="0" i="0" u="none" strike="noStrike" kern="1200" cap="none" spc="0" normalizeH="0" baseline="0" noProof="0">
                  <a:ln>
                    <a:noFill/>
                  </a:ln>
                  <a:solidFill>
                    <a:srgbClr val="002060"/>
                  </a:solidFill>
                  <a:effectLst/>
                  <a:uLnTx/>
                  <a:uFillTx/>
                  <a:latin typeface="Almarai ExtraBold" pitchFamily="2" charset="-78"/>
                  <a:ea typeface="+mn-ea"/>
                  <a:cs typeface="Almarai ExtraBold" pitchFamily="2" charset="-78"/>
                </a:rPr>
                <a:t>مؤشرات الأداء الرئيسية</a:t>
              </a:r>
              <a:endParaRPr kumimoji="0" lang="en-US" sz="3375" b="0" i="0" u="none" strike="noStrike" kern="1200" cap="none" spc="0" normalizeH="0" baseline="0" noProof="0">
                <a:ln>
                  <a:noFill/>
                </a:ln>
                <a:solidFill>
                  <a:srgbClr val="002060"/>
                </a:solidFill>
                <a:effectLst/>
                <a:uLnTx/>
                <a:uFillTx/>
                <a:latin typeface="Almarai ExtraBold" pitchFamily="2" charset="-78"/>
                <a:ea typeface="+mn-ea"/>
                <a:cs typeface="Almarai ExtraBold" pitchFamily="2" charset="-78"/>
              </a:endParaRPr>
            </a:p>
          </p:txBody>
        </p:sp>
        <p:sp>
          <p:nvSpPr>
            <p:cNvPr id="18" name="TextBox 17">
              <a:extLst>
                <a:ext uri="{FF2B5EF4-FFF2-40B4-BE49-F238E27FC236}">
                  <a16:creationId xmlns:a16="http://schemas.microsoft.com/office/drawing/2014/main" id="{E8CBBBC6-C8E8-4B89-A985-952377A259DD}"/>
                </a:ext>
              </a:extLst>
            </p:cNvPr>
            <p:cNvSpPr txBox="1"/>
            <p:nvPr/>
          </p:nvSpPr>
          <p:spPr>
            <a:xfrm>
              <a:off x="-152221" y="8384089"/>
              <a:ext cx="5074037" cy="86982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87" dirty="0">
                <a:solidFill>
                  <a:srgbClr val="002060"/>
                </a:solidFill>
                <a:latin typeface="Almarai" pitchFamily="2" charset="-78"/>
                <a:cs typeface="Almarai" pitchFamily="2" charset="-78"/>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87" b="1" i="0" u="none" strike="noStrike" kern="1200" cap="none" spc="0" normalizeH="0" baseline="0" noProof="0" dirty="0">
                  <a:ln>
                    <a:noFill/>
                  </a:ln>
                  <a:solidFill>
                    <a:srgbClr val="002060"/>
                  </a:solidFill>
                  <a:effectLst/>
                  <a:uLnTx/>
                  <a:uFillTx/>
                  <a:latin typeface="Almarai" pitchFamily="2" charset="-78"/>
                  <a:ea typeface="+mn-ea"/>
                  <a:cs typeface="Almarai" pitchFamily="2" charset="-78"/>
                </a:rPr>
                <a:t>لعام 2025</a:t>
              </a:r>
              <a:endParaRPr kumimoji="0" lang="en-US" sz="1687" b="1" i="0" u="none" strike="noStrike" kern="1200" cap="none" spc="0" normalizeH="0" baseline="0" noProof="0" dirty="0">
                <a:ln>
                  <a:noFill/>
                </a:ln>
                <a:solidFill>
                  <a:srgbClr val="002060"/>
                </a:solidFill>
                <a:effectLst/>
                <a:uLnTx/>
                <a:uFillTx/>
                <a:latin typeface="Almarai" pitchFamily="2" charset="-78"/>
                <a:ea typeface="+mn-ea"/>
                <a:cs typeface="Almarai" pitchFamily="2" charset="-78"/>
              </a:endParaRPr>
            </a:p>
          </p:txBody>
        </p:sp>
      </p:grpSp>
      <p:grpSp>
        <p:nvGrpSpPr>
          <p:cNvPr id="3" name="Group 2">
            <a:extLst>
              <a:ext uri="{FF2B5EF4-FFF2-40B4-BE49-F238E27FC236}">
                <a16:creationId xmlns:a16="http://schemas.microsoft.com/office/drawing/2014/main" id="{4E489C1D-8DC3-43DA-AB31-EAF36FE93BD9}"/>
              </a:ext>
            </a:extLst>
          </p:cNvPr>
          <p:cNvGrpSpPr/>
          <p:nvPr/>
        </p:nvGrpSpPr>
        <p:grpSpPr>
          <a:xfrm>
            <a:off x="-47625" y="-80651"/>
            <a:ext cx="12287250" cy="5818843"/>
            <a:chOff x="-8844" y="-6"/>
            <a:chExt cx="9152564" cy="5818843"/>
          </a:xfrm>
        </p:grpSpPr>
        <p:pic>
          <p:nvPicPr>
            <p:cNvPr id="15" name="Picture 14" descr="Icon&#10;&#10;Description automatically generated">
              <a:extLst>
                <a:ext uri="{FF2B5EF4-FFF2-40B4-BE49-F238E27FC236}">
                  <a16:creationId xmlns:a16="http://schemas.microsoft.com/office/drawing/2014/main" id="{0020D2B6-916E-4F88-8C95-23C9C7E85D04}"/>
                </a:ext>
              </a:extLst>
            </p:cNvPr>
            <p:cNvPicPr>
              <a:picLocks noChangeAspect="1"/>
            </p:cNvPicPr>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8493010" y="130313"/>
              <a:ext cx="505934" cy="307767"/>
            </a:xfrm>
            <a:prstGeom prst="rect">
              <a:avLst/>
            </a:prstGeom>
          </p:spPr>
        </p:pic>
        <p:pic>
          <p:nvPicPr>
            <p:cNvPr id="10" name="Picture 9" descr="Icon&#10;&#10;Description automatically generated">
              <a:extLst>
                <a:ext uri="{FF2B5EF4-FFF2-40B4-BE49-F238E27FC236}">
                  <a16:creationId xmlns:a16="http://schemas.microsoft.com/office/drawing/2014/main" id="{7CB37B33-EDE8-496F-844F-DFC6A11EC726}"/>
                </a:ext>
              </a:extLst>
            </p:cNvPr>
            <p:cNvPicPr>
              <a:picLocks noChangeAspect="1"/>
            </p:cNvPicPr>
            <p:nvPr/>
          </p:nvPicPr>
          <p:blipFill>
            <a:blip r:embed="rId4"/>
            <a:stretch>
              <a:fillRect/>
            </a:stretch>
          </p:blipFill>
          <p:spPr>
            <a:xfrm>
              <a:off x="253833" y="130313"/>
              <a:ext cx="1670271" cy="1270859"/>
            </a:xfrm>
            <a:prstGeom prst="rect">
              <a:avLst/>
            </a:prstGeom>
          </p:spPr>
        </p:pic>
        <p:pic>
          <p:nvPicPr>
            <p:cNvPr id="11" name="Picture 10" descr="A picture containing graphical user interface&#10;&#10;Description automatically generated">
              <a:extLst>
                <a:ext uri="{FF2B5EF4-FFF2-40B4-BE49-F238E27FC236}">
                  <a16:creationId xmlns:a16="http://schemas.microsoft.com/office/drawing/2014/main" id="{3BEB97C5-B034-4AC1-BC0F-36FCDB236329}"/>
                </a:ext>
              </a:extLst>
            </p:cNvPr>
            <p:cNvPicPr>
              <a:picLocks noChangeAspect="1"/>
            </p:cNvPicPr>
            <p:nvPr/>
          </p:nvPicPr>
          <p:blipFill>
            <a:blip r:embed="rId5"/>
            <a:stretch>
              <a:fillRect/>
            </a:stretch>
          </p:blipFill>
          <p:spPr>
            <a:xfrm>
              <a:off x="-8844" y="4363342"/>
              <a:ext cx="9132516" cy="1455495"/>
            </a:xfrm>
            <a:prstGeom prst="rect">
              <a:avLst/>
            </a:prstGeom>
          </p:spPr>
        </p:pic>
        <p:pic>
          <p:nvPicPr>
            <p:cNvPr id="5" name="Picture 4" descr="A picture containing sky, outdoor, truck, road&#10;&#10;Description automatically generated">
              <a:extLst>
                <a:ext uri="{FF2B5EF4-FFF2-40B4-BE49-F238E27FC236}">
                  <a16:creationId xmlns:a16="http://schemas.microsoft.com/office/drawing/2014/main" id="{D907A1FE-C5CD-4AD6-A654-812800B90B0B}"/>
                </a:ext>
              </a:extLst>
            </p:cNvPr>
            <p:cNvPicPr>
              <a:picLocks noChangeAspect="1"/>
            </p:cNvPicPr>
            <p:nvPr/>
          </p:nvPicPr>
          <p:blipFill rotWithShape="1">
            <a:blip r:embed="rId6">
              <a:extLst>
                <a:ext uri="{28A0092B-C50C-407E-A947-70E740481C1C}">
                  <a14:useLocalDpi xmlns:a14="http://schemas.microsoft.com/office/drawing/2010/main" val="0"/>
                </a:ext>
              </a:extLst>
            </a:blip>
            <a:srcRect l="122" r="1" b="43667"/>
            <a:stretch/>
          </p:blipFill>
          <p:spPr>
            <a:xfrm>
              <a:off x="4547" y="-5"/>
              <a:ext cx="9121310" cy="3428895"/>
            </a:xfrm>
            <a:prstGeom prst="rect">
              <a:avLst/>
            </a:prstGeom>
          </p:spPr>
        </p:pic>
        <p:sp>
          <p:nvSpPr>
            <p:cNvPr id="6" name="Rectangle: Rounded Corners 5">
              <a:extLst>
                <a:ext uri="{FF2B5EF4-FFF2-40B4-BE49-F238E27FC236}">
                  <a16:creationId xmlns:a16="http://schemas.microsoft.com/office/drawing/2014/main" id="{C2F268D3-C37B-4C8E-B4AF-BC8A3E18025E}"/>
                </a:ext>
              </a:extLst>
            </p:cNvPr>
            <p:cNvSpPr/>
            <p:nvPr/>
          </p:nvSpPr>
          <p:spPr>
            <a:xfrm>
              <a:off x="0" y="0"/>
              <a:ext cx="9143720" cy="4860336"/>
            </a:xfrm>
            <a:prstGeom prst="roundRect">
              <a:avLst>
                <a:gd name="adj" fmla="val 28337"/>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66"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Picture 16" descr="A picture containing sky, outdoor, truck, road&#10;&#10;Description automatically generated">
              <a:extLst>
                <a:ext uri="{FF2B5EF4-FFF2-40B4-BE49-F238E27FC236}">
                  <a16:creationId xmlns:a16="http://schemas.microsoft.com/office/drawing/2014/main" id="{27DD93E1-0E4E-407F-9C1A-EAACA73F6EEC}"/>
                </a:ext>
              </a:extLst>
            </p:cNvPr>
            <p:cNvPicPr>
              <a:picLocks noChangeAspect="1"/>
            </p:cNvPicPr>
            <p:nvPr/>
          </p:nvPicPr>
          <p:blipFill rotWithShape="1">
            <a:blip r:embed="rId6">
              <a:extLst>
                <a:ext uri="{28A0092B-C50C-407E-A947-70E740481C1C}">
                  <a14:useLocalDpi xmlns:a14="http://schemas.microsoft.com/office/drawing/2010/main" val="0"/>
                </a:ext>
              </a:extLst>
            </a:blip>
            <a:srcRect l="84283" b="18821"/>
            <a:stretch/>
          </p:blipFill>
          <p:spPr>
            <a:xfrm>
              <a:off x="7690497" y="-6"/>
              <a:ext cx="1446565" cy="4860337"/>
            </a:xfrm>
            <a:prstGeom prst="rect">
              <a:avLst/>
            </a:prstGeom>
          </p:spPr>
        </p:pic>
      </p:grpSp>
      <p:pic>
        <p:nvPicPr>
          <p:cNvPr id="22" name="Picture 21" descr="Text&#10;&#10;Description automatically generated with medium confidence">
            <a:extLst>
              <a:ext uri="{FF2B5EF4-FFF2-40B4-BE49-F238E27FC236}">
                <a16:creationId xmlns:a16="http://schemas.microsoft.com/office/drawing/2014/main" id="{AEC2332F-5BF2-4858-ACA5-E104134ECFF0}"/>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63863" t="1" b="-21"/>
          <a:stretch/>
        </p:blipFill>
        <p:spPr>
          <a:xfrm>
            <a:off x="112358" y="84607"/>
            <a:ext cx="819076" cy="631548"/>
          </a:xfrm>
          <a:prstGeom prst="rect">
            <a:avLst/>
          </a:prstGeom>
        </p:spPr>
      </p:pic>
    </p:spTree>
    <p:extLst>
      <p:ext uri="{BB962C8B-B14F-4D97-AF65-F5344CB8AC3E}">
        <p14:creationId xmlns:p14="http://schemas.microsoft.com/office/powerpoint/2010/main" val="1241990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7EEDC99C-5C8C-7ABA-81C4-264AB2D39923}"/>
              </a:ext>
            </a:extLst>
          </p:cNvPr>
          <p:cNvSpPr/>
          <p:nvPr/>
        </p:nvSpPr>
        <p:spPr>
          <a:xfrm>
            <a:off x="5595908" y="3899900"/>
            <a:ext cx="5637064" cy="408312"/>
          </a:xfrm>
          <a:prstGeom prst="rect">
            <a:avLst/>
          </a:prstGeom>
          <a:solidFill>
            <a:srgbClr val="F9C1AD">
              <a:alpha val="23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7B44E362-5BC7-9B07-1A12-37D7CC542796}"/>
              </a:ext>
            </a:extLst>
          </p:cNvPr>
          <p:cNvSpPr/>
          <p:nvPr/>
        </p:nvSpPr>
        <p:spPr>
          <a:xfrm>
            <a:off x="1537635" y="4426999"/>
            <a:ext cx="9695337" cy="1382417"/>
          </a:xfrm>
          <a:prstGeom prst="rect">
            <a:avLst/>
          </a:prstGeom>
          <a:solidFill>
            <a:srgbClr val="C6D2DD">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E23BBCDE-B9C1-0E12-4EB7-0C9C68D9571C}"/>
              </a:ext>
            </a:extLst>
          </p:cNvPr>
          <p:cNvGraphicFramePr>
            <a:graphicFrameLocks noGrp="1"/>
          </p:cNvGraphicFramePr>
          <p:nvPr/>
        </p:nvGraphicFramePr>
        <p:xfrm>
          <a:off x="1537634" y="1315854"/>
          <a:ext cx="9695338" cy="1814413"/>
        </p:xfrm>
        <a:graphic>
          <a:graphicData uri="http://schemas.openxmlformats.org/drawingml/2006/table">
            <a:tbl>
              <a:tblPr rtl="1" firstRow="1" firstCol="1" bandRow="1">
                <a:tableStyleId>{5C22544A-7EE6-4342-B048-85BDC9FD1C3A}</a:tableStyleId>
              </a:tblPr>
              <a:tblGrid>
                <a:gridCol w="186316">
                  <a:extLst>
                    <a:ext uri="{9D8B030D-6E8A-4147-A177-3AD203B41FA5}">
                      <a16:colId xmlns:a16="http://schemas.microsoft.com/office/drawing/2014/main" val="1206551450"/>
                    </a:ext>
                  </a:extLst>
                </a:gridCol>
                <a:gridCol w="1866679">
                  <a:extLst>
                    <a:ext uri="{9D8B030D-6E8A-4147-A177-3AD203B41FA5}">
                      <a16:colId xmlns:a16="http://schemas.microsoft.com/office/drawing/2014/main" val="293632709"/>
                    </a:ext>
                  </a:extLst>
                </a:gridCol>
                <a:gridCol w="2119551">
                  <a:extLst>
                    <a:ext uri="{9D8B030D-6E8A-4147-A177-3AD203B41FA5}">
                      <a16:colId xmlns:a16="http://schemas.microsoft.com/office/drawing/2014/main" val="4289319683"/>
                    </a:ext>
                  </a:extLst>
                </a:gridCol>
                <a:gridCol w="2565718">
                  <a:extLst>
                    <a:ext uri="{9D8B030D-6E8A-4147-A177-3AD203B41FA5}">
                      <a16:colId xmlns:a16="http://schemas.microsoft.com/office/drawing/2014/main" val="427963742"/>
                    </a:ext>
                  </a:extLst>
                </a:gridCol>
                <a:gridCol w="1710465">
                  <a:extLst>
                    <a:ext uri="{9D8B030D-6E8A-4147-A177-3AD203B41FA5}">
                      <a16:colId xmlns:a16="http://schemas.microsoft.com/office/drawing/2014/main" val="1894729962"/>
                    </a:ext>
                  </a:extLst>
                </a:gridCol>
                <a:gridCol w="1246609">
                  <a:extLst>
                    <a:ext uri="{9D8B030D-6E8A-4147-A177-3AD203B41FA5}">
                      <a16:colId xmlns:a16="http://schemas.microsoft.com/office/drawing/2014/main" val="2841090873"/>
                    </a:ext>
                  </a:extLst>
                </a:gridCol>
              </a:tblGrid>
              <a:tr h="519827">
                <a:tc gridSpan="2">
                  <a:txBody>
                    <a:bodyPr/>
                    <a:lstStyle/>
                    <a:p>
                      <a:pPr marL="0" marR="0" algn="ctr" rtl="1">
                        <a:lnSpc>
                          <a:spcPct val="107000"/>
                        </a:lnSpc>
                        <a:spcBef>
                          <a:spcPts val="0"/>
                        </a:spcBef>
                        <a:spcAft>
                          <a:spcPts val="0"/>
                        </a:spcAft>
                      </a:pPr>
                      <a:r>
                        <a:rPr lang="ar-SA" sz="1600">
                          <a:solidFill>
                            <a:schemeClr val="bg1"/>
                          </a:solidFill>
                          <a:effectLst/>
                          <a:latin typeface="Almarai Bold" pitchFamily="2" charset="-78"/>
                          <a:cs typeface="Almarai Bold" pitchFamily="2" charset="-78"/>
                        </a:rPr>
                        <a:t>الوزن</a:t>
                      </a:r>
                    </a:p>
                  </a:txBody>
                  <a:tcPr marL="37652" marR="37652" marT="0" marB="0" anchor="ctr">
                    <a:solidFill>
                      <a:srgbClr val="002060"/>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600">
                          <a:solidFill>
                            <a:schemeClr val="bg1"/>
                          </a:solidFill>
                          <a:latin typeface="STC Bold" panose="01000500000000020006" pitchFamily="2" charset="-78"/>
                          <a:cs typeface="STC Bold" panose="01000500000000020006" pitchFamily="2" charset="-78"/>
                        </a:rPr>
                        <a:t>الوزن</a:t>
                      </a:r>
                    </a:p>
                  </a:txBody>
                  <a:tcPr marL="63219" marR="63219" marT="31610" marB="31610" anchor="ctr">
                    <a:solidFill>
                      <a:srgbClr val="002060"/>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600">
                          <a:solidFill>
                            <a:schemeClr val="bg1"/>
                          </a:solidFill>
                          <a:latin typeface="Almarai Bold" pitchFamily="2" charset="-78"/>
                          <a:cs typeface="Almarai Bold" pitchFamily="2" charset="-78"/>
                        </a:rPr>
                        <a:t>الوزن المحقق</a:t>
                      </a:r>
                      <a:endParaRPr lang="en-US" sz="1600">
                        <a:solidFill>
                          <a:schemeClr val="bg1"/>
                        </a:solidFill>
                        <a:latin typeface="Almarai Bold" pitchFamily="2" charset="-78"/>
                        <a:cs typeface="Almarai Bold" pitchFamily="2" charset="-78"/>
                      </a:endParaRPr>
                    </a:p>
                  </a:txBody>
                  <a:tcPr marL="63219" marR="63219" marT="31610" marB="31610" anchor="c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sz="1600">
                          <a:solidFill>
                            <a:schemeClr val="bg1"/>
                          </a:solidFill>
                          <a:latin typeface="Almarai Bold" pitchFamily="2" charset="-78"/>
                          <a:cs typeface="Almarai Bold" pitchFamily="2" charset="-78"/>
                        </a:rPr>
                        <a:t>المستهدف</a:t>
                      </a:r>
                      <a:endParaRPr lang="en-US" sz="1600">
                        <a:solidFill>
                          <a:schemeClr val="bg1"/>
                        </a:solidFill>
                        <a:latin typeface="Almarai Bold" pitchFamily="2" charset="-78"/>
                        <a:cs typeface="Almarai Bold" pitchFamily="2" charset="-78"/>
                      </a:endParaRPr>
                    </a:p>
                  </a:txBody>
                  <a:tcPr marL="63219" marR="63219" marT="31610" marB="31610" anchor="ctr">
                    <a:solidFill>
                      <a:srgbClr val="002060"/>
                    </a:solidFill>
                  </a:tcPr>
                </a:tc>
                <a:tc>
                  <a:txBody>
                    <a:bodyPr/>
                    <a:lstStyle/>
                    <a:p>
                      <a:pPr algn="ctr"/>
                      <a:r>
                        <a:rPr lang="ar-SA" sz="1600">
                          <a:solidFill>
                            <a:schemeClr val="bg1"/>
                          </a:solidFill>
                          <a:latin typeface="Almarai Bold" pitchFamily="2" charset="-78"/>
                          <a:cs typeface="Almarai Bold" pitchFamily="2" charset="-78"/>
                        </a:rPr>
                        <a:t>نتائج الربع الأول</a:t>
                      </a:r>
                      <a:endParaRPr lang="en-US" sz="1600">
                        <a:solidFill>
                          <a:schemeClr val="bg1"/>
                        </a:solidFill>
                        <a:latin typeface="Almarai Bold" pitchFamily="2" charset="-78"/>
                        <a:cs typeface="Almarai Bold" pitchFamily="2" charset="-78"/>
                      </a:endParaRPr>
                    </a:p>
                  </a:txBody>
                  <a:tcPr marL="63219" marR="63219" marT="31610" marB="31610" anchor="ctr">
                    <a:solidFill>
                      <a:srgbClr val="002060"/>
                    </a:solidFill>
                  </a:tcPr>
                </a:tc>
                <a:tc>
                  <a:txBody>
                    <a:bodyPr/>
                    <a:lstStyle/>
                    <a:p>
                      <a:pPr algn="ctr"/>
                      <a:r>
                        <a:rPr lang="ar-SA" sz="1600">
                          <a:solidFill>
                            <a:schemeClr val="bg1"/>
                          </a:solidFill>
                          <a:latin typeface="Almarai Bold" pitchFamily="2" charset="-78"/>
                          <a:cs typeface="Almarai Bold" pitchFamily="2" charset="-78"/>
                        </a:rPr>
                        <a:t>نوع المؤشر</a:t>
                      </a:r>
                      <a:endParaRPr lang="en-US" sz="1600">
                        <a:solidFill>
                          <a:schemeClr val="bg1"/>
                        </a:solidFill>
                        <a:latin typeface="Almarai Bold" pitchFamily="2" charset="-78"/>
                        <a:cs typeface="Almarai Bold" pitchFamily="2" charset="-78"/>
                      </a:endParaRPr>
                    </a:p>
                  </a:txBody>
                  <a:tcPr marL="63219" marR="63219" marT="31610" marB="31610" anchor="ctr">
                    <a:solidFill>
                      <a:srgbClr val="002060"/>
                    </a:solidFill>
                  </a:tcPr>
                </a:tc>
                <a:extLst>
                  <a:ext uri="{0D108BD9-81ED-4DB2-BD59-A6C34878D82A}">
                    <a16:rowId xmlns:a16="http://schemas.microsoft.com/office/drawing/2014/main" val="1470056535"/>
                  </a:ext>
                </a:extLst>
              </a:tr>
              <a:tr h="425832">
                <a:tc>
                  <a:txBody>
                    <a:bodyPr/>
                    <a:lstStyle/>
                    <a:p>
                      <a:pPr marL="0" marR="0" algn="ctr" rtl="1">
                        <a:lnSpc>
                          <a:spcPct val="107000"/>
                        </a:lnSpc>
                        <a:spcBef>
                          <a:spcPts val="0"/>
                        </a:spcBef>
                        <a:spcAft>
                          <a:spcPts val="0"/>
                        </a:spcAft>
                      </a:pPr>
                      <a:r>
                        <a:rPr lang="en-US" sz="800">
                          <a:solidFill>
                            <a:schemeClr val="tx1"/>
                          </a:solidFill>
                          <a:effectLst/>
                          <a:latin typeface="Calibri" panose="020F0502020204030204" pitchFamily="34" charset="0"/>
                          <a:ea typeface="Calibri" panose="020F0502020204030204" pitchFamily="34" charset="0"/>
                          <a:cs typeface="Arial" panose="020B0604020202020204" pitchFamily="34" charset="0"/>
                        </a:rPr>
                        <a:t>1</a:t>
                      </a:r>
                    </a:p>
                  </a:txBody>
                  <a:tcPr marL="37652" marR="37652" marT="0" marB="0" anchor="ctr">
                    <a:solidFill>
                      <a:srgbClr val="F9C1AD"/>
                    </a:solidFill>
                  </a:tcPr>
                </a:tc>
                <a:tc>
                  <a:txBody>
                    <a:bodyPr/>
                    <a:lstStyle/>
                    <a:p>
                      <a:pPr marL="0" marR="0" lvl="0" indent="0" algn="ctr" defTabSz="914400" rtl="1" eaLnBrk="1" fontAlgn="auto" latinLnBrk="0" hangingPunct="1">
                        <a:lnSpc>
                          <a:spcPct val="107000"/>
                        </a:lnSpc>
                        <a:spcBef>
                          <a:spcPts val="0"/>
                        </a:spcBef>
                        <a:spcAft>
                          <a:spcPts val="800"/>
                        </a:spcAft>
                        <a:buClrTx/>
                        <a:buSzTx/>
                        <a:buFontTx/>
                        <a:buNone/>
                        <a:tabLst/>
                        <a:defRPr/>
                      </a:pPr>
                      <a:r>
                        <a:rPr lang="en-US" sz="1200" kern="1200">
                          <a:solidFill>
                            <a:schemeClr val="tx1"/>
                          </a:solidFill>
                          <a:latin typeface="Almarai Light" pitchFamily="2" charset="-78"/>
                          <a:ea typeface="+mn-ea"/>
                          <a:cs typeface="Almarai Light" pitchFamily="2" charset="-78"/>
                        </a:rPr>
                        <a:t>20%</a:t>
                      </a:r>
                    </a:p>
                  </a:txBody>
                  <a:tcPr marL="37652" marR="37652" marT="0" marB="0" anchor="ctr">
                    <a:solidFill>
                      <a:srgbClr val="C6D2DD"/>
                    </a:solidFill>
                  </a:tcPr>
                </a:tc>
                <a:tc>
                  <a:txBody>
                    <a:bodyPr/>
                    <a:lstStyle/>
                    <a:p>
                      <a:pPr marL="0" marR="0" lvl="0" indent="0" algn="ctr" defTabSz="685800" rtl="1" eaLnBrk="1" fontAlgn="auto" latinLnBrk="0" hangingPunct="1">
                        <a:lnSpc>
                          <a:spcPct val="107000"/>
                        </a:lnSpc>
                        <a:spcBef>
                          <a:spcPts val="0"/>
                        </a:spcBef>
                        <a:spcAft>
                          <a:spcPts val="0"/>
                        </a:spcAft>
                        <a:buClrTx/>
                        <a:buSzTx/>
                        <a:buFontTx/>
                        <a:buNone/>
                        <a:tabLst/>
                        <a:defRPr/>
                      </a:pPr>
                      <a:r>
                        <a:rPr lang="ar-SA" sz="1200" kern="1200">
                          <a:solidFill>
                            <a:schemeClr val="tx1"/>
                          </a:solidFill>
                          <a:latin typeface="Almarai Light" pitchFamily="2" charset="-78"/>
                          <a:ea typeface="+mn-ea"/>
                          <a:cs typeface="Almarai Light" pitchFamily="2" charset="-78"/>
                        </a:rPr>
                        <a:t>15%</a:t>
                      </a:r>
                      <a:endParaRPr lang="en-US" sz="1200" kern="1200">
                        <a:solidFill>
                          <a:schemeClr val="tx1"/>
                        </a:solidFill>
                        <a:latin typeface="Almarai Light" pitchFamily="2" charset="-78"/>
                        <a:ea typeface="+mn-ea"/>
                        <a:cs typeface="Almarai Light" pitchFamily="2" charset="-78"/>
                      </a:endParaRPr>
                    </a:p>
                  </a:txBody>
                  <a:tcPr marL="37652" marR="37652" marT="0" marB="0" anchor="ctr">
                    <a:solidFill>
                      <a:srgbClr val="C6D2DD"/>
                    </a:solidFill>
                  </a:tcPr>
                </a:tc>
                <a:tc>
                  <a:txBody>
                    <a:bodyPr/>
                    <a:lstStyle/>
                    <a:p>
                      <a:pPr marL="0" marR="0" lvl="0" indent="0" algn="r" defTabSz="1460754"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Almarai Light" pitchFamily="2" charset="-78"/>
                          <a:ea typeface="+mn-ea"/>
                          <a:cs typeface="Almarai Light" pitchFamily="2" charset="-78"/>
                        </a:rPr>
                        <a:t># توقيع عقود جديدة مع القطاع الخاص</a:t>
                      </a:r>
                      <a:endParaRPr lang="en-US" sz="1200" kern="1200" dirty="0">
                        <a:solidFill>
                          <a:schemeClr val="tx1"/>
                        </a:solidFill>
                        <a:latin typeface="Almarai Light" pitchFamily="2" charset="-78"/>
                        <a:ea typeface="+mn-ea"/>
                        <a:cs typeface="Almarai Light" pitchFamily="2" charset="-78"/>
                      </a:endParaRPr>
                    </a:p>
                  </a:txBody>
                  <a:tcPr marL="94682" marR="94682" marT="47341" marB="47341" anchor="ctr">
                    <a:solidFill>
                      <a:srgbClr val="C6D2DD"/>
                    </a:solidFill>
                  </a:tcPr>
                </a:tc>
                <a:tc>
                  <a:txBody>
                    <a:bodyPr/>
                    <a:lstStyle/>
                    <a:p>
                      <a:pPr marL="0" marR="0" lvl="0" indent="0" algn="ctr" defTabSz="1460754" rtl="1"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lmarai Light" pitchFamily="2" charset="-78"/>
                          <a:ea typeface="+mn-ea"/>
                          <a:cs typeface="Almarai Light" pitchFamily="2" charset="-78"/>
                        </a:rPr>
                        <a:t>3</a:t>
                      </a:r>
                      <a:endParaRPr lang="ar-SA" sz="1200" kern="1200" dirty="0">
                        <a:solidFill>
                          <a:schemeClr val="tx1"/>
                        </a:solidFill>
                        <a:latin typeface="Almarai Light" pitchFamily="2" charset="-78"/>
                        <a:ea typeface="+mn-ea"/>
                        <a:cs typeface="Almarai Light" pitchFamily="2" charset="-78"/>
                      </a:endParaRPr>
                    </a:p>
                  </a:txBody>
                  <a:tcPr marL="94682" marR="94682" marT="47341" marB="47341" anchor="ctr">
                    <a:solidFill>
                      <a:schemeClr val="accent4">
                        <a:lumMod val="40000"/>
                        <a:lumOff val="60000"/>
                      </a:schemeClr>
                    </a:solidFill>
                  </a:tcPr>
                </a:tc>
                <a:tc>
                  <a:txBody>
                    <a:bodyPr/>
                    <a:lstStyle/>
                    <a:p>
                      <a:pPr marL="0" marR="0" lvl="0" indent="0" algn="ctr" defTabSz="1460754"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a:solidFill>
                            <a:schemeClr val="tx1"/>
                          </a:solidFill>
                          <a:latin typeface="Almarai Light" pitchFamily="2" charset="-78"/>
                          <a:ea typeface="+mn-ea"/>
                          <a:cs typeface="Almarai Light" pitchFamily="2" charset="-78"/>
                        </a:rPr>
                        <a:t>سنوي</a:t>
                      </a:r>
                    </a:p>
                  </a:txBody>
                  <a:tcPr marL="94682" marR="94682" marT="47341" marB="47341" anchor="ctr">
                    <a:solidFill>
                      <a:srgbClr val="C6D2DD"/>
                    </a:solidFill>
                  </a:tcPr>
                </a:tc>
                <a:extLst>
                  <a:ext uri="{0D108BD9-81ED-4DB2-BD59-A6C34878D82A}">
                    <a16:rowId xmlns:a16="http://schemas.microsoft.com/office/drawing/2014/main" val="293388645"/>
                  </a:ext>
                </a:extLst>
              </a:tr>
              <a:tr h="408312">
                <a:tc>
                  <a:txBody>
                    <a:bodyPr/>
                    <a:lstStyle/>
                    <a:p>
                      <a:pPr marL="0" marR="0" algn="ctr" rtl="1">
                        <a:lnSpc>
                          <a:spcPct val="107000"/>
                        </a:lnSpc>
                        <a:spcBef>
                          <a:spcPts val="0"/>
                        </a:spcBef>
                        <a:spcAft>
                          <a:spcPts val="0"/>
                        </a:spcAft>
                      </a:pPr>
                      <a:r>
                        <a:rPr lang="en-US" sz="800">
                          <a:solidFill>
                            <a:schemeClr val="tx1"/>
                          </a:solidFill>
                          <a:effectLst/>
                          <a:latin typeface="Calibri" panose="020F0502020204030204" pitchFamily="34" charset="0"/>
                          <a:ea typeface="Calibri" panose="020F0502020204030204" pitchFamily="34" charset="0"/>
                          <a:cs typeface="Arial" panose="020B0604020202020204" pitchFamily="34" charset="0"/>
                        </a:rPr>
                        <a:t>2</a:t>
                      </a:r>
                    </a:p>
                  </a:txBody>
                  <a:tcPr marL="37652" marR="37652" marT="0" marB="0" anchor="ctr">
                    <a:solidFill>
                      <a:srgbClr val="F9C1AD"/>
                    </a:solidFill>
                  </a:tcPr>
                </a:tc>
                <a:tc>
                  <a:txBody>
                    <a:bodyPr/>
                    <a:lstStyle/>
                    <a:p>
                      <a:pPr marL="0" marR="0" algn="ctr" rtl="1">
                        <a:lnSpc>
                          <a:spcPct val="107000"/>
                        </a:lnSpc>
                        <a:spcBef>
                          <a:spcPts val="0"/>
                        </a:spcBef>
                        <a:spcAft>
                          <a:spcPts val="0"/>
                        </a:spcAft>
                      </a:pPr>
                      <a:r>
                        <a:rPr lang="en-US" sz="1200">
                          <a:effectLst/>
                          <a:latin typeface="Almarai Light" pitchFamily="2" charset="-78"/>
                          <a:ea typeface="Calibri" panose="020F0502020204030204" pitchFamily="34" charset="0"/>
                          <a:cs typeface="Almarai Light" pitchFamily="2" charset="-78"/>
                        </a:rPr>
                        <a:t>20%</a:t>
                      </a:r>
                    </a:p>
                  </a:txBody>
                  <a:tcPr marL="37652" marR="37652" marT="0" marB="0" anchor="ctr">
                    <a:solidFill>
                      <a:schemeClr val="bg1">
                        <a:lumMod val="95000"/>
                      </a:schemeClr>
                    </a:solidFill>
                  </a:tcPr>
                </a:tc>
                <a:tc>
                  <a:txBody>
                    <a:bodyPr/>
                    <a:lstStyle/>
                    <a:p>
                      <a:pPr marL="0" marR="0" algn="ctr" rtl="1">
                        <a:lnSpc>
                          <a:spcPct val="107000"/>
                        </a:lnSpc>
                        <a:spcBef>
                          <a:spcPts val="0"/>
                        </a:spcBef>
                        <a:spcAft>
                          <a:spcPts val="0"/>
                        </a:spcAft>
                      </a:pPr>
                      <a:r>
                        <a:rPr lang="en-US" sz="1200">
                          <a:effectLst/>
                          <a:latin typeface="Almarai Light" pitchFamily="2" charset="-78"/>
                          <a:ea typeface="Calibri" panose="020F0502020204030204" pitchFamily="34" charset="0"/>
                          <a:cs typeface="Almarai Light" pitchFamily="2" charset="-78"/>
                        </a:rPr>
                        <a:t>0%</a:t>
                      </a:r>
                    </a:p>
                  </a:txBody>
                  <a:tcPr marL="37652" marR="37652" marT="0" marB="0" anchor="ctr">
                    <a:solidFill>
                      <a:schemeClr val="bg1">
                        <a:lumMod val="95000"/>
                      </a:schemeClr>
                    </a:solidFill>
                  </a:tcPr>
                </a:tc>
                <a:tc>
                  <a:txBody>
                    <a:bodyPr/>
                    <a:lstStyle/>
                    <a:p>
                      <a:pPr marL="0" marR="0" lvl="0" indent="0" algn="r" defTabSz="1460754"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Almarai Light" pitchFamily="2" charset="-78"/>
                          <a:ea typeface="+mn-ea"/>
                          <a:cs typeface="Almarai Light" pitchFamily="2" charset="-78"/>
                        </a:rPr>
                        <a:t>% بناء إستراتيجية للشركة</a:t>
                      </a:r>
                      <a:endParaRPr lang="en-US" sz="1200" kern="1200" dirty="0">
                        <a:solidFill>
                          <a:schemeClr val="tx1"/>
                        </a:solidFill>
                        <a:latin typeface="Almarai Light" pitchFamily="2" charset="-78"/>
                        <a:ea typeface="+mn-ea"/>
                        <a:cs typeface="Almarai Light" pitchFamily="2" charset="-78"/>
                      </a:endParaRPr>
                    </a:p>
                  </a:txBody>
                  <a:tcPr marL="94682" marR="94682" marT="47341" marB="47341" anchor="ctr">
                    <a:solidFill>
                      <a:schemeClr val="bg1">
                        <a:lumMod val="95000"/>
                      </a:schemeClr>
                    </a:solidFill>
                  </a:tcPr>
                </a:tc>
                <a:tc>
                  <a:txBody>
                    <a:bodyPr/>
                    <a:lstStyle/>
                    <a:p>
                      <a:pPr marL="0" marR="0" lvl="0" indent="0" algn="ctr" defTabSz="1460754" rtl="1"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Almarai Light" pitchFamily="2" charset="-78"/>
                          <a:ea typeface="+mn-ea"/>
                          <a:cs typeface="Almarai Light" pitchFamily="2" charset="-78"/>
                        </a:rPr>
                        <a:t>0%</a:t>
                      </a:r>
                    </a:p>
                  </a:txBody>
                  <a:tcPr marL="94682" marR="94682" marT="47341" marB="47341" anchor="ctr">
                    <a:solidFill>
                      <a:srgbClr val="BF1E2E"/>
                    </a:solidFill>
                  </a:tcPr>
                </a:tc>
                <a:tc>
                  <a:txBody>
                    <a:bodyPr/>
                    <a:lstStyle/>
                    <a:p>
                      <a:pPr marL="0" marR="0" lvl="0" indent="0" algn="ctr" defTabSz="1460754"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a:solidFill>
                            <a:schemeClr val="tx1"/>
                          </a:solidFill>
                          <a:latin typeface="Almarai Light" pitchFamily="2" charset="-78"/>
                          <a:ea typeface="+mn-ea"/>
                          <a:cs typeface="Almarai Light" pitchFamily="2" charset="-78"/>
                        </a:rPr>
                        <a:t>ربعي</a:t>
                      </a:r>
                    </a:p>
                  </a:txBody>
                  <a:tcPr marL="94682" marR="94682" marT="47341" marB="47341" anchor="ctr">
                    <a:solidFill>
                      <a:schemeClr val="bg1">
                        <a:lumMod val="95000"/>
                      </a:schemeClr>
                    </a:solidFill>
                  </a:tcPr>
                </a:tc>
                <a:extLst>
                  <a:ext uri="{0D108BD9-81ED-4DB2-BD59-A6C34878D82A}">
                    <a16:rowId xmlns:a16="http://schemas.microsoft.com/office/drawing/2014/main" val="2395737110"/>
                  </a:ext>
                </a:extLst>
              </a:tr>
              <a:tr h="426064">
                <a:tc>
                  <a:txBody>
                    <a:bodyPr/>
                    <a:lstStyle/>
                    <a:p>
                      <a:pPr marL="0" marR="0" algn="ctr" rtl="1">
                        <a:lnSpc>
                          <a:spcPct val="107000"/>
                        </a:lnSpc>
                        <a:spcBef>
                          <a:spcPts val="0"/>
                        </a:spcBef>
                        <a:spcAft>
                          <a:spcPts val="0"/>
                        </a:spcAft>
                      </a:pPr>
                      <a:r>
                        <a:rPr lang="en-US" sz="800">
                          <a:solidFill>
                            <a:schemeClr val="tx1"/>
                          </a:solidFill>
                          <a:effectLst/>
                          <a:latin typeface="Calibri" panose="020F0502020204030204" pitchFamily="34" charset="0"/>
                          <a:ea typeface="Calibri" panose="020F0502020204030204" pitchFamily="34" charset="0"/>
                          <a:cs typeface="Arial" panose="020B0604020202020204" pitchFamily="34" charset="0"/>
                        </a:rPr>
                        <a:t>3</a:t>
                      </a:r>
                    </a:p>
                  </a:txBody>
                  <a:tcPr marL="37652" marR="37652" marT="0" marB="0" anchor="ctr">
                    <a:solidFill>
                      <a:srgbClr val="F9C1AD"/>
                    </a:solidFill>
                  </a:tcPr>
                </a:tc>
                <a:tc>
                  <a:txBody>
                    <a:bodyPr/>
                    <a:lstStyle/>
                    <a:p>
                      <a:pPr marL="0" marR="0" algn="ctr" rtl="1">
                        <a:lnSpc>
                          <a:spcPct val="107000"/>
                        </a:lnSpc>
                        <a:spcBef>
                          <a:spcPts val="0"/>
                        </a:spcBef>
                        <a:spcAft>
                          <a:spcPts val="800"/>
                        </a:spcAft>
                      </a:pPr>
                      <a:r>
                        <a:rPr lang="en-US" sz="1200" b="0" dirty="0">
                          <a:effectLst/>
                          <a:latin typeface="Almarai Light" pitchFamily="2" charset="-78"/>
                          <a:ea typeface="Calibri" panose="020F0502020204030204" pitchFamily="34" charset="0"/>
                          <a:cs typeface="Almarai Light" pitchFamily="2" charset="-78"/>
                        </a:rPr>
                        <a:t>60%</a:t>
                      </a:r>
                    </a:p>
                  </a:txBody>
                  <a:tcPr marL="37652" marR="37652" marT="0" marB="0" anchor="ctr">
                    <a:solidFill>
                      <a:srgbClr val="C6D2DD"/>
                    </a:solidFill>
                  </a:tcPr>
                </a:tc>
                <a:tc>
                  <a:txBody>
                    <a:bodyPr/>
                    <a:lstStyle/>
                    <a:p>
                      <a:pPr marL="0" marR="0" lvl="0" indent="0" algn="ctr" defTabSz="685800" rtl="1" eaLnBrk="1" fontAlgn="auto" latinLnBrk="0" hangingPunct="1">
                        <a:lnSpc>
                          <a:spcPct val="107000"/>
                        </a:lnSpc>
                        <a:spcBef>
                          <a:spcPts val="0"/>
                        </a:spcBef>
                        <a:spcAft>
                          <a:spcPts val="0"/>
                        </a:spcAft>
                        <a:buClrTx/>
                        <a:buSzTx/>
                        <a:buFontTx/>
                        <a:buNone/>
                        <a:tabLst/>
                        <a:defRPr/>
                      </a:pPr>
                      <a:r>
                        <a:rPr lang="en-US" sz="1200" dirty="0">
                          <a:effectLst/>
                          <a:latin typeface="Almarai Light" pitchFamily="2" charset="-78"/>
                          <a:ea typeface="Calibri" panose="020F0502020204030204" pitchFamily="34" charset="0"/>
                          <a:cs typeface="Almarai Light" pitchFamily="2" charset="-78"/>
                        </a:rPr>
                        <a:t>57%</a:t>
                      </a:r>
                    </a:p>
                  </a:txBody>
                  <a:tcPr marL="37652" marR="37652" marT="0" marB="0" anchor="ctr">
                    <a:solidFill>
                      <a:srgbClr val="C6D2DD"/>
                    </a:solidFill>
                  </a:tcPr>
                </a:tc>
                <a:tc>
                  <a:txBody>
                    <a:bodyPr/>
                    <a:lstStyle/>
                    <a:p>
                      <a:pPr marL="0" marR="0" lvl="0" indent="0" algn="r" defTabSz="1460754"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Almarai Light" pitchFamily="2" charset="-78"/>
                          <a:ea typeface="+mn-ea"/>
                          <a:cs typeface="Almarai Light" pitchFamily="2" charset="-78"/>
                        </a:rPr>
                        <a:t># ترويج وتسويق خدمات ومنتجات الشركة ( 200 عميل )</a:t>
                      </a:r>
                      <a:endParaRPr lang="en-US" sz="1200" kern="1200" dirty="0">
                        <a:solidFill>
                          <a:schemeClr val="tx1"/>
                        </a:solidFill>
                        <a:latin typeface="Almarai Light" pitchFamily="2" charset="-78"/>
                        <a:ea typeface="+mn-ea"/>
                        <a:cs typeface="Almarai Light" pitchFamily="2" charset="-78"/>
                      </a:endParaRPr>
                    </a:p>
                  </a:txBody>
                  <a:tcPr marL="94682" marR="94682" marT="47341" marB="47341" anchor="ctr">
                    <a:solidFill>
                      <a:srgbClr val="C6D2DD"/>
                    </a:solidFill>
                  </a:tcPr>
                </a:tc>
                <a:tc>
                  <a:txBody>
                    <a:bodyPr/>
                    <a:lstStyle/>
                    <a:p>
                      <a:pPr marL="0" marR="0" lvl="0" indent="0" algn="ctr" defTabSz="1460754" rtl="1"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lmarai Light" pitchFamily="2" charset="-78"/>
                          <a:ea typeface="+mn-ea"/>
                          <a:cs typeface="Almarai Light" pitchFamily="2" charset="-78"/>
                        </a:rPr>
                        <a:t>95%</a:t>
                      </a:r>
                    </a:p>
                  </a:txBody>
                  <a:tcPr marL="94682" marR="94682" marT="47341" marB="47341" anchor="ctr">
                    <a:solidFill>
                      <a:srgbClr val="16803F"/>
                    </a:solidFill>
                  </a:tcPr>
                </a:tc>
                <a:tc>
                  <a:txBody>
                    <a:bodyPr/>
                    <a:lstStyle/>
                    <a:p>
                      <a:pPr marL="0" marR="0" lvl="0" indent="0" algn="ctr" defTabSz="1460754"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dirty="0">
                          <a:solidFill>
                            <a:schemeClr val="tx1"/>
                          </a:solidFill>
                          <a:latin typeface="Almarai Light" pitchFamily="2" charset="-78"/>
                          <a:ea typeface="+mn-ea"/>
                          <a:cs typeface="Almarai Light" pitchFamily="2" charset="-78"/>
                        </a:rPr>
                        <a:t>سنوي</a:t>
                      </a:r>
                    </a:p>
                  </a:txBody>
                  <a:tcPr marL="94682" marR="94682" marT="47341" marB="47341" anchor="ctr">
                    <a:solidFill>
                      <a:srgbClr val="C6D2DD"/>
                    </a:solidFill>
                  </a:tcPr>
                </a:tc>
                <a:extLst>
                  <a:ext uri="{0D108BD9-81ED-4DB2-BD59-A6C34878D82A}">
                    <a16:rowId xmlns:a16="http://schemas.microsoft.com/office/drawing/2014/main" val="3619320276"/>
                  </a:ext>
                </a:extLst>
              </a:tr>
            </a:tbl>
          </a:graphicData>
        </a:graphic>
      </p:graphicFrame>
      <p:graphicFrame>
        <p:nvGraphicFramePr>
          <p:cNvPr id="7" name="Table 6">
            <a:extLst>
              <a:ext uri="{FF2B5EF4-FFF2-40B4-BE49-F238E27FC236}">
                <a16:creationId xmlns:a16="http://schemas.microsoft.com/office/drawing/2014/main" id="{395A9E57-F29B-AEAC-6BE5-416C32DD5064}"/>
              </a:ext>
            </a:extLst>
          </p:cNvPr>
          <p:cNvGraphicFramePr>
            <a:graphicFrameLocks noGrp="1"/>
          </p:cNvGraphicFramePr>
          <p:nvPr/>
        </p:nvGraphicFramePr>
        <p:xfrm>
          <a:off x="7156229" y="3183599"/>
          <a:ext cx="3867905" cy="408312"/>
        </p:xfrm>
        <a:graphic>
          <a:graphicData uri="http://schemas.openxmlformats.org/drawingml/2006/table">
            <a:tbl>
              <a:tblPr rtl="1" firstRow="1" firstCol="1" bandRow="1">
                <a:tableStyleId>{5C22544A-7EE6-4342-B048-85BDC9FD1C3A}</a:tableStyleId>
              </a:tblPr>
              <a:tblGrid>
                <a:gridCol w="1828549">
                  <a:extLst>
                    <a:ext uri="{9D8B030D-6E8A-4147-A177-3AD203B41FA5}">
                      <a16:colId xmlns:a16="http://schemas.microsoft.com/office/drawing/2014/main" val="4027008353"/>
                    </a:ext>
                  </a:extLst>
                </a:gridCol>
                <a:gridCol w="2039356">
                  <a:extLst>
                    <a:ext uri="{9D8B030D-6E8A-4147-A177-3AD203B41FA5}">
                      <a16:colId xmlns:a16="http://schemas.microsoft.com/office/drawing/2014/main" val="4101252900"/>
                    </a:ext>
                  </a:extLst>
                </a:gridCol>
              </a:tblGrid>
              <a:tr h="408312">
                <a:tc>
                  <a:txBody>
                    <a:bodyPr/>
                    <a:lstStyle/>
                    <a:p>
                      <a:pPr marL="0" marR="0" algn="ctr" rtl="1">
                        <a:lnSpc>
                          <a:spcPct val="107000"/>
                        </a:lnSpc>
                        <a:spcBef>
                          <a:spcPts val="0"/>
                        </a:spcBef>
                        <a:spcAft>
                          <a:spcPts val="0"/>
                        </a:spcAft>
                      </a:pPr>
                      <a:r>
                        <a:rPr lang="en-US" sz="1200">
                          <a:solidFill>
                            <a:schemeClr val="tx1"/>
                          </a:solidFill>
                          <a:effectLst/>
                          <a:latin typeface="Almarai Light" pitchFamily="2" charset="-78"/>
                          <a:ea typeface="Calibri" panose="020F0502020204030204" pitchFamily="34" charset="0"/>
                          <a:cs typeface="Almarai Light" pitchFamily="2" charset="-78"/>
                        </a:rPr>
                        <a:t>100%</a:t>
                      </a:r>
                    </a:p>
                  </a:txBody>
                  <a:tcPr marL="37652" marR="37652" marT="0" marB="0" anchor="ctr">
                    <a:solidFill>
                      <a:schemeClr val="bg1">
                        <a:lumMod val="95000"/>
                      </a:schemeClr>
                    </a:solidFill>
                  </a:tcPr>
                </a:tc>
                <a:tc>
                  <a:txBody>
                    <a:bodyPr/>
                    <a:lstStyle/>
                    <a:p>
                      <a:pPr marL="0" marR="0" algn="ctr" rtl="1">
                        <a:lnSpc>
                          <a:spcPct val="107000"/>
                        </a:lnSpc>
                        <a:spcBef>
                          <a:spcPts val="0"/>
                        </a:spcBef>
                        <a:spcAft>
                          <a:spcPts val="0"/>
                        </a:spcAft>
                      </a:pPr>
                      <a:r>
                        <a:rPr lang="en-US" sz="1200">
                          <a:solidFill>
                            <a:schemeClr val="tx1"/>
                          </a:solidFill>
                          <a:effectLst/>
                          <a:latin typeface="Almarai Light" pitchFamily="2" charset="-78"/>
                          <a:ea typeface="Calibri" panose="020F0502020204030204" pitchFamily="34" charset="0"/>
                          <a:cs typeface="Almarai Light" pitchFamily="2" charset="-78"/>
                        </a:rPr>
                        <a:t>72%</a:t>
                      </a:r>
                    </a:p>
                  </a:txBody>
                  <a:tcPr marL="37652" marR="37652" marT="0" marB="0" anchor="ctr">
                    <a:solidFill>
                      <a:schemeClr val="bg1">
                        <a:lumMod val="95000"/>
                      </a:schemeClr>
                    </a:solidFill>
                  </a:tcPr>
                </a:tc>
                <a:extLst>
                  <a:ext uri="{0D108BD9-81ED-4DB2-BD59-A6C34878D82A}">
                    <a16:rowId xmlns:a16="http://schemas.microsoft.com/office/drawing/2014/main" val="3810259406"/>
                  </a:ext>
                </a:extLst>
              </a:tr>
            </a:tbl>
          </a:graphicData>
        </a:graphic>
      </p:graphicFrame>
      <p:sp>
        <p:nvSpPr>
          <p:cNvPr id="8" name="TextBox 7">
            <a:extLst>
              <a:ext uri="{FF2B5EF4-FFF2-40B4-BE49-F238E27FC236}">
                <a16:creationId xmlns:a16="http://schemas.microsoft.com/office/drawing/2014/main" id="{5AB87EDA-A47A-9889-D7FE-FD2F94696062}"/>
              </a:ext>
            </a:extLst>
          </p:cNvPr>
          <p:cNvSpPr txBox="1"/>
          <p:nvPr/>
        </p:nvSpPr>
        <p:spPr>
          <a:xfrm>
            <a:off x="4376397" y="3960491"/>
            <a:ext cx="6916637" cy="28713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266" b="0" i="0" u="none" strike="noStrike" kern="1200" cap="none" spc="0" normalizeH="0" baseline="0" noProof="0">
                <a:ln>
                  <a:noFill/>
                </a:ln>
                <a:solidFill>
                  <a:prstClr val="black"/>
                </a:solidFill>
                <a:effectLst/>
                <a:uLnTx/>
                <a:uFillTx/>
                <a:latin typeface="Almarai Bold" pitchFamily="2" charset="-78"/>
                <a:ea typeface="+mn-ea"/>
                <a:cs typeface="Almarai Bold" pitchFamily="2" charset="-78"/>
              </a:rPr>
              <a:t>يتم احتساب اللون لمؤشر الأداء بناء على نتائجه فقد تم تقسيمها الى ثلاث اقسام :</a:t>
            </a:r>
            <a:endParaRPr kumimoji="0" lang="en-US" sz="1266" b="0" i="0" u="none" strike="noStrike" kern="1200" cap="none" spc="0" normalizeH="0" baseline="0" noProof="0">
              <a:ln>
                <a:noFill/>
              </a:ln>
              <a:solidFill>
                <a:prstClr val="black"/>
              </a:solidFill>
              <a:effectLst/>
              <a:uLnTx/>
              <a:uFillTx/>
              <a:latin typeface="Almarai Bold" pitchFamily="2" charset="-78"/>
              <a:ea typeface="+mn-ea"/>
              <a:cs typeface="Almarai Bold" pitchFamily="2" charset="-78"/>
            </a:endParaRPr>
          </a:p>
        </p:txBody>
      </p:sp>
      <p:grpSp>
        <p:nvGrpSpPr>
          <p:cNvPr id="9" name="Group 8">
            <a:extLst>
              <a:ext uri="{FF2B5EF4-FFF2-40B4-BE49-F238E27FC236}">
                <a16:creationId xmlns:a16="http://schemas.microsoft.com/office/drawing/2014/main" id="{EC3972E8-86B2-04EE-040F-3F2BC169291F}"/>
              </a:ext>
            </a:extLst>
          </p:cNvPr>
          <p:cNvGrpSpPr/>
          <p:nvPr/>
        </p:nvGrpSpPr>
        <p:grpSpPr>
          <a:xfrm>
            <a:off x="2879747" y="4530780"/>
            <a:ext cx="7171628" cy="893571"/>
            <a:chOff x="2537324" y="7419582"/>
            <a:chExt cx="8704293" cy="1270856"/>
          </a:xfrm>
        </p:grpSpPr>
        <p:sp>
          <p:nvSpPr>
            <p:cNvPr id="10" name="TextBox 9">
              <a:extLst>
                <a:ext uri="{FF2B5EF4-FFF2-40B4-BE49-F238E27FC236}">
                  <a16:creationId xmlns:a16="http://schemas.microsoft.com/office/drawing/2014/main" id="{BA238D14-9DD8-9F7F-2937-6C77BE90F080}"/>
                </a:ext>
              </a:extLst>
            </p:cNvPr>
            <p:cNvSpPr txBox="1"/>
            <p:nvPr/>
          </p:nvSpPr>
          <p:spPr>
            <a:xfrm>
              <a:off x="3131396" y="7420481"/>
              <a:ext cx="771526" cy="40836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ar-SA" sz="1266" b="0" i="0" u="none" strike="noStrike" kern="1200" cap="none" spc="0" normalizeH="0" baseline="0" noProof="0">
                  <a:ln>
                    <a:noFill/>
                  </a:ln>
                  <a:solidFill>
                    <a:srgbClr val="231F20"/>
                  </a:solidFill>
                  <a:effectLst/>
                  <a:uLnTx/>
                  <a:uFillTx/>
                  <a:latin typeface="STC Regular" panose="01000500000000020006" pitchFamily="2" charset="-78"/>
                  <a:ea typeface="+mn-ea"/>
                  <a:cs typeface="STC Regular" panose="01000500000000020006" pitchFamily="2" charset="-78"/>
                </a:rPr>
                <a:t>90%</a:t>
              </a:r>
              <a:endParaRPr kumimoji="0" lang="en-US" sz="1266" b="0" i="0" u="none" strike="noStrike" kern="1200" cap="none" spc="0" normalizeH="0" baseline="0" noProof="0">
                <a:ln>
                  <a:noFill/>
                </a:ln>
                <a:solidFill>
                  <a:srgbClr val="231F20"/>
                </a:solidFill>
                <a:effectLst/>
                <a:uLnTx/>
                <a:uFillTx/>
                <a:latin typeface="STC Regular" panose="01000500000000020006" pitchFamily="2" charset="-78"/>
                <a:ea typeface="+mn-ea"/>
                <a:cs typeface="STC Regular" panose="01000500000000020006" pitchFamily="2" charset="-78"/>
              </a:endParaRPr>
            </a:p>
          </p:txBody>
        </p:sp>
        <p:sp>
          <p:nvSpPr>
            <p:cNvPr id="11" name="TextBox 10">
              <a:extLst>
                <a:ext uri="{FF2B5EF4-FFF2-40B4-BE49-F238E27FC236}">
                  <a16:creationId xmlns:a16="http://schemas.microsoft.com/office/drawing/2014/main" id="{BFDF706F-B46D-968F-B792-E869BC5297F8}"/>
                </a:ext>
              </a:extLst>
            </p:cNvPr>
            <p:cNvSpPr txBox="1"/>
            <p:nvPr/>
          </p:nvSpPr>
          <p:spPr>
            <a:xfrm>
              <a:off x="5470736" y="7419582"/>
              <a:ext cx="771526" cy="40836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ar-SA" sz="1266" b="0" i="0" u="none" strike="noStrike" kern="1200" cap="none" spc="0" normalizeH="0" baseline="0" noProof="0">
                  <a:ln>
                    <a:noFill/>
                  </a:ln>
                  <a:solidFill>
                    <a:srgbClr val="231F20"/>
                  </a:solidFill>
                  <a:effectLst/>
                  <a:uLnTx/>
                  <a:uFillTx/>
                  <a:latin typeface="STC Regular" panose="01000500000000020006" pitchFamily="2" charset="-78"/>
                  <a:ea typeface="+mn-ea"/>
                  <a:cs typeface="STC Regular" panose="01000500000000020006" pitchFamily="2" charset="-78"/>
                </a:rPr>
                <a:t>75%</a:t>
              </a:r>
              <a:endParaRPr kumimoji="0" lang="en-US" sz="1266" b="0" i="0" u="none" strike="noStrike" kern="1200" cap="none" spc="0" normalizeH="0" baseline="0" noProof="0">
                <a:ln>
                  <a:noFill/>
                </a:ln>
                <a:solidFill>
                  <a:srgbClr val="231F20"/>
                </a:solidFill>
                <a:effectLst/>
                <a:uLnTx/>
                <a:uFillTx/>
                <a:latin typeface="STC Regular" panose="01000500000000020006" pitchFamily="2" charset="-78"/>
                <a:ea typeface="+mn-ea"/>
                <a:cs typeface="STC Regular" panose="01000500000000020006" pitchFamily="2" charset="-78"/>
              </a:endParaRPr>
            </a:p>
          </p:txBody>
        </p:sp>
        <p:sp>
          <p:nvSpPr>
            <p:cNvPr id="12" name="TextBox 11">
              <a:extLst>
                <a:ext uri="{FF2B5EF4-FFF2-40B4-BE49-F238E27FC236}">
                  <a16:creationId xmlns:a16="http://schemas.microsoft.com/office/drawing/2014/main" id="{3513E93F-16CF-FBAF-C528-94669C36B3F6}"/>
                </a:ext>
              </a:extLst>
            </p:cNvPr>
            <p:cNvSpPr txBox="1"/>
            <p:nvPr/>
          </p:nvSpPr>
          <p:spPr>
            <a:xfrm>
              <a:off x="10470091" y="7420481"/>
              <a:ext cx="771526" cy="40836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ar-SA" sz="1266" b="0" i="0" u="none" strike="noStrike" kern="1200" cap="none" spc="0" normalizeH="0" baseline="0" noProof="0">
                  <a:ln>
                    <a:noFill/>
                  </a:ln>
                  <a:solidFill>
                    <a:srgbClr val="231F20"/>
                  </a:solidFill>
                  <a:effectLst/>
                  <a:uLnTx/>
                  <a:uFillTx/>
                  <a:latin typeface="STC Regular" panose="01000500000000020006" pitchFamily="2" charset="-78"/>
                  <a:ea typeface="+mn-ea"/>
                  <a:cs typeface="STC Regular" panose="01000500000000020006" pitchFamily="2" charset="-78"/>
                </a:rPr>
                <a:t>0%</a:t>
              </a:r>
              <a:endParaRPr kumimoji="0" lang="en-US" sz="1266" b="0" i="0" u="none" strike="noStrike" kern="1200" cap="none" spc="0" normalizeH="0" baseline="0" noProof="0">
                <a:ln>
                  <a:noFill/>
                </a:ln>
                <a:solidFill>
                  <a:srgbClr val="231F20"/>
                </a:solidFill>
                <a:effectLst/>
                <a:uLnTx/>
                <a:uFillTx/>
                <a:latin typeface="STC Regular" panose="01000500000000020006" pitchFamily="2" charset="-78"/>
                <a:ea typeface="+mn-ea"/>
                <a:cs typeface="STC Regular" panose="01000500000000020006" pitchFamily="2" charset="-78"/>
              </a:endParaRPr>
            </a:p>
          </p:txBody>
        </p:sp>
        <p:cxnSp>
          <p:nvCxnSpPr>
            <p:cNvPr id="13" name="Straight Connector 12">
              <a:extLst>
                <a:ext uri="{FF2B5EF4-FFF2-40B4-BE49-F238E27FC236}">
                  <a16:creationId xmlns:a16="http://schemas.microsoft.com/office/drawing/2014/main" id="{4BDEFB53-37BF-C254-93B5-D3A93A1B91A4}"/>
                </a:ext>
              </a:extLst>
            </p:cNvPr>
            <p:cNvCxnSpPr>
              <a:stCxn id="10" idx="2"/>
            </p:cNvCxnSpPr>
            <p:nvPr/>
          </p:nvCxnSpPr>
          <p:spPr>
            <a:xfrm flipH="1">
              <a:off x="3512609" y="7828843"/>
              <a:ext cx="4551" cy="503626"/>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66278FD-BDB4-82C6-094C-DF97C066C880}"/>
                </a:ext>
              </a:extLst>
            </p:cNvPr>
            <p:cNvCxnSpPr/>
            <p:nvPr/>
          </p:nvCxnSpPr>
          <p:spPr>
            <a:xfrm flipH="1">
              <a:off x="5851947" y="7882146"/>
              <a:ext cx="4551" cy="450324"/>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BE68DF-8648-46EA-C57D-492AACD15554}"/>
                </a:ext>
              </a:extLst>
            </p:cNvPr>
            <p:cNvCxnSpPr/>
            <p:nvPr/>
          </p:nvCxnSpPr>
          <p:spPr>
            <a:xfrm flipH="1">
              <a:off x="10886332" y="7881247"/>
              <a:ext cx="4551" cy="450324"/>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B2B96127-44A2-66C3-3E66-85E54FC14BB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537324" y="8245429"/>
              <a:ext cx="8558802" cy="445009"/>
            </a:xfrm>
            <a:prstGeom prst="rect">
              <a:avLst/>
            </a:prstGeom>
          </p:spPr>
        </p:pic>
      </p:grpSp>
      <p:sp>
        <p:nvSpPr>
          <p:cNvPr id="17" name="TextBox 16">
            <a:extLst>
              <a:ext uri="{FF2B5EF4-FFF2-40B4-BE49-F238E27FC236}">
                <a16:creationId xmlns:a16="http://schemas.microsoft.com/office/drawing/2014/main" id="{790A6C1D-E507-45B3-3640-B31EDED745F6}"/>
              </a:ext>
            </a:extLst>
          </p:cNvPr>
          <p:cNvSpPr txBox="1"/>
          <p:nvPr/>
        </p:nvSpPr>
        <p:spPr>
          <a:xfrm>
            <a:off x="7117729" y="5120363"/>
            <a:ext cx="131052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dirty="0">
                <a:ln>
                  <a:noFill/>
                </a:ln>
                <a:solidFill>
                  <a:prstClr val="white"/>
                </a:solidFill>
                <a:effectLst/>
                <a:uLnTx/>
                <a:uFillTx/>
                <a:latin typeface="STC Regular" panose="01000500000000020006" pitchFamily="2" charset="-78"/>
                <a:ea typeface="+mn-ea"/>
                <a:cs typeface="STC Regular" panose="01000500000000020006" pitchFamily="2" charset="-78"/>
              </a:rPr>
              <a:t>0% الى 74%</a:t>
            </a:r>
            <a:endParaRPr kumimoji="0" lang="en-US" sz="1100" b="0" i="0" u="none" strike="noStrike" kern="1200" cap="none" spc="0" normalizeH="0" baseline="0" noProof="0" dirty="0">
              <a:ln>
                <a:noFill/>
              </a:ln>
              <a:solidFill>
                <a:prstClr val="white"/>
              </a:solidFill>
              <a:effectLst/>
              <a:uLnTx/>
              <a:uFillTx/>
              <a:latin typeface="STC Regular" panose="01000500000000020006" pitchFamily="2" charset="-78"/>
              <a:ea typeface="+mn-ea"/>
              <a:cs typeface="STC Regular" panose="01000500000000020006" pitchFamily="2" charset="-78"/>
            </a:endParaRPr>
          </a:p>
        </p:txBody>
      </p:sp>
      <p:sp>
        <p:nvSpPr>
          <p:cNvPr id="18" name="TextBox 17">
            <a:extLst>
              <a:ext uri="{FF2B5EF4-FFF2-40B4-BE49-F238E27FC236}">
                <a16:creationId xmlns:a16="http://schemas.microsoft.com/office/drawing/2014/main" id="{3BB18A50-D98C-5160-3D22-806EDAFDFB1D}"/>
              </a:ext>
            </a:extLst>
          </p:cNvPr>
          <p:cNvSpPr txBox="1"/>
          <p:nvPr/>
        </p:nvSpPr>
        <p:spPr>
          <a:xfrm>
            <a:off x="4060236" y="5120363"/>
            <a:ext cx="131052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dirty="0">
                <a:ln>
                  <a:noFill/>
                </a:ln>
                <a:solidFill>
                  <a:prstClr val="white"/>
                </a:solidFill>
                <a:effectLst/>
                <a:uLnTx/>
                <a:uFillTx/>
                <a:latin typeface="STC Regular" panose="01000500000000020006" pitchFamily="2" charset="-78"/>
                <a:ea typeface="+mn-ea"/>
                <a:cs typeface="STC Regular" panose="01000500000000020006" pitchFamily="2" charset="-78"/>
              </a:rPr>
              <a:t>75% الى 89%</a:t>
            </a:r>
            <a:endParaRPr kumimoji="0" lang="en-US" sz="1100" b="0" i="0" u="none" strike="noStrike" kern="1200" cap="none" spc="0" normalizeH="0" baseline="0" noProof="0" dirty="0">
              <a:ln>
                <a:noFill/>
              </a:ln>
              <a:solidFill>
                <a:prstClr val="white"/>
              </a:solidFill>
              <a:effectLst/>
              <a:uLnTx/>
              <a:uFillTx/>
              <a:latin typeface="STC Regular" panose="01000500000000020006" pitchFamily="2" charset="-78"/>
              <a:ea typeface="+mn-ea"/>
              <a:cs typeface="STC Regular" panose="01000500000000020006" pitchFamily="2" charset="-78"/>
            </a:endParaRPr>
          </a:p>
        </p:txBody>
      </p:sp>
      <p:sp>
        <p:nvSpPr>
          <p:cNvPr id="19" name="TextBox 18">
            <a:extLst>
              <a:ext uri="{FF2B5EF4-FFF2-40B4-BE49-F238E27FC236}">
                <a16:creationId xmlns:a16="http://schemas.microsoft.com/office/drawing/2014/main" id="{8F6026CE-4E43-2E17-210A-0CB94875FA46}"/>
              </a:ext>
            </a:extLst>
          </p:cNvPr>
          <p:cNvSpPr txBox="1"/>
          <p:nvPr/>
        </p:nvSpPr>
        <p:spPr>
          <a:xfrm>
            <a:off x="2785489" y="5133123"/>
            <a:ext cx="101186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dirty="0">
                <a:ln>
                  <a:noFill/>
                </a:ln>
                <a:solidFill>
                  <a:prstClr val="white"/>
                </a:solidFill>
                <a:effectLst/>
                <a:uLnTx/>
                <a:uFillTx/>
                <a:latin typeface="STC Regular" panose="01000500000000020006" pitchFamily="2" charset="-78"/>
                <a:ea typeface="+mn-ea"/>
                <a:cs typeface="STC Regular" panose="01000500000000020006" pitchFamily="2" charset="-78"/>
              </a:rPr>
              <a:t>90% الى 100%</a:t>
            </a:r>
            <a:endParaRPr kumimoji="0" lang="en-US" sz="1000" b="0" i="0" u="none" strike="noStrike" kern="1200" cap="none" spc="0" normalizeH="0" baseline="0" noProof="0" dirty="0">
              <a:ln>
                <a:noFill/>
              </a:ln>
              <a:solidFill>
                <a:prstClr val="white"/>
              </a:solidFill>
              <a:effectLst/>
              <a:uLnTx/>
              <a:uFillTx/>
              <a:latin typeface="STC Regular" panose="01000500000000020006" pitchFamily="2" charset="-78"/>
              <a:ea typeface="+mn-ea"/>
              <a:cs typeface="STC Regular" panose="01000500000000020006" pitchFamily="2" charset="-78"/>
            </a:endParaRPr>
          </a:p>
        </p:txBody>
      </p:sp>
      <p:pic>
        <p:nvPicPr>
          <p:cNvPr id="37" name="Picture 36" descr="A picture containing graphical user interface&#10;&#10;Description automatically generated">
            <a:extLst>
              <a:ext uri="{FF2B5EF4-FFF2-40B4-BE49-F238E27FC236}">
                <a16:creationId xmlns:a16="http://schemas.microsoft.com/office/drawing/2014/main" id="{76FCB6AB-E008-79E7-B69A-2D2540EEAB18}"/>
              </a:ext>
            </a:extLst>
          </p:cNvPr>
          <p:cNvPicPr>
            <a:picLocks noChangeAspect="1"/>
          </p:cNvPicPr>
          <p:nvPr/>
        </p:nvPicPr>
        <p:blipFill rotWithShape="1">
          <a:blip r:embed="rId3"/>
          <a:srcRect l="23677"/>
          <a:stretch/>
        </p:blipFill>
        <p:spPr>
          <a:xfrm>
            <a:off x="0" y="5638004"/>
            <a:ext cx="5382126" cy="1168996"/>
          </a:xfrm>
          <a:prstGeom prst="rect">
            <a:avLst/>
          </a:prstGeom>
        </p:spPr>
      </p:pic>
      <p:pic>
        <p:nvPicPr>
          <p:cNvPr id="2" name="Picture 1" descr="Text&#10;&#10;Description automatically generated with medium confidence">
            <a:extLst>
              <a:ext uri="{FF2B5EF4-FFF2-40B4-BE49-F238E27FC236}">
                <a16:creationId xmlns:a16="http://schemas.microsoft.com/office/drawing/2014/main" id="{708CF958-A950-74F9-1C79-D970696B153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3863" t="1" b="-21"/>
          <a:stretch/>
        </p:blipFill>
        <p:spPr>
          <a:xfrm>
            <a:off x="112358" y="84607"/>
            <a:ext cx="819076" cy="631548"/>
          </a:xfrm>
          <a:prstGeom prst="rect">
            <a:avLst/>
          </a:prstGeom>
        </p:spPr>
      </p:pic>
      <p:pic>
        <p:nvPicPr>
          <p:cNvPr id="3" name="Picture 2">
            <a:extLst>
              <a:ext uri="{FF2B5EF4-FFF2-40B4-BE49-F238E27FC236}">
                <a16:creationId xmlns:a16="http://schemas.microsoft.com/office/drawing/2014/main" id="{C6FDC266-05DC-B683-C760-B819DFE0AC0D}"/>
              </a:ext>
            </a:extLst>
          </p:cNvPr>
          <p:cNvPicPr>
            <a:picLocks noChangeAspect="1"/>
          </p:cNvPicPr>
          <p:nvPr/>
        </p:nvPicPr>
        <p:blipFill>
          <a:blip r:embed="rId5"/>
          <a:stretch>
            <a:fillRect/>
          </a:stretch>
        </p:blipFill>
        <p:spPr>
          <a:xfrm>
            <a:off x="9504246" y="716155"/>
            <a:ext cx="2687754" cy="71435"/>
          </a:xfrm>
          <a:prstGeom prst="rect">
            <a:avLst/>
          </a:prstGeom>
        </p:spPr>
      </p:pic>
      <p:sp>
        <p:nvSpPr>
          <p:cNvPr id="5" name="Rectangle 4">
            <a:extLst>
              <a:ext uri="{FF2B5EF4-FFF2-40B4-BE49-F238E27FC236}">
                <a16:creationId xmlns:a16="http://schemas.microsoft.com/office/drawing/2014/main" id="{06582786-E643-D3BB-782A-7487ACC00A41}"/>
              </a:ext>
            </a:extLst>
          </p:cNvPr>
          <p:cNvSpPr/>
          <p:nvPr/>
        </p:nvSpPr>
        <p:spPr>
          <a:xfrm>
            <a:off x="9411023" y="136902"/>
            <a:ext cx="2687754" cy="509050"/>
          </a:xfrm>
          <a:prstGeom prst="rect">
            <a:avLst/>
          </a:prstGeom>
        </p:spPr>
        <p:txBody>
          <a:bodyPr wrap="square" anchor="ctr">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ar-SA" sz="1969" b="1" i="0" u="none" strike="noStrike" kern="1200" cap="none" spc="0" normalizeH="0" baseline="0" noProof="0">
                <a:ln>
                  <a:noFill/>
                </a:ln>
                <a:solidFill>
                  <a:srgbClr val="002959"/>
                </a:solidFill>
                <a:effectLst/>
                <a:uLnTx/>
                <a:uFillTx/>
                <a:latin typeface="Almarai Bold" pitchFamily="2" charset="-78"/>
                <a:ea typeface="+mn-ea"/>
                <a:cs typeface="Almarai Bold" pitchFamily="2" charset="-78"/>
              </a:rPr>
              <a:t>طريقة احتساب النتائج</a:t>
            </a:r>
          </a:p>
        </p:txBody>
      </p:sp>
    </p:spTree>
    <p:extLst>
      <p:ext uri="{BB962C8B-B14F-4D97-AF65-F5344CB8AC3E}">
        <p14:creationId xmlns:p14="http://schemas.microsoft.com/office/powerpoint/2010/main" val="2731639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021B34-032E-32B7-121C-DF621E6A093C}"/>
              </a:ext>
            </a:extLst>
          </p:cNvPr>
          <p:cNvSpPr/>
          <p:nvPr/>
        </p:nvSpPr>
        <p:spPr>
          <a:xfrm>
            <a:off x="7934086" y="1135278"/>
            <a:ext cx="2492613" cy="2027023"/>
          </a:xfrm>
          <a:prstGeom prst="rect">
            <a:avLst/>
          </a:prstGeom>
          <a:solidFill>
            <a:srgbClr val="C6D2DD">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47DDF493-C41A-8BBE-D574-2C0584A699B3}"/>
              </a:ext>
            </a:extLst>
          </p:cNvPr>
          <p:cNvSpPr/>
          <p:nvPr/>
        </p:nvSpPr>
        <p:spPr>
          <a:xfrm>
            <a:off x="7934086" y="3497477"/>
            <a:ext cx="2492613" cy="2027023"/>
          </a:xfrm>
          <a:prstGeom prst="rect">
            <a:avLst/>
          </a:prstGeom>
          <a:solidFill>
            <a:srgbClr val="C6D2DD">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5" name="Picture 34" descr="A picture containing graphical user interface&#10;&#10;Description automatically generated">
            <a:extLst>
              <a:ext uri="{FF2B5EF4-FFF2-40B4-BE49-F238E27FC236}">
                <a16:creationId xmlns:a16="http://schemas.microsoft.com/office/drawing/2014/main" id="{40A1B7B5-91B5-C9ED-651A-BED1E2E29866}"/>
              </a:ext>
            </a:extLst>
          </p:cNvPr>
          <p:cNvPicPr>
            <a:picLocks noChangeAspect="1"/>
          </p:cNvPicPr>
          <p:nvPr/>
        </p:nvPicPr>
        <p:blipFill rotWithShape="1">
          <a:blip r:embed="rId2"/>
          <a:srcRect l="23677"/>
          <a:stretch/>
        </p:blipFill>
        <p:spPr>
          <a:xfrm>
            <a:off x="3821" y="5597499"/>
            <a:ext cx="5382126" cy="1168996"/>
          </a:xfrm>
          <a:prstGeom prst="rect">
            <a:avLst/>
          </a:prstGeom>
        </p:spPr>
      </p:pic>
      <p:sp>
        <p:nvSpPr>
          <p:cNvPr id="37" name="Rectangle 36">
            <a:extLst>
              <a:ext uri="{FF2B5EF4-FFF2-40B4-BE49-F238E27FC236}">
                <a16:creationId xmlns:a16="http://schemas.microsoft.com/office/drawing/2014/main" id="{AD31F5E8-B6C0-2FF5-1A94-93F80AB3931E}"/>
              </a:ext>
            </a:extLst>
          </p:cNvPr>
          <p:cNvSpPr/>
          <p:nvPr/>
        </p:nvSpPr>
        <p:spPr>
          <a:xfrm>
            <a:off x="5114686" y="1135278"/>
            <a:ext cx="2492613" cy="2027023"/>
          </a:xfrm>
          <a:prstGeom prst="rect">
            <a:avLst/>
          </a:prstGeom>
          <a:solidFill>
            <a:srgbClr val="EC654C">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6A9DAFB2-DFC7-2025-EEDF-6F6EA4C4DFBF}"/>
              </a:ext>
            </a:extLst>
          </p:cNvPr>
          <p:cNvSpPr/>
          <p:nvPr/>
        </p:nvSpPr>
        <p:spPr>
          <a:xfrm>
            <a:off x="5114686" y="3497477"/>
            <a:ext cx="2492613" cy="2027023"/>
          </a:xfrm>
          <a:prstGeom prst="rect">
            <a:avLst/>
          </a:prstGeom>
          <a:solidFill>
            <a:srgbClr val="EC654C">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D719FE58-2102-7BE1-4982-A70A8ED20F41}"/>
              </a:ext>
            </a:extLst>
          </p:cNvPr>
          <p:cNvSpPr/>
          <p:nvPr/>
        </p:nvSpPr>
        <p:spPr>
          <a:xfrm>
            <a:off x="2204679" y="1135278"/>
            <a:ext cx="2492613" cy="2027023"/>
          </a:xfrm>
          <a:prstGeom prst="rect">
            <a:avLst/>
          </a:prstGeom>
          <a:solidFill>
            <a:srgbClr val="002060">
              <a:alpha val="34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CC12424D-4A25-F7ED-F4AA-C8D12A0BCFD0}"/>
              </a:ext>
            </a:extLst>
          </p:cNvPr>
          <p:cNvSpPr/>
          <p:nvPr/>
        </p:nvSpPr>
        <p:spPr>
          <a:xfrm>
            <a:off x="2204679" y="3497477"/>
            <a:ext cx="2492613" cy="2027023"/>
          </a:xfrm>
          <a:prstGeom prst="rect">
            <a:avLst/>
          </a:prstGeom>
          <a:solidFill>
            <a:srgbClr val="002060">
              <a:alpha val="34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TextBox 40">
            <a:extLst>
              <a:ext uri="{FF2B5EF4-FFF2-40B4-BE49-F238E27FC236}">
                <a16:creationId xmlns:a16="http://schemas.microsoft.com/office/drawing/2014/main" id="{4E487FA1-EF6B-93C8-7EB3-31AA709509F2}"/>
              </a:ext>
            </a:extLst>
          </p:cNvPr>
          <p:cNvSpPr txBox="1"/>
          <p:nvPr/>
        </p:nvSpPr>
        <p:spPr>
          <a:xfrm>
            <a:off x="8020211" y="2194230"/>
            <a:ext cx="2492612" cy="646331"/>
          </a:xfrm>
          <a:prstGeom prst="rect">
            <a:avLst/>
          </a:prstGeom>
          <a:noFill/>
        </p:spPr>
        <p:txBody>
          <a:bodyPr wrap="square">
            <a:spAutoFit/>
          </a:bodyPr>
          <a:lstStyle/>
          <a:p>
            <a:pPr marL="182880" marR="0" lvl="1" indent="0" algn="justLow" defTabSz="914400" rtl="1" eaLnBrk="1" fontAlgn="ctr"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a:ln>
                  <a:noFill/>
                </a:ln>
                <a:solidFill>
                  <a:prstClr val="black"/>
                </a:solidFill>
                <a:effectLst/>
                <a:uLnTx/>
                <a:uFillTx/>
                <a:latin typeface="Almarai Bold" pitchFamily="2" charset="-78"/>
                <a:ea typeface="+mn-ea"/>
                <a:cs typeface="Almarai Bold" pitchFamily="2" charset="-78"/>
              </a:rPr>
              <a:t>تطبيق وتحسين جودة العمليات الداخلية</a:t>
            </a:r>
            <a:r>
              <a:rPr kumimoji="0" lang="en-US" sz="1800" b="0" i="0" u="none" strike="noStrike" kern="1200" cap="none" spc="0" normalizeH="0" baseline="0" noProof="0">
                <a:ln>
                  <a:noFill/>
                </a:ln>
                <a:solidFill>
                  <a:prstClr val="black"/>
                </a:solidFill>
                <a:effectLst/>
                <a:uLnTx/>
                <a:uFillTx/>
                <a:latin typeface="Almarai Bold" pitchFamily="2" charset="-78"/>
                <a:ea typeface="+mn-ea"/>
                <a:cs typeface="Almarai Bold" pitchFamily="2" charset="-78"/>
              </a:rPr>
              <a:t> </a:t>
            </a:r>
            <a:endParaRPr kumimoji="0" lang="ar-SA" sz="1800" b="0" i="0" u="none" strike="noStrike" kern="1200" cap="none" spc="0" normalizeH="0" baseline="0" noProof="0">
              <a:ln>
                <a:noFill/>
              </a:ln>
              <a:solidFill>
                <a:prstClr val="black"/>
              </a:solidFill>
              <a:effectLst/>
              <a:uLnTx/>
              <a:uFillTx/>
              <a:latin typeface="Almarai Bold" pitchFamily="2" charset="-78"/>
              <a:ea typeface="+mn-ea"/>
              <a:cs typeface="Almarai Bold" pitchFamily="2" charset="-78"/>
            </a:endParaRPr>
          </a:p>
        </p:txBody>
      </p:sp>
      <p:sp>
        <p:nvSpPr>
          <p:cNvPr id="42" name="TextBox 41">
            <a:extLst>
              <a:ext uri="{FF2B5EF4-FFF2-40B4-BE49-F238E27FC236}">
                <a16:creationId xmlns:a16="http://schemas.microsoft.com/office/drawing/2014/main" id="{A6F41FD9-0838-FACC-05D1-42B48F8A9918}"/>
              </a:ext>
            </a:extLst>
          </p:cNvPr>
          <p:cNvSpPr txBox="1"/>
          <p:nvPr/>
        </p:nvSpPr>
        <p:spPr>
          <a:xfrm>
            <a:off x="5200812" y="2194230"/>
            <a:ext cx="2492612" cy="923330"/>
          </a:xfrm>
          <a:prstGeom prst="rect">
            <a:avLst/>
          </a:prstGeom>
          <a:noFill/>
        </p:spPr>
        <p:txBody>
          <a:bodyPr wrap="square">
            <a:spAutoFit/>
          </a:bodyPr>
          <a:lstStyle/>
          <a:p>
            <a:pPr marL="182880" marR="0" lvl="1" indent="0" algn="justLow" defTabSz="914400" rtl="1" eaLnBrk="1" fontAlgn="ctr"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a:ln>
                  <a:noFill/>
                </a:ln>
                <a:solidFill>
                  <a:prstClr val="black"/>
                </a:solidFill>
                <a:effectLst/>
                <a:uLnTx/>
                <a:uFillTx/>
                <a:latin typeface="Almarai Bold" pitchFamily="2" charset="-78"/>
                <a:ea typeface="+mn-ea"/>
                <a:cs typeface="Almarai Bold" pitchFamily="2" charset="-78"/>
              </a:rPr>
              <a:t>رفع مستوى جودة الخدمة والأمن والسلامة</a:t>
            </a:r>
          </a:p>
        </p:txBody>
      </p:sp>
      <p:sp>
        <p:nvSpPr>
          <p:cNvPr id="43" name="TextBox 42">
            <a:extLst>
              <a:ext uri="{FF2B5EF4-FFF2-40B4-BE49-F238E27FC236}">
                <a16:creationId xmlns:a16="http://schemas.microsoft.com/office/drawing/2014/main" id="{AD885A9B-E6DA-153A-0391-C01C83F3C129}"/>
              </a:ext>
            </a:extLst>
          </p:cNvPr>
          <p:cNvSpPr txBox="1"/>
          <p:nvPr/>
        </p:nvSpPr>
        <p:spPr>
          <a:xfrm>
            <a:off x="2300728" y="2194230"/>
            <a:ext cx="2148114" cy="369332"/>
          </a:xfrm>
          <a:prstGeom prst="rect">
            <a:avLst/>
          </a:prstGeom>
          <a:noFill/>
        </p:spPr>
        <p:txBody>
          <a:bodyPr wrap="square">
            <a:spAutoFit/>
          </a:bodyPr>
          <a:lstStyle/>
          <a:p>
            <a:pPr marL="182880" marR="0" lvl="1" indent="0" algn="justLow" defTabSz="914400" rtl="1" eaLnBrk="1" fontAlgn="ctr"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a:ln>
                  <a:noFill/>
                </a:ln>
                <a:solidFill>
                  <a:prstClr val="black"/>
                </a:solidFill>
                <a:effectLst/>
                <a:uLnTx/>
                <a:uFillTx/>
                <a:latin typeface="Almarai Bold" pitchFamily="2" charset="-78"/>
                <a:ea typeface="+mn-ea"/>
                <a:cs typeface="Almarai Bold" pitchFamily="2" charset="-78"/>
              </a:rPr>
              <a:t>تخفيض التكاليف</a:t>
            </a:r>
          </a:p>
        </p:txBody>
      </p:sp>
      <p:sp>
        <p:nvSpPr>
          <p:cNvPr id="44" name="TextBox 43">
            <a:extLst>
              <a:ext uri="{FF2B5EF4-FFF2-40B4-BE49-F238E27FC236}">
                <a16:creationId xmlns:a16="http://schemas.microsoft.com/office/drawing/2014/main" id="{864B5E36-950D-4C15-C662-D5B19343F2A5}"/>
              </a:ext>
            </a:extLst>
          </p:cNvPr>
          <p:cNvSpPr txBox="1"/>
          <p:nvPr/>
        </p:nvSpPr>
        <p:spPr>
          <a:xfrm>
            <a:off x="7911272" y="4536388"/>
            <a:ext cx="2155104" cy="369332"/>
          </a:xfrm>
          <a:prstGeom prst="rect">
            <a:avLst/>
          </a:prstGeom>
          <a:noFill/>
        </p:spPr>
        <p:txBody>
          <a:bodyPr wrap="square">
            <a:spAutoFit/>
          </a:bodyPr>
          <a:lstStyle/>
          <a:p>
            <a:pPr marL="182880" marR="0" lvl="1" indent="0" algn="justLow" defTabSz="914400" rtl="1" eaLnBrk="1" fontAlgn="ctr"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a:ln>
                  <a:noFill/>
                </a:ln>
                <a:solidFill>
                  <a:prstClr val="black"/>
                </a:solidFill>
                <a:effectLst/>
                <a:uLnTx/>
                <a:uFillTx/>
                <a:latin typeface="Almarai Bold" pitchFamily="2" charset="-78"/>
                <a:ea typeface="+mn-ea"/>
                <a:cs typeface="Almarai Bold" pitchFamily="2" charset="-78"/>
              </a:rPr>
              <a:t>زيادة الربحية </a:t>
            </a:r>
          </a:p>
        </p:txBody>
      </p:sp>
      <p:sp>
        <p:nvSpPr>
          <p:cNvPr id="45" name="TextBox 44">
            <a:extLst>
              <a:ext uri="{FF2B5EF4-FFF2-40B4-BE49-F238E27FC236}">
                <a16:creationId xmlns:a16="http://schemas.microsoft.com/office/drawing/2014/main" id="{DA5406BC-6C16-2395-6B94-EC8224BB2A49}"/>
              </a:ext>
            </a:extLst>
          </p:cNvPr>
          <p:cNvSpPr txBox="1"/>
          <p:nvPr/>
        </p:nvSpPr>
        <p:spPr>
          <a:xfrm>
            <a:off x="5235697" y="4510988"/>
            <a:ext cx="2457727" cy="923330"/>
          </a:xfrm>
          <a:prstGeom prst="rect">
            <a:avLst/>
          </a:prstGeom>
          <a:noFill/>
        </p:spPr>
        <p:txBody>
          <a:bodyPr wrap="square">
            <a:spAutoFit/>
          </a:bodyPr>
          <a:lstStyle/>
          <a:p>
            <a:pPr marL="182880" marR="0" lvl="1" indent="0" algn="justLow" defTabSz="914400" rtl="1" eaLnBrk="1" fontAlgn="ctr"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a:ln>
                  <a:noFill/>
                </a:ln>
                <a:solidFill>
                  <a:prstClr val="black"/>
                </a:solidFill>
                <a:effectLst/>
                <a:uLnTx/>
                <a:uFillTx/>
                <a:latin typeface="Almarai Bold" pitchFamily="2" charset="-78"/>
                <a:ea typeface="+mn-ea"/>
                <a:cs typeface="Almarai Bold" pitchFamily="2" charset="-78"/>
              </a:rPr>
              <a:t>تطوير بيئة العمل الداخلية والقدرات البشرية</a:t>
            </a:r>
          </a:p>
        </p:txBody>
      </p:sp>
      <p:sp>
        <p:nvSpPr>
          <p:cNvPr id="46" name="TextBox 45">
            <a:extLst>
              <a:ext uri="{FF2B5EF4-FFF2-40B4-BE49-F238E27FC236}">
                <a16:creationId xmlns:a16="http://schemas.microsoft.com/office/drawing/2014/main" id="{B76F8CAB-B09A-18C1-EDD7-B0C906A35AF1}"/>
              </a:ext>
            </a:extLst>
          </p:cNvPr>
          <p:cNvSpPr txBox="1"/>
          <p:nvPr/>
        </p:nvSpPr>
        <p:spPr>
          <a:xfrm>
            <a:off x="2412411" y="4510988"/>
            <a:ext cx="2375488" cy="923330"/>
          </a:xfrm>
          <a:prstGeom prst="rect">
            <a:avLst/>
          </a:prstGeom>
          <a:noFill/>
        </p:spPr>
        <p:txBody>
          <a:bodyPr wrap="square">
            <a:spAutoFit/>
          </a:bodyPr>
          <a:lstStyle/>
          <a:p>
            <a:pPr marL="182880" marR="0" lvl="1" indent="0" algn="justLow" defTabSz="914400" rtl="1" eaLnBrk="1" fontAlgn="ctr"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a:ln>
                  <a:noFill/>
                </a:ln>
                <a:solidFill>
                  <a:prstClr val="black"/>
                </a:solidFill>
                <a:effectLst/>
                <a:uLnTx/>
                <a:uFillTx/>
                <a:latin typeface="Almarai Bold" pitchFamily="2" charset="-78"/>
                <a:ea typeface="+mn-ea"/>
                <a:cs typeface="Almarai Bold" pitchFamily="2" charset="-78"/>
              </a:rPr>
              <a:t>تحسين سمعة الشركة وتعزيز علامتها التجارية</a:t>
            </a:r>
          </a:p>
        </p:txBody>
      </p:sp>
      <p:pic>
        <p:nvPicPr>
          <p:cNvPr id="48" name="Picture 47" descr="A picture containing dark&#10;&#10;Description automatically generated">
            <a:extLst>
              <a:ext uri="{FF2B5EF4-FFF2-40B4-BE49-F238E27FC236}">
                <a16:creationId xmlns:a16="http://schemas.microsoft.com/office/drawing/2014/main" id="{A859AB25-32FE-0C82-446D-CDFD7CF37D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0149" y="1448943"/>
            <a:ext cx="588330" cy="577699"/>
          </a:xfrm>
          <a:prstGeom prst="rect">
            <a:avLst/>
          </a:prstGeom>
        </p:spPr>
      </p:pic>
      <p:pic>
        <p:nvPicPr>
          <p:cNvPr id="50" name="Picture 49">
            <a:extLst>
              <a:ext uri="{FF2B5EF4-FFF2-40B4-BE49-F238E27FC236}">
                <a16:creationId xmlns:a16="http://schemas.microsoft.com/office/drawing/2014/main" id="{7C056F7B-F0FB-1A66-5323-0BB2D0202A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60926" y="1487586"/>
            <a:ext cx="624025" cy="616462"/>
          </a:xfrm>
          <a:prstGeom prst="rect">
            <a:avLst/>
          </a:prstGeom>
        </p:spPr>
      </p:pic>
      <p:pic>
        <p:nvPicPr>
          <p:cNvPr id="51" name="Picture 50" descr="A picture containing dark&#10;&#10;Description automatically generated">
            <a:extLst>
              <a:ext uri="{FF2B5EF4-FFF2-40B4-BE49-F238E27FC236}">
                <a16:creationId xmlns:a16="http://schemas.microsoft.com/office/drawing/2014/main" id="{9CC1C922-23E5-A5E0-9E31-C712C849CB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0149" y="3696061"/>
            <a:ext cx="667172" cy="655116"/>
          </a:xfrm>
          <a:prstGeom prst="rect">
            <a:avLst/>
          </a:prstGeom>
        </p:spPr>
      </p:pic>
      <p:pic>
        <p:nvPicPr>
          <p:cNvPr id="52" name="Picture 51">
            <a:extLst>
              <a:ext uri="{FF2B5EF4-FFF2-40B4-BE49-F238E27FC236}">
                <a16:creationId xmlns:a16="http://schemas.microsoft.com/office/drawing/2014/main" id="{C46B719E-94D3-B46A-C64E-4120F51556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9646" y="3810001"/>
            <a:ext cx="584091" cy="577012"/>
          </a:xfrm>
          <a:prstGeom prst="rect">
            <a:avLst/>
          </a:prstGeom>
        </p:spPr>
      </p:pic>
      <p:pic>
        <p:nvPicPr>
          <p:cNvPr id="1026" name="Picture 2" descr="Improvement ">
            <a:extLst>
              <a:ext uri="{FF2B5EF4-FFF2-40B4-BE49-F238E27FC236}">
                <a16:creationId xmlns:a16="http://schemas.microsoft.com/office/drawing/2014/main" id="{D775D662-76C5-F76E-0AB2-9749DD01D7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67840" y="1344076"/>
            <a:ext cx="696067" cy="696067"/>
          </a:xfrm>
          <a:prstGeom prst="rect">
            <a:avLst/>
          </a:prstGeom>
          <a:noFill/>
          <a:extLst>
            <a:ext uri="{909E8E84-426E-40DD-AFC4-6F175D3DCCD1}">
              <a14:hiddenFill xmlns:a14="http://schemas.microsoft.com/office/drawing/2010/main">
                <a:solidFill>
                  <a:srgbClr val="FFFFFF"/>
                </a:solidFill>
              </a14:hiddenFill>
            </a:ext>
          </a:extLst>
        </p:spPr>
      </p:pic>
      <p:pic>
        <p:nvPicPr>
          <p:cNvPr id="164" name="Picture 163" descr="Shape&#10;&#10;Description automatically generated with low confidence">
            <a:extLst>
              <a:ext uri="{FF2B5EF4-FFF2-40B4-BE49-F238E27FC236}">
                <a16:creationId xmlns:a16="http://schemas.microsoft.com/office/drawing/2014/main" id="{ECA5EF3D-1411-2FAA-4923-88C7157E254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30032" y="3662185"/>
            <a:ext cx="926317" cy="926317"/>
          </a:xfrm>
          <a:prstGeom prst="rect">
            <a:avLst/>
          </a:prstGeom>
        </p:spPr>
      </p:pic>
      <p:pic>
        <p:nvPicPr>
          <p:cNvPr id="1030" name="Picture 6">
            <a:extLst>
              <a:ext uri="{FF2B5EF4-FFF2-40B4-BE49-F238E27FC236}">
                <a16:creationId xmlns:a16="http://schemas.microsoft.com/office/drawing/2014/main" id="{32858670-36E8-848E-E0A6-887DAB0616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4144" y="1379449"/>
            <a:ext cx="791242" cy="791242"/>
          </a:xfrm>
          <a:prstGeom prst="rect">
            <a:avLst/>
          </a:prstGeom>
          <a:noFill/>
          <a:extLst>
            <a:ext uri="{909E8E84-426E-40DD-AFC4-6F175D3DCCD1}">
              <a14:hiddenFill xmlns:a14="http://schemas.microsoft.com/office/drawing/2010/main">
                <a:solidFill>
                  <a:srgbClr val="FFFFFF"/>
                </a:solidFill>
              </a14:hiddenFill>
            </a:ext>
          </a:extLst>
        </p:spPr>
      </p:pic>
      <p:pic>
        <p:nvPicPr>
          <p:cNvPr id="169" name="Picture 168" descr="Icon&#10;&#10;Description automatically generated">
            <a:extLst>
              <a:ext uri="{FF2B5EF4-FFF2-40B4-BE49-F238E27FC236}">
                <a16:creationId xmlns:a16="http://schemas.microsoft.com/office/drawing/2014/main" id="{D96DD800-01F9-071A-2B9E-B4148013C796}"/>
              </a:ext>
            </a:extLst>
          </p:cNvPr>
          <p:cNvPicPr>
            <a:picLocks noChangeAspect="1"/>
          </p:cNvPicPr>
          <p:nvPr/>
        </p:nvPicPr>
        <p:blipFill>
          <a:blip r:embed="rId8">
            <a:alphaModFix amt="35000"/>
            <a:duotone>
              <a:prstClr val="black"/>
              <a:schemeClr val="accent1">
                <a:tint val="45000"/>
                <a:satMod val="400000"/>
              </a:schemeClr>
            </a:duotone>
            <a:extLst>
              <a:ext uri="{BEBA8EAE-BF5A-486C-A8C5-ECC9F3942E4B}">
                <a14:imgProps xmlns:a14="http://schemas.microsoft.com/office/drawing/2010/main">
                  <a14:imgLayer r:embed="rId9">
                    <a14:imgEffect>
                      <a14:colorTemperature colorTemp="5300"/>
                    </a14:imgEffect>
                  </a14:imgLayer>
                </a14:imgProps>
              </a:ext>
              <a:ext uri="{28A0092B-C50C-407E-A947-70E740481C1C}">
                <a14:useLocalDpi xmlns:a14="http://schemas.microsoft.com/office/drawing/2010/main" val="0"/>
              </a:ext>
            </a:extLst>
          </a:blip>
          <a:stretch>
            <a:fillRect/>
          </a:stretch>
        </p:blipFill>
        <p:spPr>
          <a:xfrm>
            <a:off x="3553901" y="1544369"/>
            <a:ext cx="633899" cy="626322"/>
          </a:xfrm>
          <a:prstGeom prst="rect">
            <a:avLst/>
          </a:prstGeom>
        </p:spPr>
      </p:pic>
      <p:pic>
        <p:nvPicPr>
          <p:cNvPr id="170" name="Picture 169" descr="Icon&#10;&#10;Description automatically generated">
            <a:extLst>
              <a:ext uri="{FF2B5EF4-FFF2-40B4-BE49-F238E27FC236}">
                <a16:creationId xmlns:a16="http://schemas.microsoft.com/office/drawing/2014/main" id="{0EC7D5A3-74CD-FDE9-C5CA-D2D6D69C55CB}"/>
              </a:ext>
            </a:extLst>
          </p:cNvPr>
          <p:cNvPicPr>
            <a:picLocks noChangeAspect="1"/>
          </p:cNvPicPr>
          <p:nvPr/>
        </p:nvPicPr>
        <p:blipFill>
          <a:blip r:embed="rId8">
            <a:alphaModFix amt="35000"/>
            <a:duotone>
              <a:prstClr val="black"/>
              <a:schemeClr val="accent1">
                <a:tint val="45000"/>
                <a:satMod val="400000"/>
              </a:schemeClr>
            </a:duotone>
            <a:extLst>
              <a:ext uri="{BEBA8EAE-BF5A-486C-A8C5-ECC9F3942E4B}">
                <a14:imgProps xmlns:a14="http://schemas.microsoft.com/office/drawing/2010/main">
                  <a14:imgLayer r:embed="rId9">
                    <a14:imgEffect>
                      <a14:colorTemperature colorTemp="5300"/>
                    </a14:imgEffect>
                  </a14:imgLayer>
                </a14:imgProps>
              </a:ext>
              <a:ext uri="{28A0092B-C50C-407E-A947-70E740481C1C}">
                <a14:useLocalDpi xmlns:a14="http://schemas.microsoft.com/office/drawing/2010/main" val="0"/>
              </a:ext>
            </a:extLst>
          </a:blip>
          <a:stretch>
            <a:fillRect/>
          </a:stretch>
        </p:blipFill>
        <p:spPr>
          <a:xfrm>
            <a:off x="3600155" y="3734185"/>
            <a:ext cx="633899" cy="626322"/>
          </a:xfrm>
          <a:prstGeom prst="rect">
            <a:avLst/>
          </a:prstGeom>
        </p:spPr>
      </p:pic>
      <p:pic>
        <p:nvPicPr>
          <p:cNvPr id="171" name="Picture 8">
            <a:extLst>
              <a:ext uri="{FF2B5EF4-FFF2-40B4-BE49-F238E27FC236}">
                <a16:creationId xmlns:a16="http://schemas.microsoft.com/office/drawing/2014/main" id="{CA663716-BE09-8983-F76A-C7753223ABB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20252" y="3696061"/>
            <a:ext cx="791242" cy="791242"/>
          </a:xfrm>
          <a:prstGeom prst="rect">
            <a:avLst/>
          </a:prstGeom>
          <a:noFill/>
          <a:extLst>
            <a:ext uri="{909E8E84-426E-40DD-AFC4-6F175D3DCCD1}">
              <a14:hiddenFill xmlns:a14="http://schemas.microsoft.com/office/drawing/2010/main">
                <a:solidFill>
                  <a:srgbClr val="FFFFFF"/>
                </a:solidFill>
              </a14:hiddenFill>
            </a:ext>
          </a:extLst>
        </p:spPr>
      </p:pic>
      <p:pic>
        <p:nvPicPr>
          <p:cNvPr id="173" name="Picture 172" descr="Shape&#10;&#10;Description automatically generated with low confidence">
            <a:extLst>
              <a:ext uri="{FF2B5EF4-FFF2-40B4-BE49-F238E27FC236}">
                <a16:creationId xmlns:a16="http://schemas.microsoft.com/office/drawing/2014/main" id="{29FD6C98-E054-B951-5729-588F4776EFC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044409" y="1350327"/>
            <a:ext cx="770904" cy="770904"/>
          </a:xfrm>
          <a:prstGeom prst="rect">
            <a:avLst/>
          </a:prstGeom>
        </p:spPr>
      </p:pic>
      <p:pic>
        <p:nvPicPr>
          <p:cNvPr id="1034" name="Picture 10">
            <a:extLst>
              <a:ext uri="{FF2B5EF4-FFF2-40B4-BE49-F238E27FC236}">
                <a16:creationId xmlns:a16="http://schemas.microsoft.com/office/drawing/2014/main" id="{63572C2D-84C8-0808-D2FD-CA81572CF91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05330" y="3669666"/>
            <a:ext cx="868640" cy="86864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Text&#10;&#10;Description automatically generated with medium confidence">
            <a:extLst>
              <a:ext uri="{FF2B5EF4-FFF2-40B4-BE49-F238E27FC236}">
                <a16:creationId xmlns:a16="http://schemas.microsoft.com/office/drawing/2014/main" id="{598F5E51-AF67-8563-609D-70ACF1E1AAE7}"/>
              </a:ext>
            </a:extLst>
          </p:cNvPr>
          <p:cNvPicPr>
            <a:picLocks noChangeAspect="1"/>
          </p:cNvPicPr>
          <p:nvPr/>
        </p:nvPicPr>
        <p:blipFill rotWithShape="1">
          <a:blip r:embed="rId13" cstate="print">
            <a:extLst>
              <a:ext uri="{28A0092B-C50C-407E-A947-70E740481C1C}">
                <a14:useLocalDpi xmlns:a14="http://schemas.microsoft.com/office/drawing/2010/main" val="0"/>
              </a:ext>
            </a:extLst>
          </a:blip>
          <a:srcRect l="63863" t="1" b="-21"/>
          <a:stretch/>
        </p:blipFill>
        <p:spPr>
          <a:xfrm>
            <a:off x="112358" y="84607"/>
            <a:ext cx="819076" cy="631548"/>
          </a:xfrm>
          <a:prstGeom prst="rect">
            <a:avLst/>
          </a:prstGeom>
        </p:spPr>
      </p:pic>
      <p:pic>
        <p:nvPicPr>
          <p:cNvPr id="3" name="Picture 2">
            <a:extLst>
              <a:ext uri="{FF2B5EF4-FFF2-40B4-BE49-F238E27FC236}">
                <a16:creationId xmlns:a16="http://schemas.microsoft.com/office/drawing/2014/main" id="{24B5EF9F-33FF-C9C3-8D68-5A10F200D78D}"/>
              </a:ext>
            </a:extLst>
          </p:cNvPr>
          <p:cNvPicPr>
            <a:picLocks noChangeAspect="1"/>
          </p:cNvPicPr>
          <p:nvPr/>
        </p:nvPicPr>
        <p:blipFill>
          <a:blip r:embed="rId14"/>
          <a:stretch>
            <a:fillRect/>
          </a:stretch>
        </p:blipFill>
        <p:spPr>
          <a:xfrm>
            <a:off x="9504246" y="716155"/>
            <a:ext cx="2687754" cy="71435"/>
          </a:xfrm>
          <a:prstGeom prst="rect">
            <a:avLst/>
          </a:prstGeom>
        </p:spPr>
      </p:pic>
      <p:sp>
        <p:nvSpPr>
          <p:cNvPr id="4" name="Rectangle 3">
            <a:extLst>
              <a:ext uri="{FF2B5EF4-FFF2-40B4-BE49-F238E27FC236}">
                <a16:creationId xmlns:a16="http://schemas.microsoft.com/office/drawing/2014/main" id="{AC8E66AF-E3AC-30A0-71C5-12D4EB1D2C68}"/>
              </a:ext>
            </a:extLst>
          </p:cNvPr>
          <p:cNvSpPr/>
          <p:nvPr/>
        </p:nvSpPr>
        <p:spPr>
          <a:xfrm>
            <a:off x="9411023" y="136902"/>
            <a:ext cx="2687754" cy="509050"/>
          </a:xfrm>
          <a:prstGeom prst="rect">
            <a:avLst/>
          </a:prstGeom>
        </p:spPr>
        <p:txBody>
          <a:bodyPr wrap="square" anchor="ctr">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ar-SA" sz="1969" b="1" i="0" u="none" strike="noStrike" kern="1200" cap="none" spc="0" normalizeH="0" baseline="0" noProof="0">
                <a:ln>
                  <a:noFill/>
                </a:ln>
                <a:solidFill>
                  <a:srgbClr val="002959"/>
                </a:solidFill>
                <a:effectLst/>
                <a:uLnTx/>
                <a:uFillTx/>
                <a:latin typeface="Almarai Bold" pitchFamily="2" charset="-78"/>
                <a:ea typeface="+mn-ea"/>
                <a:cs typeface="Almarai Bold" pitchFamily="2" charset="-78"/>
              </a:rPr>
              <a:t>الأهداف التشغيلية</a:t>
            </a:r>
          </a:p>
        </p:txBody>
      </p:sp>
    </p:spTree>
    <p:extLst>
      <p:ext uri="{BB962C8B-B14F-4D97-AF65-F5344CB8AC3E}">
        <p14:creationId xmlns:p14="http://schemas.microsoft.com/office/powerpoint/2010/main" val="1434633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descr="Text&#10;&#10;Description automatically generated with medium confidence">
            <a:extLst>
              <a:ext uri="{FF2B5EF4-FFF2-40B4-BE49-F238E27FC236}">
                <a16:creationId xmlns:a16="http://schemas.microsoft.com/office/drawing/2014/main" id="{84668291-C07D-336D-3DF1-DA2C1993193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t="1" b="-21"/>
          <a:stretch/>
        </p:blipFill>
        <p:spPr>
          <a:xfrm>
            <a:off x="180655" y="157118"/>
            <a:ext cx="778373" cy="600164"/>
          </a:xfrm>
          <a:prstGeom prst="rect">
            <a:avLst/>
          </a:prstGeom>
        </p:spPr>
      </p:pic>
      <p:sp>
        <p:nvSpPr>
          <p:cNvPr id="8" name="Rectangle 7">
            <a:extLst>
              <a:ext uri="{FF2B5EF4-FFF2-40B4-BE49-F238E27FC236}">
                <a16:creationId xmlns:a16="http://schemas.microsoft.com/office/drawing/2014/main" id="{B92ED650-F142-D0EB-4F48-962132A35422}"/>
              </a:ext>
            </a:extLst>
          </p:cNvPr>
          <p:cNvSpPr/>
          <p:nvPr/>
        </p:nvSpPr>
        <p:spPr>
          <a:xfrm flipH="1">
            <a:off x="8859449" y="1137642"/>
            <a:ext cx="2055002" cy="577700"/>
          </a:xfrm>
          <a:prstGeom prst="rect">
            <a:avLst/>
          </a:prstGeom>
          <a:solidFill>
            <a:srgbClr val="00206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2000" b="0" i="0" u="none" strike="noStrike" kern="1200" cap="none" spc="0" normalizeH="0" baseline="0" noProof="0">
                <a:ln>
                  <a:noFill/>
                </a:ln>
                <a:solidFill>
                  <a:prstClr val="white"/>
                </a:solidFill>
                <a:effectLst/>
                <a:uLnTx/>
                <a:uFillTx/>
                <a:latin typeface="Almarai Bold" pitchFamily="2" charset="-78"/>
                <a:ea typeface="+mn-ea"/>
                <a:cs typeface="Almarai Bold" pitchFamily="2" charset="-78"/>
              </a:rPr>
              <a:t>المصطلح</a:t>
            </a:r>
            <a:endParaRPr kumimoji="0" lang="en-US" sz="2000" b="0" i="0" u="none" strike="noStrike" kern="1200" cap="none" spc="0" normalizeH="0" baseline="0" noProof="0">
              <a:ln>
                <a:noFill/>
              </a:ln>
              <a:solidFill>
                <a:prstClr val="white"/>
              </a:solidFill>
              <a:effectLst/>
              <a:uLnTx/>
              <a:uFillTx/>
              <a:latin typeface="Almarai Bold" pitchFamily="2" charset="-78"/>
              <a:ea typeface="+mn-ea"/>
              <a:cs typeface="Almarai Bold" pitchFamily="2" charset="-78"/>
            </a:endParaRPr>
          </a:p>
        </p:txBody>
      </p:sp>
      <p:sp>
        <p:nvSpPr>
          <p:cNvPr id="12" name="Rectangle 11">
            <a:extLst>
              <a:ext uri="{FF2B5EF4-FFF2-40B4-BE49-F238E27FC236}">
                <a16:creationId xmlns:a16="http://schemas.microsoft.com/office/drawing/2014/main" id="{6B80290F-6A06-C98A-A182-A195F697B8C2}"/>
              </a:ext>
            </a:extLst>
          </p:cNvPr>
          <p:cNvSpPr/>
          <p:nvPr/>
        </p:nvSpPr>
        <p:spPr>
          <a:xfrm flipH="1">
            <a:off x="1143000" y="1137642"/>
            <a:ext cx="7587051" cy="577700"/>
          </a:xfrm>
          <a:prstGeom prst="rect">
            <a:avLst/>
          </a:prstGeom>
          <a:solidFill>
            <a:srgbClr val="00206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2000" b="0" i="0" u="none" strike="noStrike" kern="1200" cap="none" spc="0" normalizeH="0" baseline="0" noProof="0">
                <a:ln>
                  <a:noFill/>
                </a:ln>
                <a:solidFill>
                  <a:prstClr val="white"/>
                </a:solidFill>
                <a:effectLst/>
                <a:uLnTx/>
                <a:uFillTx/>
                <a:latin typeface="Almarai Bold" pitchFamily="2" charset="-78"/>
                <a:ea typeface="+mn-ea"/>
                <a:cs typeface="Almarai Bold" pitchFamily="2" charset="-78"/>
              </a:rPr>
              <a:t>التعريف</a:t>
            </a:r>
            <a:endParaRPr kumimoji="0" lang="en-US" sz="2000" b="0" i="0" u="none" strike="noStrike" kern="1200" cap="none" spc="0" normalizeH="0" baseline="0" noProof="0">
              <a:ln>
                <a:noFill/>
              </a:ln>
              <a:solidFill>
                <a:prstClr val="white"/>
              </a:solidFill>
              <a:effectLst/>
              <a:uLnTx/>
              <a:uFillTx/>
              <a:latin typeface="Almarai Bold" pitchFamily="2" charset="-78"/>
              <a:ea typeface="+mn-ea"/>
              <a:cs typeface="Almarai Bold" pitchFamily="2" charset="-78"/>
            </a:endParaRPr>
          </a:p>
        </p:txBody>
      </p:sp>
      <p:sp>
        <p:nvSpPr>
          <p:cNvPr id="13" name="Rectangle 12">
            <a:extLst>
              <a:ext uri="{FF2B5EF4-FFF2-40B4-BE49-F238E27FC236}">
                <a16:creationId xmlns:a16="http://schemas.microsoft.com/office/drawing/2014/main" id="{CCF3C163-B2B6-ECDA-2307-2DFCDB04B51C}"/>
              </a:ext>
            </a:extLst>
          </p:cNvPr>
          <p:cNvSpPr/>
          <p:nvPr/>
        </p:nvSpPr>
        <p:spPr>
          <a:xfrm flipH="1">
            <a:off x="8859449" y="1787010"/>
            <a:ext cx="2055002" cy="577700"/>
          </a:xfrm>
          <a:prstGeom prst="rect">
            <a:avLst/>
          </a:prstGeom>
          <a:solidFill>
            <a:srgbClr val="F9C1AD">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lmarai Light" pitchFamily="2" charset="-78"/>
              <a:ea typeface="+mn-ea"/>
              <a:cs typeface="Almarai Light" pitchFamily="2" charset="-78"/>
            </a:endParaRPr>
          </a:p>
        </p:txBody>
      </p:sp>
      <p:sp>
        <p:nvSpPr>
          <p:cNvPr id="14" name="Rectangle 13">
            <a:extLst>
              <a:ext uri="{FF2B5EF4-FFF2-40B4-BE49-F238E27FC236}">
                <a16:creationId xmlns:a16="http://schemas.microsoft.com/office/drawing/2014/main" id="{3F9E29F0-AF55-6BA7-90AA-02242BDFCCA7}"/>
              </a:ext>
            </a:extLst>
          </p:cNvPr>
          <p:cNvSpPr/>
          <p:nvPr/>
        </p:nvSpPr>
        <p:spPr>
          <a:xfrm flipH="1">
            <a:off x="8859449" y="2462218"/>
            <a:ext cx="2055002" cy="577700"/>
          </a:xfrm>
          <a:prstGeom prst="rect">
            <a:avLst/>
          </a:prstGeom>
          <a:solidFill>
            <a:srgbClr val="F9C1AD">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lmarai Light" pitchFamily="2" charset="-78"/>
              <a:ea typeface="+mn-ea"/>
              <a:cs typeface="Almarai Light" pitchFamily="2" charset="-78"/>
            </a:endParaRPr>
          </a:p>
        </p:txBody>
      </p:sp>
      <p:sp>
        <p:nvSpPr>
          <p:cNvPr id="15" name="Rectangle 14">
            <a:extLst>
              <a:ext uri="{FF2B5EF4-FFF2-40B4-BE49-F238E27FC236}">
                <a16:creationId xmlns:a16="http://schemas.microsoft.com/office/drawing/2014/main" id="{D51149E5-220A-BAA9-FFB9-39684B0B04EB}"/>
              </a:ext>
            </a:extLst>
          </p:cNvPr>
          <p:cNvSpPr/>
          <p:nvPr/>
        </p:nvSpPr>
        <p:spPr>
          <a:xfrm flipH="1">
            <a:off x="8859449" y="3131752"/>
            <a:ext cx="2055002" cy="577700"/>
          </a:xfrm>
          <a:prstGeom prst="rect">
            <a:avLst/>
          </a:prstGeom>
          <a:solidFill>
            <a:srgbClr val="F9C1AD">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lmarai Light" pitchFamily="2" charset="-78"/>
              <a:ea typeface="+mn-ea"/>
              <a:cs typeface="Almarai Light" pitchFamily="2" charset="-78"/>
            </a:endParaRPr>
          </a:p>
        </p:txBody>
      </p:sp>
      <p:sp>
        <p:nvSpPr>
          <p:cNvPr id="16" name="Rectangle 15">
            <a:extLst>
              <a:ext uri="{FF2B5EF4-FFF2-40B4-BE49-F238E27FC236}">
                <a16:creationId xmlns:a16="http://schemas.microsoft.com/office/drawing/2014/main" id="{5F7CC2A3-3A7E-DBA9-3C41-F3A912B4BAF4}"/>
              </a:ext>
            </a:extLst>
          </p:cNvPr>
          <p:cNvSpPr/>
          <p:nvPr/>
        </p:nvSpPr>
        <p:spPr>
          <a:xfrm flipH="1">
            <a:off x="8859449" y="3809622"/>
            <a:ext cx="2055002" cy="577700"/>
          </a:xfrm>
          <a:prstGeom prst="rect">
            <a:avLst/>
          </a:prstGeom>
          <a:solidFill>
            <a:srgbClr val="F9C1AD">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lmarai Light" pitchFamily="2" charset="-78"/>
              <a:ea typeface="+mn-ea"/>
              <a:cs typeface="Almarai Light" pitchFamily="2" charset="-78"/>
            </a:endParaRPr>
          </a:p>
        </p:txBody>
      </p:sp>
      <p:sp>
        <p:nvSpPr>
          <p:cNvPr id="17" name="Rectangle 16">
            <a:extLst>
              <a:ext uri="{FF2B5EF4-FFF2-40B4-BE49-F238E27FC236}">
                <a16:creationId xmlns:a16="http://schemas.microsoft.com/office/drawing/2014/main" id="{962125BB-56C9-6536-54B8-8FAB4EF4DC6C}"/>
              </a:ext>
            </a:extLst>
          </p:cNvPr>
          <p:cNvSpPr/>
          <p:nvPr/>
        </p:nvSpPr>
        <p:spPr>
          <a:xfrm flipH="1">
            <a:off x="1143000" y="1787010"/>
            <a:ext cx="7587051" cy="577700"/>
          </a:xfrm>
          <a:prstGeom prst="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lmarai Light" pitchFamily="2" charset="-78"/>
              <a:ea typeface="+mn-ea"/>
              <a:cs typeface="Almarai Light" pitchFamily="2" charset="-78"/>
            </a:endParaRPr>
          </a:p>
        </p:txBody>
      </p:sp>
      <p:sp>
        <p:nvSpPr>
          <p:cNvPr id="18" name="Rectangle 17">
            <a:extLst>
              <a:ext uri="{FF2B5EF4-FFF2-40B4-BE49-F238E27FC236}">
                <a16:creationId xmlns:a16="http://schemas.microsoft.com/office/drawing/2014/main" id="{D516C18B-4BBD-CD9A-F61B-B86A61322182}"/>
              </a:ext>
            </a:extLst>
          </p:cNvPr>
          <p:cNvSpPr/>
          <p:nvPr/>
        </p:nvSpPr>
        <p:spPr>
          <a:xfrm flipH="1">
            <a:off x="1143000" y="2462218"/>
            <a:ext cx="7587051" cy="577700"/>
          </a:xfrm>
          <a:prstGeom prst="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lmarai Light" pitchFamily="2" charset="-78"/>
              <a:ea typeface="+mn-ea"/>
              <a:cs typeface="Almarai Light" pitchFamily="2" charset="-78"/>
            </a:endParaRPr>
          </a:p>
        </p:txBody>
      </p:sp>
      <p:sp>
        <p:nvSpPr>
          <p:cNvPr id="19" name="Rectangle 18">
            <a:extLst>
              <a:ext uri="{FF2B5EF4-FFF2-40B4-BE49-F238E27FC236}">
                <a16:creationId xmlns:a16="http://schemas.microsoft.com/office/drawing/2014/main" id="{F01D2D76-DA07-D29A-5161-D401FE4114E1}"/>
              </a:ext>
            </a:extLst>
          </p:cNvPr>
          <p:cNvSpPr/>
          <p:nvPr/>
        </p:nvSpPr>
        <p:spPr>
          <a:xfrm flipH="1">
            <a:off x="1143000" y="3131752"/>
            <a:ext cx="7587051" cy="577700"/>
          </a:xfrm>
          <a:prstGeom prst="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lmarai Light" pitchFamily="2" charset="-78"/>
              <a:ea typeface="+mn-ea"/>
              <a:cs typeface="Almarai Light" pitchFamily="2" charset="-78"/>
            </a:endParaRPr>
          </a:p>
        </p:txBody>
      </p:sp>
      <p:sp>
        <p:nvSpPr>
          <p:cNvPr id="20" name="Rectangle 19">
            <a:extLst>
              <a:ext uri="{FF2B5EF4-FFF2-40B4-BE49-F238E27FC236}">
                <a16:creationId xmlns:a16="http://schemas.microsoft.com/office/drawing/2014/main" id="{F44DEEA5-3797-840C-8F2C-D05A3C719429}"/>
              </a:ext>
            </a:extLst>
          </p:cNvPr>
          <p:cNvSpPr/>
          <p:nvPr/>
        </p:nvSpPr>
        <p:spPr>
          <a:xfrm flipH="1">
            <a:off x="1143000" y="3809622"/>
            <a:ext cx="7587051" cy="577700"/>
          </a:xfrm>
          <a:prstGeom prst="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lmarai Light" pitchFamily="2" charset="-78"/>
              <a:ea typeface="+mn-ea"/>
              <a:cs typeface="Almarai Light" pitchFamily="2" charset="-78"/>
            </a:endParaRPr>
          </a:p>
        </p:txBody>
      </p:sp>
      <p:sp>
        <p:nvSpPr>
          <p:cNvPr id="23" name="TextBox 22">
            <a:extLst>
              <a:ext uri="{FF2B5EF4-FFF2-40B4-BE49-F238E27FC236}">
                <a16:creationId xmlns:a16="http://schemas.microsoft.com/office/drawing/2014/main" id="{6D681001-72BA-C39E-AAFE-B47861FF2B7D}"/>
              </a:ext>
            </a:extLst>
          </p:cNvPr>
          <p:cNvSpPr txBox="1"/>
          <p:nvPr/>
        </p:nvSpPr>
        <p:spPr>
          <a:xfrm>
            <a:off x="9461500" y="1847945"/>
            <a:ext cx="825500" cy="369332"/>
          </a:xfrm>
          <a:prstGeom prst="rect">
            <a:avLst/>
          </a:prstGeom>
          <a:noFill/>
        </p:spPr>
        <p:txBody>
          <a:bodyPr wrap="square">
            <a:spAutoFit/>
          </a:bodyPr>
          <a:lstStyle/>
          <a:p>
            <a:pPr marL="0" marR="0" lvl="0" indent="0" algn="r" defTabSz="914400" rtl="1" eaLnBrk="1" fontAlgn="ctr"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a:ln>
                  <a:noFill/>
                </a:ln>
                <a:solidFill>
                  <a:prstClr val="black"/>
                </a:solidFill>
                <a:effectLst/>
                <a:uLnTx/>
                <a:uFillTx/>
                <a:latin typeface="Almarai Bold" pitchFamily="2" charset="-78"/>
                <a:ea typeface="+mn-ea"/>
                <a:cs typeface="Almarai Bold" pitchFamily="2" charset="-78"/>
              </a:rPr>
              <a:t>حملة</a:t>
            </a:r>
            <a:endParaRPr kumimoji="0" lang="ar-SA" sz="1800" b="0" i="0" u="none" strike="noStrike" kern="1200" cap="none" spc="0" normalizeH="0" baseline="0" noProof="0">
              <a:ln>
                <a:noFill/>
              </a:ln>
              <a:solidFill>
                <a:srgbClr val="002060"/>
              </a:solidFill>
              <a:effectLst/>
              <a:uLnTx/>
              <a:uFillTx/>
              <a:latin typeface="Almarai Bold" pitchFamily="2" charset="-78"/>
              <a:ea typeface="+mn-ea"/>
              <a:cs typeface="Almarai Bold" pitchFamily="2" charset="-78"/>
            </a:endParaRPr>
          </a:p>
        </p:txBody>
      </p:sp>
      <p:sp>
        <p:nvSpPr>
          <p:cNvPr id="25" name="TextBox 24">
            <a:extLst>
              <a:ext uri="{FF2B5EF4-FFF2-40B4-BE49-F238E27FC236}">
                <a16:creationId xmlns:a16="http://schemas.microsoft.com/office/drawing/2014/main" id="{26EEB0B8-EF88-F652-79D3-C0023CA87994}"/>
              </a:ext>
            </a:extLst>
          </p:cNvPr>
          <p:cNvSpPr txBox="1"/>
          <p:nvPr/>
        </p:nvSpPr>
        <p:spPr>
          <a:xfrm>
            <a:off x="1143000" y="1784175"/>
            <a:ext cx="7587051" cy="523220"/>
          </a:xfrm>
          <a:prstGeom prst="rect">
            <a:avLst/>
          </a:prstGeom>
          <a:noFill/>
        </p:spPr>
        <p:txBody>
          <a:bodyPr wrap="square">
            <a:spAutoFit/>
          </a:bodyPr>
          <a:lstStyle/>
          <a:p>
            <a:pPr marL="0" marR="0" lvl="0" indent="0" algn="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prstClr val="black"/>
                </a:solidFill>
                <a:effectLst/>
                <a:uLnTx/>
                <a:uFillTx/>
                <a:latin typeface="Almarai Light" pitchFamily="2" charset="-78"/>
                <a:ea typeface="+mn-ea"/>
                <a:cs typeface="Almarai Light" pitchFamily="2" charset="-78"/>
              </a:rPr>
              <a:t>سلسلة من الأفعال (مثال: إعلانات داخلية، ورشات عمل، استبيانات) لإيصال رسائل لغرض معين، إما توعوية، معلوماتية، إعلامية أو ما إلى ذلك.</a:t>
            </a:r>
            <a:endParaRPr kumimoji="0" lang="ar-SA" sz="1400" b="0" i="0" u="none" strike="noStrike" kern="1200" cap="none" spc="0" normalizeH="0" baseline="0" noProof="0">
              <a:ln>
                <a:noFill/>
              </a:ln>
              <a:solidFill>
                <a:srgbClr val="000000"/>
              </a:solidFill>
              <a:effectLst/>
              <a:uLnTx/>
              <a:uFillTx/>
              <a:latin typeface="Almarai Light" pitchFamily="2" charset="-78"/>
              <a:ea typeface="+mn-ea"/>
              <a:cs typeface="Almarai Light" pitchFamily="2" charset="-78"/>
            </a:endParaRPr>
          </a:p>
        </p:txBody>
      </p:sp>
      <p:sp>
        <p:nvSpPr>
          <p:cNvPr id="27" name="TextBox 26">
            <a:extLst>
              <a:ext uri="{FF2B5EF4-FFF2-40B4-BE49-F238E27FC236}">
                <a16:creationId xmlns:a16="http://schemas.microsoft.com/office/drawing/2014/main" id="{44EB0951-EA4C-F708-6D03-03DACD1A8A11}"/>
              </a:ext>
            </a:extLst>
          </p:cNvPr>
          <p:cNvSpPr txBox="1"/>
          <p:nvPr/>
        </p:nvSpPr>
        <p:spPr>
          <a:xfrm>
            <a:off x="9118600" y="2566402"/>
            <a:ext cx="1568450" cy="369332"/>
          </a:xfrm>
          <a:prstGeom prst="rect">
            <a:avLst/>
          </a:prstGeom>
          <a:noFill/>
        </p:spPr>
        <p:txBody>
          <a:bodyPr wrap="square">
            <a:spAutoFit/>
          </a:bodyPr>
          <a:lstStyle/>
          <a:p>
            <a:pPr marL="0" marR="0" lvl="0" indent="0" algn="r" defTabSz="914400" rtl="1" eaLnBrk="1" fontAlgn="ctr"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prstClr val="black"/>
                </a:solidFill>
                <a:effectLst/>
                <a:uLnTx/>
                <a:uFillTx/>
                <a:latin typeface="Almarai Bold" pitchFamily="2" charset="-78"/>
                <a:ea typeface="+mn-ea"/>
                <a:cs typeface="Almarai Bold" pitchFamily="2" charset="-78"/>
              </a:rPr>
              <a:t>ورشة تدريبية</a:t>
            </a:r>
            <a:endParaRPr kumimoji="0" lang="ar-SA" sz="1800" b="0" i="0" u="none" strike="noStrike" kern="1200" cap="none" spc="0" normalizeH="0" baseline="0" noProof="0" dirty="0">
              <a:ln>
                <a:noFill/>
              </a:ln>
              <a:solidFill>
                <a:srgbClr val="002060"/>
              </a:solidFill>
              <a:effectLst/>
              <a:uLnTx/>
              <a:uFillTx/>
              <a:latin typeface="Almarai Bold" pitchFamily="2" charset="-78"/>
              <a:ea typeface="+mn-ea"/>
              <a:cs typeface="Almarai Bold" pitchFamily="2" charset="-78"/>
            </a:endParaRPr>
          </a:p>
        </p:txBody>
      </p:sp>
      <p:sp>
        <p:nvSpPr>
          <p:cNvPr id="29" name="TextBox 28">
            <a:extLst>
              <a:ext uri="{FF2B5EF4-FFF2-40B4-BE49-F238E27FC236}">
                <a16:creationId xmlns:a16="http://schemas.microsoft.com/office/drawing/2014/main" id="{6A4F9770-D72C-CECC-9CEB-E64AAEA93EC4}"/>
              </a:ext>
            </a:extLst>
          </p:cNvPr>
          <p:cNvSpPr txBox="1"/>
          <p:nvPr/>
        </p:nvSpPr>
        <p:spPr>
          <a:xfrm>
            <a:off x="2792801" y="2566402"/>
            <a:ext cx="5937250" cy="307777"/>
          </a:xfrm>
          <a:prstGeom prst="rect">
            <a:avLst/>
          </a:prstGeom>
          <a:noFill/>
        </p:spPr>
        <p:txBody>
          <a:bodyPr wrap="square">
            <a:spAutoFit/>
          </a:bodyPr>
          <a:lstStyle/>
          <a:p>
            <a:pPr marL="0" marR="0" lvl="0" indent="0" algn="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prstClr val="black"/>
                </a:solidFill>
                <a:effectLst/>
                <a:uLnTx/>
                <a:uFillTx/>
                <a:latin typeface="Almarai Light" pitchFamily="2" charset="-78"/>
                <a:ea typeface="+mn-ea"/>
                <a:cs typeface="Almarai Light" pitchFamily="2" charset="-78"/>
              </a:rPr>
              <a:t>ورشة تقدم من قبل مدرب معتمد ويتم إصدار شهادات معتمدة للحضور.</a:t>
            </a:r>
            <a:endParaRPr kumimoji="0" lang="ar-SA" sz="1400" b="0" i="0" u="none" strike="noStrike" kern="1200" cap="none" spc="0" normalizeH="0" baseline="0" noProof="0">
              <a:ln>
                <a:noFill/>
              </a:ln>
              <a:solidFill>
                <a:srgbClr val="000000"/>
              </a:solidFill>
              <a:effectLst/>
              <a:uLnTx/>
              <a:uFillTx/>
              <a:latin typeface="Almarai Light" pitchFamily="2" charset="-78"/>
              <a:ea typeface="+mn-ea"/>
              <a:cs typeface="Almarai Light" pitchFamily="2" charset="-78"/>
            </a:endParaRPr>
          </a:p>
        </p:txBody>
      </p:sp>
      <p:sp>
        <p:nvSpPr>
          <p:cNvPr id="31" name="TextBox 30">
            <a:extLst>
              <a:ext uri="{FF2B5EF4-FFF2-40B4-BE49-F238E27FC236}">
                <a16:creationId xmlns:a16="http://schemas.microsoft.com/office/drawing/2014/main" id="{5331BE45-5E3D-557C-5E89-C41AF0A703E6}"/>
              </a:ext>
            </a:extLst>
          </p:cNvPr>
          <p:cNvSpPr txBox="1"/>
          <p:nvPr/>
        </p:nvSpPr>
        <p:spPr>
          <a:xfrm>
            <a:off x="9251950" y="3235936"/>
            <a:ext cx="1295400" cy="369332"/>
          </a:xfrm>
          <a:prstGeom prst="rect">
            <a:avLst/>
          </a:prstGeom>
          <a:noFill/>
        </p:spPr>
        <p:txBody>
          <a:bodyPr wrap="square">
            <a:spAutoFit/>
          </a:bodyPr>
          <a:lstStyle/>
          <a:p>
            <a:pPr marL="0" marR="0" lvl="0" indent="0" algn="r" defTabSz="914400" rtl="1" eaLnBrk="1" fontAlgn="ctr"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prstClr val="black"/>
                </a:solidFill>
                <a:effectLst/>
                <a:uLnTx/>
                <a:uFillTx/>
                <a:latin typeface="Almarai Bold" pitchFamily="2" charset="-78"/>
                <a:ea typeface="+mn-ea"/>
                <a:cs typeface="Almarai Bold" pitchFamily="2" charset="-78"/>
              </a:rPr>
              <a:t>ورشة عمل</a:t>
            </a:r>
            <a:endParaRPr kumimoji="0" lang="ar-SA" sz="1800" b="0" i="0" u="none" strike="noStrike" kern="1200" cap="none" spc="0" normalizeH="0" baseline="0" noProof="0" dirty="0">
              <a:ln>
                <a:noFill/>
              </a:ln>
              <a:solidFill>
                <a:srgbClr val="002060"/>
              </a:solidFill>
              <a:effectLst/>
              <a:uLnTx/>
              <a:uFillTx/>
              <a:latin typeface="Almarai Bold" pitchFamily="2" charset="-78"/>
              <a:ea typeface="+mn-ea"/>
              <a:cs typeface="Almarai Bold" pitchFamily="2" charset="-78"/>
            </a:endParaRPr>
          </a:p>
        </p:txBody>
      </p:sp>
      <p:sp>
        <p:nvSpPr>
          <p:cNvPr id="34" name="TextBox 33">
            <a:extLst>
              <a:ext uri="{FF2B5EF4-FFF2-40B4-BE49-F238E27FC236}">
                <a16:creationId xmlns:a16="http://schemas.microsoft.com/office/drawing/2014/main" id="{0C6B40F9-5CB8-53DA-2D4F-E833375C9AA3}"/>
              </a:ext>
            </a:extLst>
          </p:cNvPr>
          <p:cNvSpPr txBox="1"/>
          <p:nvPr/>
        </p:nvSpPr>
        <p:spPr>
          <a:xfrm>
            <a:off x="1209851" y="3131260"/>
            <a:ext cx="7520200" cy="523220"/>
          </a:xfrm>
          <a:prstGeom prst="rect">
            <a:avLst/>
          </a:prstGeom>
          <a:noFill/>
        </p:spPr>
        <p:txBody>
          <a:bodyPr wrap="square">
            <a:spAutoFit/>
          </a:bodyPr>
          <a:lstStyle/>
          <a:p>
            <a:pPr marL="0" marR="0" lvl="0" indent="0" algn="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prstClr val="black"/>
                </a:solidFill>
                <a:effectLst/>
                <a:uLnTx/>
                <a:uFillTx/>
                <a:latin typeface="Almarai Light" pitchFamily="2" charset="-78"/>
                <a:ea typeface="+mn-ea"/>
                <a:cs typeface="Almarai Light" pitchFamily="2" charset="-78"/>
              </a:rPr>
              <a:t>اجتماع يتم فيه مشاركة مجموعة من الأشخاص، ويقومون فيها بمناقشة موضوع أو مشروع ما بشكل مكثف، وتتميز ورشة العمل بأنها تفاعلية وتعليمية.</a:t>
            </a:r>
            <a:endParaRPr kumimoji="0" lang="ar-SA" sz="1400" b="0" i="0" u="none" strike="noStrike" kern="1200" cap="none" spc="0" normalizeH="0" baseline="0" noProof="0">
              <a:ln>
                <a:noFill/>
              </a:ln>
              <a:solidFill>
                <a:srgbClr val="000000"/>
              </a:solidFill>
              <a:effectLst/>
              <a:uLnTx/>
              <a:uFillTx/>
              <a:latin typeface="Almarai Light" pitchFamily="2" charset="-78"/>
              <a:ea typeface="+mn-ea"/>
              <a:cs typeface="Almarai Light" pitchFamily="2" charset="-78"/>
            </a:endParaRPr>
          </a:p>
        </p:txBody>
      </p:sp>
      <p:sp>
        <p:nvSpPr>
          <p:cNvPr id="49" name="TextBox 48">
            <a:extLst>
              <a:ext uri="{FF2B5EF4-FFF2-40B4-BE49-F238E27FC236}">
                <a16:creationId xmlns:a16="http://schemas.microsoft.com/office/drawing/2014/main" id="{35ADCCBB-DDA3-24B8-5661-890E5000E2BC}"/>
              </a:ext>
            </a:extLst>
          </p:cNvPr>
          <p:cNvSpPr txBox="1"/>
          <p:nvPr/>
        </p:nvSpPr>
        <p:spPr>
          <a:xfrm>
            <a:off x="9474200" y="3913806"/>
            <a:ext cx="812800" cy="369332"/>
          </a:xfrm>
          <a:prstGeom prst="rect">
            <a:avLst/>
          </a:prstGeom>
          <a:noFill/>
        </p:spPr>
        <p:txBody>
          <a:bodyPr wrap="square">
            <a:spAutoFit/>
          </a:bodyPr>
          <a:lstStyle/>
          <a:p>
            <a:pPr marL="0" marR="0" lvl="0" indent="0" algn="r" defTabSz="914400" rtl="1" eaLnBrk="1" fontAlgn="ctr"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a:ln>
                  <a:noFill/>
                </a:ln>
                <a:solidFill>
                  <a:prstClr val="black"/>
                </a:solidFill>
                <a:effectLst/>
                <a:uLnTx/>
                <a:uFillTx/>
                <a:latin typeface="Almarai Bold" pitchFamily="2" charset="-78"/>
                <a:ea typeface="+mn-ea"/>
                <a:cs typeface="Almarai Bold" pitchFamily="2" charset="-78"/>
              </a:rPr>
              <a:t>مبادرة</a:t>
            </a:r>
            <a:endParaRPr kumimoji="0" lang="ar-SA" sz="1800" b="0" i="0" u="none" strike="noStrike" kern="1200" cap="none" spc="0" normalizeH="0" baseline="0" noProof="0">
              <a:ln>
                <a:noFill/>
              </a:ln>
              <a:solidFill>
                <a:srgbClr val="002060"/>
              </a:solidFill>
              <a:effectLst/>
              <a:uLnTx/>
              <a:uFillTx/>
              <a:latin typeface="Almarai Bold" pitchFamily="2" charset="-78"/>
              <a:ea typeface="+mn-ea"/>
              <a:cs typeface="Almarai Bold" pitchFamily="2" charset="-78"/>
            </a:endParaRPr>
          </a:p>
        </p:txBody>
      </p:sp>
      <p:sp>
        <p:nvSpPr>
          <p:cNvPr id="55" name="TextBox 54">
            <a:extLst>
              <a:ext uri="{FF2B5EF4-FFF2-40B4-BE49-F238E27FC236}">
                <a16:creationId xmlns:a16="http://schemas.microsoft.com/office/drawing/2014/main" id="{23671C51-1D5B-F078-E31E-FF158F0E38A9}"/>
              </a:ext>
            </a:extLst>
          </p:cNvPr>
          <p:cNvSpPr txBox="1"/>
          <p:nvPr/>
        </p:nvSpPr>
        <p:spPr>
          <a:xfrm>
            <a:off x="1320976" y="3919993"/>
            <a:ext cx="7409075" cy="523220"/>
          </a:xfrm>
          <a:prstGeom prst="rect">
            <a:avLst/>
          </a:prstGeom>
          <a:noFill/>
        </p:spPr>
        <p:txBody>
          <a:bodyPr wrap="square">
            <a:spAutoFit/>
          </a:bodyPr>
          <a:lstStyle/>
          <a:p>
            <a:pPr marL="0" marR="0" lvl="0" indent="0" algn="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prstClr val="black"/>
                </a:solidFill>
                <a:effectLst/>
                <a:uLnTx/>
                <a:uFillTx/>
                <a:latin typeface="Almarai Light" pitchFamily="2" charset="-78"/>
                <a:ea typeface="+mn-ea"/>
                <a:cs typeface="Almarai Light" pitchFamily="2" charset="-78"/>
              </a:rPr>
              <a:t>فكرة ينطلق منها مجموعة من الفعاليات لخدمة نفس الهدف (ملاحظة: الايميل وحده لا يعتبر مبادرة في حال كان غير متكرر)</a:t>
            </a:r>
            <a:endParaRPr kumimoji="0" lang="ar-SA" sz="1400" b="0" i="0" u="none" strike="noStrike" kern="1200" cap="none" spc="0" normalizeH="0" baseline="0" noProof="0">
              <a:ln>
                <a:noFill/>
              </a:ln>
              <a:solidFill>
                <a:srgbClr val="000000"/>
              </a:solidFill>
              <a:effectLst/>
              <a:uLnTx/>
              <a:uFillTx/>
              <a:latin typeface="Almarai Light" pitchFamily="2" charset="-78"/>
              <a:ea typeface="+mn-ea"/>
              <a:cs typeface="Almarai Light" pitchFamily="2" charset="-78"/>
            </a:endParaRPr>
          </a:p>
        </p:txBody>
      </p:sp>
      <p:sp>
        <p:nvSpPr>
          <p:cNvPr id="56" name="Rectangle 55">
            <a:extLst>
              <a:ext uri="{FF2B5EF4-FFF2-40B4-BE49-F238E27FC236}">
                <a16:creationId xmlns:a16="http://schemas.microsoft.com/office/drawing/2014/main" id="{5FFC399F-7A7A-8103-E5FF-463DD0306DE0}"/>
              </a:ext>
            </a:extLst>
          </p:cNvPr>
          <p:cNvSpPr/>
          <p:nvPr/>
        </p:nvSpPr>
        <p:spPr>
          <a:xfrm flipH="1">
            <a:off x="8859449" y="4493459"/>
            <a:ext cx="2055002" cy="577700"/>
          </a:xfrm>
          <a:prstGeom prst="rect">
            <a:avLst/>
          </a:prstGeom>
          <a:solidFill>
            <a:srgbClr val="F9C1AD">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lmarai Light" pitchFamily="2" charset="-78"/>
              <a:ea typeface="+mn-ea"/>
              <a:cs typeface="Almarai Light" pitchFamily="2" charset="-78"/>
            </a:endParaRPr>
          </a:p>
        </p:txBody>
      </p:sp>
      <p:sp>
        <p:nvSpPr>
          <p:cNvPr id="57" name="Rectangle 56">
            <a:extLst>
              <a:ext uri="{FF2B5EF4-FFF2-40B4-BE49-F238E27FC236}">
                <a16:creationId xmlns:a16="http://schemas.microsoft.com/office/drawing/2014/main" id="{9D425683-CAA1-8E5C-E4FB-088B07C139BB}"/>
              </a:ext>
            </a:extLst>
          </p:cNvPr>
          <p:cNvSpPr/>
          <p:nvPr/>
        </p:nvSpPr>
        <p:spPr>
          <a:xfrm flipH="1">
            <a:off x="1143000" y="4493459"/>
            <a:ext cx="7587051" cy="577700"/>
          </a:xfrm>
          <a:prstGeom prst="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lmarai Light" pitchFamily="2" charset="-78"/>
              <a:ea typeface="+mn-ea"/>
              <a:cs typeface="Almarai Light" pitchFamily="2" charset="-78"/>
            </a:endParaRPr>
          </a:p>
        </p:txBody>
      </p:sp>
      <p:sp>
        <p:nvSpPr>
          <p:cNvPr id="58" name="TextBox 57">
            <a:extLst>
              <a:ext uri="{FF2B5EF4-FFF2-40B4-BE49-F238E27FC236}">
                <a16:creationId xmlns:a16="http://schemas.microsoft.com/office/drawing/2014/main" id="{512D0738-3981-9126-30DA-8804B2DCC0C6}"/>
              </a:ext>
            </a:extLst>
          </p:cNvPr>
          <p:cNvSpPr txBox="1"/>
          <p:nvPr/>
        </p:nvSpPr>
        <p:spPr>
          <a:xfrm>
            <a:off x="9042400" y="4597643"/>
            <a:ext cx="1543050" cy="369332"/>
          </a:xfrm>
          <a:prstGeom prst="rect">
            <a:avLst/>
          </a:prstGeom>
          <a:noFill/>
        </p:spPr>
        <p:txBody>
          <a:bodyPr wrap="square">
            <a:spAutoFit/>
          </a:bodyPr>
          <a:lstStyle/>
          <a:p>
            <a:pPr marL="0" marR="0" lvl="0" indent="0" algn="r" defTabSz="914400" rtl="1" eaLnBrk="1" fontAlgn="ctr"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a:ln>
                  <a:noFill/>
                </a:ln>
                <a:solidFill>
                  <a:prstClr val="black"/>
                </a:solidFill>
                <a:effectLst/>
                <a:uLnTx/>
                <a:uFillTx/>
                <a:latin typeface="Almarai Bold" pitchFamily="2" charset="-78"/>
                <a:ea typeface="+mn-ea"/>
                <a:cs typeface="Almarai Bold" pitchFamily="2" charset="-78"/>
              </a:rPr>
              <a:t>إعلان داخلي</a:t>
            </a:r>
            <a:endParaRPr kumimoji="0" lang="ar-SA" sz="1800" b="0" i="0" u="none" strike="noStrike" kern="1200" cap="none" spc="0" normalizeH="0" baseline="0" noProof="0">
              <a:ln>
                <a:noFill/>
              </a:ln>
              <a:solidFill>
                <a:srgbClr val="002060"/>
              </a:solidFill>
              <a:effectLst/>
              <a:uLnTx/>
              <a:uFillTx/>
              <a:latin typeface="Almarai Bold" pitchFamily="2" charset="-78"/>
              <a:ea typeface="+mn-ea"/>
              <a:cs typeface="Almarai Bold" pitchFamily="2" charset="-78"/>
            </a:endParaRPr>
          </a:p>
        </p:txBody>
      </p:sp>
      <p:sp>
        <p:nvSpPr>
          <p:cNvPr id="61" name="TextBox 60">
            <a:extLst>
              <a:ext uri="{FF2B5EF4-FFF2-40B4-BE49-F238E27FC236}">
                <a16:creationId xmlns:a16="http://schemas.microsoft.com/office/drawing/2014/main" id="{9D75405E-F4BE-736E-3E19-FBEF66DD92FB}"/>
              </a:ext>
            </a:extLst>
          </p:cNvPr>
          <p:cNvSpPr txBox="1"/>
          <p:nvPr/>
        </p:nvSpPr>
        <p:spPr>
          <a:xfrm>
            <a:off x="-439349" y="4579709"/>
            <a:ext cx="9169400" cy="307777"/>
          </a:xfrm>
          <a:prstGeom prst="rect">
            <a:avLst/>
          </a:prstGeom>
          <a:noFill/>
        </p:spPr>
        <p:txBody>
          <a:bodyPr wrap="square">
            <a:spAutoFit/>
          </a:bodyPr>
          <a:lstStyle/>
          <a:p>
            <a:pPr marL="0" marR="0" lvl="0" indent="0" algn="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prstClr val="black"/>
                </a:solidFill>
                <a:effectLst/>
                <a:uLnTx/>
                <a:uFillTx/>
                <a:latin typeface="Almarai Light" pitchFamily="2" charset="-78"/>
                <a:ea typeface="+mn-ea"/>
                <a:cs typeface="Almarai Light" pitchFamily="2" charset="-78"/>
              </a:rPr>
              <a:t>إرسال رسالة عبر البريد الإلكتروني أم عرض معلومات في الشاشات الداخلية.</a:t>
            </a:r>
            <a:endParaRPr kumimoji="0" lang="ar-SA" sz="1400" b="0" i="0" u="none" strike="noStrike" kern="1200" cap="none" spc="0" normalizeH="0" baseline="0" noProof="0">
              <a:ln>
                <a:noFill/>
              </a:ln>
              <a:solidFill>
                <a:srgbClr val="000000"/>
              </a:solidFill>
              <a:effectLst/>
              <a:uLnTx/>
              <a:uFillTx/>
              <a:latin typeface="Almarai Light" pitchFamily="2" charset="-78"/>
              <a:ea typeface="+mn-ea"/>
              <a:cs typeface="Almarai Light" pitchFamily="2" charset="-78"/>
            </a:endParaRPr>
          </a:p>
        </p:txBody>
      </p:sp>
      <p:sp>
        <p:nvSpPr>
          <p:cNvPr id="62" name="Rectangle 61">
            <a:extLst>
              <a:ext uri="{FF2B5EF4-FFF2-40B4-BE49-F238E27FC236}">
                <a16:creationId xmlns:a16="http://schemas.microsoft.com/office/drawing/2014/main" id="{26A72062-6207-D6FC-D859-FA8351C42031}"/>
              </a:ext>
            </a:extLst>
          </p:cNvPr>
          <p:cNvSpPr/>
          <p:nvPr/>
        </p:nvSpPr>
        <p:spPr>
          <a:xfrm flipH="1">
            <a:off x="8859449" y="5180920"/>
            <a:ext cx="2055002" cy="577700"/>
          </a:xfrm>
          <a:prstGeom prst="rect">
            <a:avLst/>
          </a:prstGeom>
          <a:solidFill>
            <a:srgbClr val="F9C1AD">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lmarai Light" pitchFamily="2" charset="-78"/>
              <a:ea typeface="+mn-ea"/>
              <a:cs typeface="Almarai Light" pitchFamily="2" charset="-78"/>
            </a:endParaRPr>
          </a:p>
        </p:txBody>
      </p:sp>
      <p:sp>
        <p:nvSpPr>
          <p:cNvPr id="63" name="Rectangle 62">
            <a:extLst>
              <a:ext uri="{FF2B5EF4-FFF2-40B4-BE49-F238E27FC236}">
                <a16:creationId xmlns:a16="http://schemas.microsoft.com/office/drawing/2014/main" id="{7E973031-3D9F-C905-A99D-027BDB301F61}"/>
              </a:ext>
            </a:extLst>
          </p:cNvPr>
          <p:cNvSpPr/>
          <p:nvPr/>
        </p:nvSpPr>
        <p:spPr>
          <a:xfrm flipH="1">
            <a:off x="1143000" y="5180920"/>
            <a:ext cx="7587051" cy="577700"/>
          </a:xfrm>
          <a:prstGeom prst="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lmarai Light" pitchFamily="2" charset="-78"/>
              <a:ea typeface="+mn-ea"/>
              <a:cs typeface="Almarai Light" pitchFamily="2" charset="-78"/>
            </a:endParaRPr>
          </a:p>
        </p:txBody>
      </p:sp>
      <p:sp>
        <p:nvSpPr>
          <p:cNvPr id="1024" name="TextBox 1023">
            <a:extLst>
              <a:ext uri="{FF2B5EF4-FFF2-40B4-BE49-F238E27FC236}">
                <a16:creationId xmlns:a16="http://schemas.microsoft.com/office/drawing/2014/main" id="{71A88302-8DDE-502D-654C-FD968F38032F}"/>
              </a:ext>
            </a:extLst>
          </p:cNvPr>
          <p:cNvSpPr txBox="1"/>
          <p:nvPr/>
        </p:nvSpPr>
        <p:spPr>
          <a:xfrm>
            <a:off x="9042400" y="5285104"/>
            <a:ext cx="1543050" cy="369332"/>
          </a:xfrm>
          <a:prstGeom prst="rect">
            <a:avLst/>
          </a:prstGeom>
          <a:noFill/>
        </p:spPr>
        <p:txBody>
          <a:bodyPr wrap="square">
            <a:spAutoFit/>
          </a:bodyPr>
          <a:lstStyle/>
          <a:p>
            <a:pPr marL="0" marR="0" lvl="0" indent="0" algn="r" defTabSz="914400" rtl="1" eaLnBrk="1" fontAlgn="ctr"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a:ln>
                  <a:noFill/>
                </a:ln>
                <a:solidFill>
                  <a:prstClr val="black"/>
                </a:solidFill>
                <a:effectLst/>
                <a:uLnTx/>
                <a:uFillTx/>
                <a:latin typeface="Almarai Bold" pitchFamily="2" charset="-78"/>
                <a:ea typeface="+mn-ea"/>
                <a:cs typeface="Almarai Bold" pitchFamily="2" charset="-78"/>
              </a:rPr>
              <a:t>صيغة التواريخ</a:t>
            </a:r>
            <a:endParaRPr kumimoji="0" lang="ar-SA" sz="1800" b="0" i="0" u="none" strike="noStrike" kern="1200" cap="none" spc="0" normalizeH="0" baseline="0" noProof="0">
              <a:ln>
                <a:noFill/>
              </a:ln>
              <a:solidFill>
                <a:srgbClr val="002060"/>
              </a:solidFill>
              <a:effectLst/>
              <a:uLnTx/>
              <a:uFillTx/>
              <a:latin typeface="Almarai Bold" pitchFamily="2" charset="-78"/>
              <a:ea typeface="+mn-ea"/>
              <a:cs typeface="Almarai Bold" pitchFamily="2" charset="-78"/>
            </a:endParaRPr>
          </a:p>
        </p:txBody>
      </p:sp>
      <p:sp>
        <p:nvSpPr>
          <p:cNvPr id="1025" name="TextBox 1024">
            <a:extLst>
              <a:ext uri="{FF2B5EF4-FFF2-40B4-BE49-F238E27FC236}">
                <a16:creationId xmlns:a16="http://schemas.microsoft.com/office/drawing/2014/main" id="{A28E4B36-2EEC-99A3-729E-BE0D69697688}"/>
              </a:ext>
            </a:extLst>
          </p:cNvPr>
          <p:cNvSpPr txBox="1"/>
          <p:nvPr/>
        </p:nvSpPr>
        <p:spPr>
          <a:xfrm>
            <a:off x="-439349" y="5292570"/>
            <a:ext cx="9169400" cy="307777"/>
          </a:xfrm>
          <a:prstGeom prst="rect">
            <a:avLst/>
          </a:prstGeom>
          <a:noFill/>
        </p:spPr>
        <p:txBody>
          <a:bodyPr wrap="square">
            <a:spAutoFit/>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lmarai Light" pitchFamily="2" charset="-78"/>
                <a:ea typeface="+mn-ea"/>
                <a:cs typeface="Almarai Light" pitchFamily="2" charset="-78"/>
              </a:rPr>
              <a:t>1-Jan-22</a:t>
            </a:r>
            <a:endParaRPr kumimoji="0" lang="en-US" sz="1400" b="0" i="0" u="none" strike="noStrike" kern="1200" cap="none" spc="0" normalizeH="0" baseline="0" noProof="0">
              <a:ln>
                <a:noFill/>
              </a:ln>
              <a:solidFill>
                <a:srgbClr val="000000"/>
              </a:solidFill>
              <a:effectLst/>
              <a:uLnTx/>
              <a:uFillTx/>
              <a:latin typeface="Almarai Light" pitchFamily="2" charset="-78"/>
              <a:ea typeface="+mn-ea"/>
              <a:cs typeface="Almarai Light" pitchFamily="2" charset="-78"/>
            </a:endParaRPr>
          </a:p>
        </p:txBody>
      </p:sp>
      <p:sp>
        <p:nvSpPr>
          <p:cNvPr id="1027" name="Rectangle 1026">
            <a:extLst>
              <a:ext uri="{FF2B5EF4-FFF2-40B4-BE49-F238E27FC236}">
                <a16:creationId xmlns:a16="http://schemas.microsoft.com/office/drawing/2014/main" id="{45375BA3-A193-5FC4-8C1D-D233BB1C0F93}"/>
              </a:ext>
            </a:extLst>
          </p:cNvPr>
          <p:cNvSpPr/>
          <p:nvPr/>
        </p:nvSpPr>
        <p:spPr>
          <a:xfrm flipH="1">
            <a:off x="8859449" y="5828713"/>
            <a:ext cx="2055002" cy="634871"/>
          </a:xfrm>
          <a:prstGeom prst="rect">
            <a:avLst/>
          </a:prstGeom>
          <a:solidFill>
            <a:srgbClr val="F9C1AD">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lmarai Light" pitchFamily="2" charset="-78"/>
              <a:ea typeface="+mn-ea"/>
              <a:cs typeface="Almarai Light" pitchFamily="2" charset="-78"/>
            </a:endParaRPr>
          </a:p>
        </p:txBody>
      </p:sp>
      <p:sp>
        <p:nvSpPr>
          <p:cNvPr id="1028" name="Rectangle 1027">
            <a:extLst>
              <a:ext uri="{FF2B5EF4-FFF2-40B4-BE49-F238E27FC236}">
                <a16:creationId xmlns:a16="http://schemas.microsoft.com/office/drawing/2014/main" id="{ED98F1FF-FCE6-20E5-E05C-5FD25E43DA36}"/>
              </a:ext>
            </a:extLst>
          </p:cNvPr>
          <p:cNvSpPr/>
          <p:nvPr/>
        </p:nvSpPr>
        <p:spPr>
          <a:xfrm flipH="1">
            <a:off x="1142997" y="5828714"/>
            <a:ext cx="7587052" cy="634871"/>
          </a:xfrm>
          <a:prstGeom prst="rect">
            <a:avLst/>
          </a:prstGeom>
          <a:solidFill>
            <a:schemeClr val="bg1">
              <a:lumMod val="9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lmarai Light" pitchFamily="2" charset="-78"/>
              <a:ea typeface="+mn-ea"/>
              <a:cs typeface="Almarai Light" pitchFamily="2" charset="-78"/>
            </a:endParaRPr>
          </a:p>
        </p:txBody>
      </p:sp>
      <p:sp>
        <p:nvSpPr>
          <p:cNvPr id="1029" name="TextBox 1028">
            <a:extLst>
              <a:ext uri="{FF2B5EF4-FFF2-40B4-BE49-F238E27FC236}">
                <a16:creationId xmlns:a16="http://schemas.microsoft.com/office/drawing/2014/main" id="{569CD1BC-55A2-3E77-DFD3-0745AC74CD8F}"/>
              </a:ext>
            </a:extLst>
          </p:cNvPr>
          <p:cNvSpPr txBox="1"/>
          <p:nvPr/>
        </p:nvSpPr>
        <p:spPr>
          <a:xfrm>
            <a:off x="8783249" y="5932898"/>
            <a:ext cx="2055002" cy="369332"/>
          </a:xfrm>
          <a:prstGeom prst="rect">
            <a:avLst/>
          </a:prstGeom>
          <a:noFill/>
        </p:spPr>
        <p:txBody>
          <a:bodyPr wrap="square">
            <a:spAutoFit/>
          </a:bodyPr>
          <a:lstStyle/>
          <a:p>
            <a:pPr marL="0" marR="0" lvl="0" indent="0" algn="r" defTabSz="914400" rtl="1" eaLnBrk="1" fontAlgn="ctr" latinLnBrk="0" hangingPunct="1">
              <a:lnSpc>
                <a:spcPct val="100000"/>
              </a:lnSpc>
              <a:spcBef>
                <a:spcPts val="0"/>
              </a:spcBef>
              <a:spcAft>
                <a:spcPts val="0"/>
              </a:spcAft>
              <a:buClrTx/>
              <a:buSzTx/>
              <a:buFontTx/>
              <a:buNone/>
              <a:tabLst/>
              <a:defRPr/>
            </a:pPr>
            <a:r>
              <a:rPr kumimoji="0" lang="ar-SA" sz="1800" b="0" i="0" u="none" strike="noStrike" kern="1200" cap="none" spc="0" normalizeH="0" baseline="0" noProof="0" dirty="0">
                <a:ln>
                  <a:noFill/>
                </a:ln>
                <a:solidFill>
                  <a:prstClr val="black"/>
                </a:solidFill>
                <a:effectLst/>
                <a:uLnTx/>
                <a:uFillTx/>
                <a:latin typeface="Almarai Bold" pitchFamily="2" charset="-78"/>
                <a:ea typeface="+mn-ea"/>
                <a:cs typeface="Almarai Bold" pitchFamily="2" charset="-78"/>
              </a:rPr>
              <a:t>نموذج المؤشرات</a:t>
            </a:r>
            <a:endParaRPr kumimoji="0" lang="ar-SA" sz="1800" b="0" i="0" u="none" strike="noStrike" kern="1200" cap="none" spc="0" normalizeH="0" baseline="0" noProof="0" dirty="0">
              <a:ln>
                <a:noFill/>
              </a:ln>
              <a:solidFill>
                <a:srgbClr val="002060"/>
              </a:solidFill>
              <a:effectLst/>
              <a:uLnTx/>
              <a:uFillTx/>
              <a:latin typeface="Almarai Bold" pitchFamily="2" charset="-78"/>
              <a:ea typeface="+mn-ea"/>
              <a:cs typeface="Almarai Bold" pitchFamily="2" charset="-78"/>
            </a:endParaRPr>
          </a:p>
        </p:txBody>
      </p:sp>
      <p:sp>
        <p:nvSpPr>
          <p:cNvPr id="1031" name="TextBox 1030">
            <a:extLst>
              <a:ext uri="{FF2B5EF4-FFF2-40B4-BE49-F238E27FC236}">
                <a16:creationId xmlns:a16="http://schemas.microsoft.com/office/drawing/2014/main" id="{8A8BC703-2F64-4FEB-DD71-A7C2F6A299DE}"/>
              </a:ext>
            </a:extLst>
          </p:cNvPr>
          <p:cNvSpPr txBox="1"/>
          <p:nvPr/>
        </p:nvSpPr>
        <p:spPr>
          <a:xfrm>
            <a:off x="1142999" y="5940365"/>
            <a:ext cx="7587051" cy="523220"/>
          </a:xfrm>
          <a:prstGeom prst="rect">
            <a:avLst/>
          </a:prstGeom>
          <a:noFill/>
        </p:spPr>
        <p:txBody>
          <a:bodyPr wrap="square">
            <a:spAutoFit/>
          </a:bodyPr>
          <a:lstStyle/>
          <a:p>
            <a:pPr marL="0" marR="0" lvl="0" indent="0" algn="r" defTabSz="914400" rtl="1" eaLnBrk="1" fontAlgn="ctr"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a:ln>
                  <a:noFill/>
                </a:ln>
                <a:solidFill>
                  <a:prstClr val="black"/>
                </a:solidFill>
                <a:effectLst/>
                <a:uLnTx/>
                <a:uFillTx/>
                <a:latin typeface="Almarai Light" pitchFamily="2" charset="-78"/>
                <a:ea typeface="+mn-ea"/>
                <a:cs typeface="Almarai Light" pitchFamily="2" charset="-78"/>
              </a:rPr>
              <a:t>نموذج يتضمن نتائج المؤشرات التي يصعب قياسها، على أن يتم توقيعها من قبل مدير عام القطاع/الإدارة كل ربع.</a:t>
            </a:r>
            <a:endParaRPr kumimoji="0" lang="ar-SA" sz="1400" b="0" i="0" u="none" strike="noStrike" kern="1200" cap="none" spc="0" normalizeH="0" baseline="0" noProof="0">
              <a:ln>
                <a:noFill/>
              </a:ln>
              <a:solidFill>
                <a:srgbClr val="000000"/>
              </a:solidFill>
              <a:effectLst/>
              <a:uLnTx/>
              <a:uFillTx/>
              <a:latin typeface="Almarai Light" pitchFamily="2" charset="-78"/>
              <a:ea typeface="+mn-ea"/>
              <a:cs typeface="Almarai Light" pitchFamily="2" charset="-78"/>
            </a:endParaRPr>
          </a:p>
        </p:txBody>
      </p:sp>
      <p:pic>
        <p:nvPicPr>
          <p:cNvPr id="3" name="Picture 2">
            <a:extLst>
              <a:ext uri="{FF2B5EF4-FFF2-40B4-BE49-F238E27FC236}">
                <a16:creationId xmlns:a16="http://schemas.microsoft.com/office/drawing/2014/main" id="{762D9E24-31B0-0E00-E7A8-0E5FDC9CDF15}"/>
              </a:ext>
            </a:extLst>
          </p:cNvPr>
          <p:cNvPicPr>
            <a:picLocks noChangeAspect="1"/>
          </p:cNvPicPr>
          <p:nvPr/>
        </p:nvPicPr>
        <p:blipFill>
          <a:blip r:embed="rId3"/>
          <a:stretch>
            <a:fillRect/>
          </a:stretch>
        </p:blipFill>
        <p:spPr>
          <a:xfrm>
            <a:off x="9370684" y="716155"/>
            <a:ext cx="2834640" cy="75339"/>
          </a:xfrm>
          <a:prstGeom prst="rect">
            <a:avLst/>
          </a:prstGeom>
        </p:spPr>
      </p:pic>
      <p:sp>
        <p:nvSpPr>
          <p:cNvPr id="4" name="Rectangle 3">
            <a:extLst>
              <a:ext uri="{FF2B5EF4-FFF2-40B4-BE49-F238E27FC236}">
                <a16:creationId xmlns:a16="http://schemas.microsoft.com/office/drawing/2014/main" id="{93F1CF55-C7B0-627D-AADD-B26548576727}"/>
              </a:ext>
            </a:extLst>
          </p:cNvPr>
          <p:cNvSpPr/>
          <p:nvPr/>
        </p:nvSpPr>
        <p:spPr>
          <a:xfrm>
            <a:off x="9042400" y="136902"/>
            <a:ext cx="3056377" cy="509050"/>
          </a:xfrm>
          <a:prstGeom prst="rect">
            <a:avLst/>
          </a:prstGeom>
        </p:spPr>
        <p:txBody>
          <a:bodyPr wrap="square" anchor="ctr">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ar-SA" sz="1969" b="1" i="0" u="none" strike="noStrike" kern="1200" cap="none" spc="0" normalizeH="0" baseline="0" noProof="0">
                <a:ln>
                  <a:noFill/>
                </a:ln>
                <a:solidFill>
                  <a:srgbClr val="002959"/>
                </a:solidFill>
                <a:effectLst/>
                <a:uLnTx/>
                <a:uFillTx/>
                <a:latin typeface="Almarai Bold" pitchFamily="2" charset="-78"/>
                <a:ea typeface="+mn-ea"/>
                <a:cs typeface="Almarai Bold" pitchFamily="2" charset="-78"/>
              </a:rPr>
              <a:t>المصطلحات والتعريفات</a:t>
            </a:r>
          </a:p>
        </p:txBody>
      </p:sp>
    </p:spTree>
    <p:extLst>
      <p:ext uri="{BB962C8B-B14F-4D97-AF65-F5344CB8AC3E}">
        <p14:creationId xmlns:p14="http://schemas.microsoft.com/office/powerpoint/2010/main" val="2568552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1E8B55A1-4C41-4121-9EA1-FEB738D424A8}"/>
              </a:ext>
            </a:extLst>
          </p:cNvPr>
          <p:cNvPicPr>
            <a:picLocks noChangeAspect="1"/>
          </p:cNvPicPr>
          <p:nvPr/>
        </p:nvPicPr>
        <p:blipFill>
          <a:blip r:embed="rId2">
            <a:duotone>
              <a:prstClr val="black"/>
              <a:srgbClr val="002060">
                <a:tint val="45000"/>
                <a:satMod val="400000"/>
              </a:srgbClr>
            </a:duotone>
          </a:blip>
          <a:stretch>
            <a:fillRect/>
          </a:stretch>
        </p:blipFill>
        <p:spPr>
          <a:xfrm>
            <a:off x="8600792" y="692143"/>
            <a:ext cx="3591208" cy="95447"/>
          </a:xfrm>
          <a:prstGeom prst="rect">
            <a:avLst/>
          </a:prstGeom>
        </p:spPr>
      </p:pic>
      <p:sp>
        <p:nvSpPr>
          <p:cNvPr id="47" name="Rectangle 46">
            <a:extLst>
              <a:ext uri="{FF2B5EF4-FFF2-40B4-BE49-F238E27FC236}">
                <a16:creationId xmlns:a16="http://schemas.microsoft.com/office/drawing/2014/main" id="{3C66CE6E-E856-4F15-A801-82347CDCAF6C}"/>
              </a:ext>
            </a:extLst>
          </p:cNvPr>
          <p:cNvSpPr/>
          <p:nvPr/>
        </p:nvSpPr>
        <p:spPr>
          <a:xfrm>
            <a:off x="8093798" y="142929"/>
            <a:ext cx="4004979" cy="496996"/>
          </a:xfrm>
          <a:prstGeom prst="rect">
            <a:avLst/>
          </a:prstGeom>
        </p:spPr>
        <p:txBody>
          <a:bodyPr wrap="square" anchor="ctr">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نتائج مؤشرات الأداء للربع الاول</a:t>
            </a:r>
          </a:p>
        </p:txBody>
      </p:sp>
      <p:pic>
        <p:nvPicPr>
          <p:cNvPr id="48" name="Picture 47" descr="Text&#10;&#10;Description automatically generated with medium confidence">
            <a:extLst>
              <a:ext uri="{FF2B5EF4-FFF2-40B4-BE49-F238E27FC236}">
                <a16:creationId xmlns:a16="http://schemas.microsoft.com/office/drawing/2014/main" id="{83D29A9F-03F7-44AC-BFEB-380D19E4CB2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t="1" b="-21"/>
          <a:stretch/>
        </p:blipFill>
        <p:spPr>
          <a:xfrm>
            <a:off x="112358" y="84607"/>
            <a:ext cx="819076" cy="631548"/>
          </a:xfrm>
          <a:prstGeom prst="rect">
            <a:avLst/>
          </a:prstGeom>
        </p:spPr>
      </p:pic>
      <p:pic>
        <p:nvPicPr>
          <p:cNvPr id="8" name="Picture 7" descr="A picture containing graphical user interface&#10;&#10;Description automatically generated">
            <a:extLst>
              <a:ext uri="{FF2B5EF4-FFF2-40B4-BE49-F238E27FC236}">
                <a16:creationId xmlns:a16="http://schemas.microsoft.com/office/drawing/2014/main" id="{F23C18C1-B8E1-0C14-BAC3-05648E4774F8}"/>
              </a:ext>
            </a:extLst>
          </p:cNvPr>
          <p:cNvPicPr>
            <a:picLocks noChangeAspect="1"/>
          </p:cNvPicPr>
          <p:nvPr/>
        </p:nvPicPr>
        <p:blipFill rotWithShape="1">
          <a:blip r:embed="rId4"/>
          <a:srcRect l="23677" t="30701" b="25355"/>
          <a:stretch/>
        </p:blipFill>
        <p:spPr>
          <a:xfrm>
            <a:off x="0" y="5884819"/>
            <a:ext cx="9255967" cy="783349"/>
          </a:xfrm>
          <a:prstGeom prst="rect">
            <a:avLst/>
          </a:prstGeom>
        </p:spPr>
      </p:pic>
      <p:sp>
        <p:nvSpPr>
          <p:cNvPr id="2" name="مستطيل: زوايا مستديرة 1">
            <a:extLst>
              <a:ext uri="{FF2B5EF4-FFF2-40B4-BE49-F238E27FC236}">
                <a16:creationId xmlns:a16="http://schemas.microsoft.com/office/drawing/2014/main" id="{3D3307AD-58DC-FAF4-7DBF-710C0157B62B}"/>
              </a:ext>
            </a:extLst>
          </p:cNvPr>
          <p:cNvSpPr/>
          <p:nvPr/>
        </p:nvSpPr>
        <p:spPr>
          <a:xfrm>
            <a:off x="516048" y="1457608"/>
            <a:ext cx="11289671" cy="4572000"/>
          </a:xfrm>
          <a:prstGeom prst="round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Chart 2">
            <a:extLst>
              <a:ext uri="{FF2B5EF4-FFF2-40B4-BE49-F238E27FC236}">
                <a16:creationId xmlns:a16="http://schemas.microsoft.com/office/drawing/2014/main" id="{34C4DD7B-5FAC-3E1F-7044-61B3DC83DC77}"/>
              </a:ext>
            </a:extLst>
          </p:cNvPr>
          <p:cNvGraphicFramePr>
            <a:graphicFrameLocks/>
          </p:cNvGraphicFramePr>
          <p:nvPr>
            <p:extLst>
              <p:ext uri="{D42A27DB-BD31-4B8C-83A1-F6EECF244321}">
                <p14:modId xmlns:p14="http://schemas.microsoft.com/office/powerpoint/2010/main" val="2318510520"/>
              </p:ext>
            </p:extLst>
          </p:nvPr>
        </p:nvGraphicFramePr>
        <p:xfrm>
          <a:off x="802499" y="1605273"/>
          <a:ext cx="10716768" cy="401421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896275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75427-EC30-783B-6CF9-6970FA274721}"/>
            </a:ext>
          </a:extLst>
        </p:cNvPr>
        <p:cNvGrpSpPr/>
        <p:nvPr/>
      </p:nvGrpSpPr>
      <p:grpSpPr>
        <a:xfrm>
          <a:off x="0" y="0"/>
          <a:ext cx="0" cy="0"/>
          <a:chOff x="0" y="0"/>
          <a:chExt cx="0" cy="0"/>
        </a:xfrm>
      </p:grpSpPr>
      <p:pic>
        <p:nvPicPr>
          <p:cNvPr id="46" name="Picture 45">
            <a:extLst>
              <a:ext uri="{FF2B5EF4-FFF2-40B4-BE49-F238E27FC236}">
                <a16:creationId xmlns:a16="http://schemas.microsoft.com/office/drawing/2014/main" id="{C399BA2E-2A2D-D8A6-12F7-644DDCEB2D13}"/>
              </a:ext>
            </a:extLst>
          </p:cNvPr>
          <p:cNvPicPr>
            <a:picLocks noChangeAspect="1"/>
          </p:cNvPicPr>
          <p:nvPr/>
        </p:nvPicPr>
        <p:blipFill>
          <a:blip r:embed="rId2">
            <a:duotone>
              <a:prstClr val="black"/>
              <a:srgbClr val="002060">
                <a:tint val="45000"/>
                <a:satMod val="400000"/>
              </a:srgbClr>
            </a:duotone>
          </a:blip>
          <a:stretch>
            <a:fillRect/>
          </a:stretch>
        </p:blipFill>
        <p:spPr>
          <a:xfrm>
            <a:off x="8600792" y="692143"/>
            <a:ext cx="3591208" cy="95447"/>
          </a:xfrm>
          <a:prstGeom prst="rect">
            <a:avLst/>
          </a:prstGeom>
        </p:spPr>
      </p:pic>
      <p:sp>
        <p:nvSpPr>
          <p:cNvPr id="47" name="Rectangle 46">
            <a:extLst>
              <a:ext uri="{FF2B5EF4-FFF2-40B4-BE49-F238E27FC236}">
                <a16:creationId xmlns:a16="http://schemas.microsoft.com/office/drawing/2014/main" id="{74E732A6-1591-E064-84BA-9E6017D3D020}"/>
              </a:ext>
            </a:extLst>
          </p:cNvPr>
          <p:cNvSpPr/>
          <p:nvPr/>
        </p:nvSpPr>
        <p:spPr>
          <a:xfrm>
            <a:off x="8093798" y="142929"/>
            <a:ext cx="4004979" cy="496996"/>
          </a:xfrm>
          <a:prstGeom prst="rect">
            <a:avLst/>
          </a:prstGeom>
        </p:spPr>
        <p:txBody>
          <a:bodyPr wrap="square" anchor="ctr">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نتائج مؤشرات الأداء للربع الثاني</a:t>
            </a:r>
          </a:p>
        </p:txBody>
      </p:sp>
      <p:pic>
        <p:nvPicPr>
          <p:cNvPr id="48" name="Picture 47" descr="Text&#10;&#10;Description automatically generated with medium confidence">
            <a:extLst>
              <a:ext uri="{FF2B5EF4-FFF2-40B4-BE49-F238E27FC236}">
                <a16:creationId xmlns:a16="http://schemas.microsoft.com/office/drawing/2014/main" id="{1C73849A-D269-B65D-1B33-79815A5C16D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t="1" b="-21"/>
          <a:stretch/>
        </p:blipFill>
        <p:spPr>
          <a:xfrm>
            <a:off x="112358" y="84607"/>
            <a:ext cx="819076" cy="631548"/>
          </a:xfrm>
          <a:prstGeom prst="rect">
            <a:avLst/>
          </a:prstGeom>
        </p:spPr>
      </p:pic>
      <p:pic>
        <p:nvPicPr>
          <p:cNvPr id="8" name="Picture 7" descr="A picture containing graphical user interface&#10;&#10;Description automatically generated">
            <a:extLst>
              <a:ext uri="{FF2B5EF4-FFF2-40B4-BE49-F238E27FC236}">
                <a16:creationId xmlns:a16="http://schemas.microsoft.com/office/drawing/2014/main" id="{CA6ECD14-C141-D004-993E-B75EFE44F335}"/>
              </a:ext>
            </a:extLst>
          </p:cNvPr>
          <p:cNvPicPr>
            <a:picLocks noChangeAspect="1"/>
          </p:cNvPicPr>
          <p:nvPr/>
        </p:nvPicPr>
        <p:blipFill rotWithShape="1">
          <a:blip r:embed="rId4"/>
          <a:srcRect l="23677" t="30701" b="25355"/>
          <a:stretch/>
        </p:blipFill>
        <p:spPr>
          <a:xfrm>
            <a:off x="0" y="5884819"/>
            <a:ext cx="9255967" cy="783349"/>
          </a:xfrm>
          <a:prstGeom prst="rect">
            <a:avLst/>
          </a:prstGeom>
        </p:spPr>
      </p:pic>
      <p:sp>
        <p:nvSpPr>
          <p:cNvPr id="2" name="مستطيل: زوايا مستديرة 1">
            <a:extLst>
              <a:ext uri="{FF2B5EF4-FFF2-40B4-BE49-F238E27FC236}">
                <a16:creationId xmlns:a16="http://schemas.microsoft.com/office/drawing/2014/main" id="{DB712AA8-4603-9E1D-0774-DC50D36E521D}"/>
              </a:ext>
            </a:extLst>
          </p:cNvPr>
          <p:cNvSpPr/>
          <p:nvPr/>
        </p:nvSpPr>
        <p:spPr>
          <a:xfrm>
            <a:off x="516048" y="1457608"/>
            <a:ext cx="11289671" cy="4572000"/>
          </a:xfrm>
          <a:prstGeom prst="round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hart 3">
            <a:extLst>
              <a:ext uri="{FF2B5EF4-FFF2-40B4-BE49-F238E27FC236}">
                <a16:creationId xmlns:a16="http://schemas.microsoft.com/office/drawing/2014/main" id="{A2D8B5BE-28B8-46ED-FDC0-B69AFAE5E50F}"/>
              </a:ext>
            </a:extLst>
          </p:cNvPr>
          <p:cNvGraphicFramePr>
            <a:graphicFrameLocks/>
          </p:cNvGraphicFramePr>
          <p:nvPr/>
        </p:nvGraphicFramePr>
        <p:xfrm>
          <a:off x="642796" y="1901229"/>
          <a:ext cx="11033156" cy="371192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 name="Chart 2">
            <a:extLst>
              <a:ext uri="{FF2B5EF4-FFF2-40B4-BE49-F238E27FC236}">
                <a16:creationId xmlns:a16="http://schemas.microsoft.com/office/drawing/2014/main" id="{8056B78A-07A0-3C0C-DCED-A9C4DEF1172F}"/>
              </a:ext>
            </a:extLst>
          </p:cNvPr>
          <p:cNvGraphicFramePr>
            <a:graphicFrameLocks/>
          </p:cNvGraphicFramePr>
          <p:nvPr>
            <p:extLst>
              <p:ext uri="{D42A27DB-BD31-4B8C-83A1-F6EECF244321}">
                <p14:modId xmlns:p14="http://schemas.microsoft.com/office/powerpoint/2010/main" val="2332427921"/>
              </p:ext>
            </p:extLst>
          </p:nvPr>
        </p:nvGraphicFramePr>
        <p:xfrm>
          <a:off x="749808" y="1843494"/>
          <a:ext cx="10799396" cy="3827389"/>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197920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C9AA2E-C087-D2E1-586C-72DA104AC546}"/>
              </a:ext>
            </a:extLst>
          </p:cNvPr>
          <p:cNvSpPr/>
          <p:nvPr/>
        </p:nvSpPr>
        <p:spPr>
          <a:xfrm>
            <a:off x="5813660" y="0"/>
            <a:ext cx="6196704" cy="600164"/>
          </a:xfrm>
          <a:prstGeom prst="rect">
            <a:avLst/>
          </a:prstGeom>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endParaRPr kumimoji="0" lang="ar-SA" sz="2400" b="0" i="0" u="none" strike="noStrike" kern="1200" cap="none" spc="0" normalizeH="0" baseline="0" noProof="0" dirty="0">
              <a:ln>
                <a:noFill/>
              </a:ln>
              <a:solidFill>
                <a:srgbClr val="002959"/>
              </a:solidFill>
              <a:effectLst/>
              <a:uLnTx/>
              <a:uFillTx/>
              <a:latin typeface="Almarai Bold" pitchFamily="2" charset="-78"/>
              <a:ea typeface="+mn-ea"/>
              <a:cs typeface="Almarai Bold" pitchFamily="2" charset="-78"/>
            </a:endParaRPr>
          </a:p>
        </p:txBody>
      </p:sp>
      <p:graphicFrame>
        <p:nvGraphicFramePr>
          <p:cNvPr id="10" name="Table 2">
            <a:extLst>
              <a:ext uri="{FF2B5EF4-FFF2-40B4-BE49-F238E27FC236}">
                <a16:creationId xmlns:a16="http://schemas.microsoft.com/office/drawing/2014/main" id="{6F62EAAC-8D7D-C924-52BA-8B56440AC990}"/>
              </a:ext>
            </a:extLst>
          </p:cNvPr>
          <p:cNvGraphicFramePr>
            <a:graphicFrameLocks noGrp="1"/>
          </p:cNvGraphicFramePr>
          <p:nvPr>
            <p:extLst>
              <p:ext uri="{D42A27DB-BD31-4B8C-83A1-F6EECF244321}">
                <p14:modId xmlns:p14="http://schemas.microsoft.com/office/powerpoint/2010/main" val="2014877778"/>
              </p:ext>
            </p:extLst>
          </p:nvPr>
        </p:nvGraphicFramePr>
        <p:xfrm>
          <a:off x="0" y="976330"/>
          <a:ext cx="12191999" cy="5169289"/>
        </p:xfrm>
        <a:graphic>
          <a:graphicData uri="http://schemas.openxmlformats.org/drawingml/2006/table">
            <a:tbl>
              <a:tblPr firstRow="1" bandRow="1">
                <a:tableStyleId>{5C22544A-7EE6-4342-B048-85BDC9FD1C3A}</a:tableStyleId>
              </a:tblPr>
              <a:tblGrid>
                <a:gridCol w="3378199">
                  <a:extLst>
                    <a:ext uri="{9D8B030D-6E8A-4147-A177-3AD203B41FA5}">
                      <a16:colId xmlns:a16="http://schemas.microsoft.com/office/drawing/2014/main" val="276634163"/>
                    </a:ext>
                  </a:extLst>
                </a:gridCol>
                <a:gridCol w="5930901">
                  <a:extLst>
                    <a:ext uri="{9D8B030D-6E8A-4147-A177-3AD203B41FA5}">
                      <a16:colId xmlns:a16="http://schemas.microsoft.com/office/drawing/2014/main" val="1759313315"/>
                    </a:ext>
                  </a:extLst>
                </a:gridCol>
                <a:gridCol w="2882899">
                  <a:extLst>
                    <a:ext uri="{9D8B030D-6E8A-4147-A177-3AD203B41FA5}">
                      <a16:colId xmlns:a16="http://schemas.microsoft.com/office/drawing/2014/main" val="3157918808"/>
                    </a:ext>
                  </a:extLst>
                </a:gridCol>
              </a:tblGrid>
              <a:tr h="630503">
                <a:tc>
                  <a:txBody>
                    <a:bodyPr/>
                    <a:lstStyle/>
                    <a:p>
                      <a:pPr algn="ctr">
                        <a:lnSpc>
                          <a:spcPct val="150000"/>
                        </a:lnSpc>
                      </a:pPr>
                      <a:r>
                        <a:rPr lang="ar-SA" sz="1400" dirty="0">
                          <a:latin typeface="Almarai" pitchFamily="2" charset="-78"/>
                          <a:cs typeface="Almarai" pitchFamily="2" charset="-78"/>
                        </a:rPr>
                        <a:t>الهدف التشغيلي</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lnSpc>
                          <a:spcPct val="150000"/>
                        </a:lnSpc>
                      </a:pPr>
                      <a:r>
                        <a:rPr lang="ar-SA" sz="1400" dirty="0">
                          <a:latin typeface="Almarai" pitchFamily="2" charset="-78"/>
                          <a:cs typeface="Almarai" pitchFamily="2" charset="-78"/>
                        </a:rPr>
                        <a:t>شرح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756768457"/>
                  </a:ext>
                </a:extLst>
              </a:tr>
              <a:tr h="787132">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•تحديد توجهات الشركة لمدة 5 سنوات</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بناء استراتيجية خاصة لشركة رافد بالموائمة مع استراتيجية تطوير القابضة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استراتيجية رافد</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9962107"/>
                  </a:ext>
                </a:extLst>
              </a:tr>
              <a:tr h="801647">
                <a:tc>
                  <a:txBody>
                    <a:bodyPr/>
                    <a:lstStyle/>
                    <a:p>
                      <a:pPr algn="r" rtl="1">
                        <a:lnSpc>
                          <a:spcPct val="150000"/>
                        </a:lnSpc>
                      </a:pPr>
                      <a:r>
                        <a:rPr lang="ar-SA" sz="1200" dirty="0">
                          <a:solidFill>
                            <a:schemeClr val="tx1"/>
                          </a:solidFill>
                          <a:latin typeface="Almarai" pitchFamily="2" charset="-78"/>
                          <a:cs typeface="Almarai" pitchFamily="2" charset="-78"/>
                        </a:rPr>
                        <a:t>• تطبيق وتحسين جودة العمليات الداخلية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نسبة السياسات والإجراءات المكتملة لقطاعات الشركة (إن  وُجد).</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السياسات والإجراءات المحدثة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2658606"/>
                  </a:ext>
                </a:extLst>
              </a:tr>
              <a:tr h="630503">
                <a:tc>
                  <a:txBody>
                    <a:bodyPr/>
                    <a:lstStyle/>
                    <a:p>
                      <a:pPr algn="r" rtl="1">
                        <a:lnSpc>
                          <a:spcPct val="150000"/>
                        </a:lnSpc>
                      </a:pPr>
                      <a:r>
                        <a:rPr lang="ar-SA" sz="1200" dirty="0">
                          <a:solidFill>
                            <a:schemeClr val="tx1"/>
                          </a:solidFill>
                          <a:latin typeface="Almarai" pitchFamily="2" charset="-78"/>
                          <a:cs typeface="Almarai" pitchFamily="2" charset="-78"/>
                        </a:rPr>
                        <a:t>• تحسين سمعة الشركة وتعزيز علامتها التجارية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عدد الجوائز والاعتمادات  للشركة.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جوائز واعتمادات</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5332767"/>
                  </a:ext>
                </a:extLst>
              </a:tr>
              <a:tr h="766186">
                <a:tc>
                  <a:txBody>
                    <a:bodyPr/>
                    <a:lstStyle/>
                    <a:p>
                      <a:pPr algn="r" rtl="1">
                        <a:lnSpc>
                          <a:spcPct val="150000"/>
                        </a:lnSpc>
                      </a:pPr>
                      <a:r>
                        <a:rPr lang="ar-SA" sz="1200" dirty="0">
                          <a:solidFill>
                            <a:schemeClr val="tx1"/>
                          </a:solidFill>
                          <a:latin typeface="Almarai" pitchFamily="2" charset="-78"/>
                          <a:cs typeface="Almarai" pitchFamily="2" charset="-78"/>
                        </a:rPr>
                        <a:t>• تطبيق وتحسين جودة العمليات الداخلية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عدد الحملات التوعوية في مجال التميز المؤسسي، والمخاطر، والاستراتيجية للموظفين.</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الحملات التوعوية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6508191"/>
                  </a:ext>
                </a:extLst>
              </a:tr>
              <a:tr h="766186">
                <a:tc>
                  <a:txBody>
                    <a:bodyPr/>
                    <a:lstStyle/>
                    <a:p>
                      <a:pPr algn="r" rtl="1">
                        <a:lnSpc>
                          <a:spcPct val="150000"/>
                        </a:lnSpc>
                      </a:pPr>
                      <a:r>
                        <a:rPr lang="ar-SA" sz="1200" dirty="0">
                          <a:solidFill>
                            <a:schemeClr val="tx1"/>
                          </a:solidFill>
                          <a:latin typeface="Almarai" pitchFamily="2" charset="-78"/>
                          <a:cs typeface="Almarai" pitchFamily="2" charset="-78"/>
                        </a:rPr>
                        <a:t>• تطبيق وتحسين جودة العمليات الداخلية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قياس نسبة المخاطر العالية من إجمالي المخاطر، بهدف ألّا تزيد عن 30% من إجمالي المخاطر.</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المخاطر العالية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9007360"/>
                  </a:ext>
                </a:extLst>
              </a:tr>
              <a:tr h="787132">
                <a:tc>
                  <a:txBody>
                    <a:bodyPr/>
                    <a:lstStyle/>
                    <a:p>
                      <a:pPr algn="r" rtl="1">
                        <a:lnSpc>
                          <a:spcPct val="150000"/>
                        </a:lnSpc>
                      </a:pPr>
                      <a:r>
                        <a:rPr lang="ar-SA" sz="1200" dirty="0">
                          <a:solidFill>
                            <a:schemeClr val="tx1"/>
                          </a:solidFill>
                          <a:latin typeface="Almarai" pitchFamily="2" charset="-78"/>
                          <a:cs typeface="Almarai" pitchFamily="2" charset="-78"/>
                        </a:rPr>
                        <a:t>• زيادة الربحية</a:t>
                      </a:r>
                    </a:p>
                    <a:p>
                      <a:pPr algn="r" rtl="1">
                        <a:lnSpc>
                          <a:spcPct val="150000"/>
                        </a:lnSpc>
                      </a:pPr>
                      <a:r>
                        <a:rPr lang="ar-SA" sz="1200" dirty="0">
                          <a:solidFill>
                            <a:schemeClr val="tx1"/>
                          </a:solidFill>
                          <a:latin typeface="Almarai" pitchFamily="2" charset="-78"/>
                          <a:cs typeface="Almarai" pitchFamily="2" charset="-78"/>
                        </a:rPr>
                        <a:t>• تحسين سمعة الشركة وتعزيز علامتها التجارية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عدد </a:t>
                      </a:r>
                      <a:r>
                        <a:rPr lang="en-US" sz="1200" dirty="0">
                          <a:solidFill>
                            <a:schemeClr val="tx1"/>
                          </a:solidFill>
                          <a:latin typeface="Almarai" pitchFamily="2" charset="-78"/>
                          <a:cs typeface="Almarai" pitchFamily="2" charset="-78"/>
                        </a:rPr>
                        <a:t> </a:t>
                      </a:r>
                      <a:r>
                        <a:rPr lang="ar-SA" sz="1200" dirty="0">
                          <a:solidFill>
                            <a:schemeClr val="tx1"/>
                          </a:solidFill>
                          <a:latin typeface="Almarai" pitchFamily="2" charset="-78"/>
                          <a:cs typeface="Almarai" pitchFamily="2" charset="-78"/>
                        </a:rPr>
                        <a:t>مذكرات التفاهم والاتفاقيات والشراكات الاستراتيجية الموقعة.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الاتفاقيات والشراكات الاستراتيجية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397247"/>
                  </a:ext>
                </a:extLst>
              </a:tr>
            </a:tbl>
          </a:graphicData>
        </a:graphic>
      </p:graphicFrame>
      <p:sp>
        <p:nvSpPr>
          <p:cNvPr id="3" name="TextBox 2">
            <a:extLst>
              <a:ext uri="{FF2B5EF4-FFF2-40B4-BE49-F238E27FC236}">
                <a16:creationId xmlns:a16="http://schemas.microsoft.com/office/drawing/2014/main" id="{CFD580F1-7FCA-E1F3-7E4D-165AB5D78048}"/>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الاستراتيجية وتطوير القطاع</a:t>
            </a:r>
          </a:p>
        </p:txBody>
      </p:sp>
      <p:pic>
        <p:nvPicPr>
          <p:cNvPr id="6" name="Picture 5" descr="Text&#10;&#10;Description automatically generated with medium confidence">
            <a:extLst>
              <a:ext uri="{FF2B5EF4-FFF2-40B4-BE49-F238E27FC236}">
                <a16:creationId xmlns:a16="http://schemas.microsoft.com/office/drawing/2014/main" id="{3B7A3E2F-E2E8-FBEB-974D-E36BC1DCE4D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pic>
        <p:nvPicPr>
          <p:cNvPr id="2" name="Picture 1" descr="A picture containing graphical user interface&#10;&#10;Description automatically generated">
            <a:extLst>
              <a:ext uri="{FF2B5EF4-FFF2-40B4-BE49-F238E27FC236}">
                <a16:creationId xmlns:a16="http://schemas.microsoft.com/office/drawing/2014/main" id="{B495AF33-0C22-2E84-31EC-A6DFAF2A6AF4}"/>
              </a:ext>
            </a:extLst>
          </p:cNvPr>
          <p:cNvPicPr>
            <a:picLocks noChangeAspect="1"/>
          </p:cNvPicPr>
          <p:nvPr/>
        </p:nvPicPr>
        <p:blipFill rotWithShape="1">
          <a:blip r:embed="rId3"/>
          <a:srcRect l="23677" t="39057" b="28402"/>
          <a:stretch/>
        </p:blipFill>
        <p:spPr>
          <a:xfrm>
            <a:off x="0" y="6477595"/>
            <a:ext cx="5382126" cy="380404"/>
          </a:xfrm>
          <a:prstGeom prst="rect">
            <a:avLst/>
          </a:prstGeom>
        </p:spPr>
      </p:pic>
    </p:spTree>
    <p:extLst>
      <p:ext uri="{BB962C8B-B14F-4D97-AF65-F5344CB8AC3E}">
        <p14:creationId xmlns:p14="http://schemas.microsoft.com/office/powerpoint/2010/main" val="4002928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60BA0139-71E0-ACFC-C2B4-24642A1ACC04}"/>
              </a:ext>
            </a:extLst>
          </p:cNvPr>
          <p:cNvGraphicFramePr>
            <a:graphicFrameLocks noGrp="1"/>
          </p:cNvGraphicFramePr>
          <p:nvPr>
            <p:extLst>
              <p:ext uri="{D42A27DB-BD31-4B8C-83A1-F6EECF244321}">
                <p14:modId xmlns:p14="http://schemas.microsoft.com/office/powerpoint/2010/main" val="2475412851"/>
              </p:ext>
            </p:extLst>
          </p:nvPr>
        </p:nvGraphicFramePr>
        <p:xfrm>
          <a:off x="0" y="940640"/>
          <a:ext cx="12192002" cy="5917359"/>
        </p:xfrm>
        <a:graphic>
          <a:graphicData uri="http://schemas.openxmlformats.org/drawingml/2006/table">
            <a:tbl>
              <a:tblPr firstRow="1" bandRow="1">
                <a:tableStyleId>{5C22544A-7EE6-4342-B048-85BDC9FD1C3A}</a:tableStyleId>
              </a:tblPr>
              <a:tblGrid>
                <a:gridCol w="1587500">
                  <a:extLst>
                    <a:ext uri="{9D8B030D-6E8A-4147-A177-3AD203B41FA5}">
                      <a16:colId xmlns:a16="http://schemas.microsoft.com/office/drawing/2014/main" val="2055658794"/>
                    </a:ext>
                  </a:extLst>
                </a:gridCol>
                <a:gridCol w="1079501">
                  <a:extLst>
                    <a:ext uri="{9D8B030D-6E8A-4147-A177-3AD203B41FA5}">
                      <a16:colId xmlns:a16="http://schemas.microsoft.com/office/drawing/2014/main" val="3919127931"/>
                    </a:ext>
                  </a:extLst>
                </a:gridCol>
                <a:gridCol w="5956300">
                  <a:extLst>
                    <a:ext uri="{9D8B030D-6E8A-4147-A177-3AD203B41FA5}">
                      <a16:colId xmlns:a16="http://schemas.microsoft.com/office/drawing/2014/main" val="1759313315"/>
                    </a:ext>
                  </a:extLst>
                </a:gridCol>
                <a:gridCol w="2717801">
                  <a:extLst>
                    <a:ext uri="{9D8B030D-6E8A-4147-A177-3AD203B41FA5}">
                      <a16:colId xmlns:a16="http://schemas.microsoft.com/office/drawing/2014/main" val="3157918808"/>
                    </a:ext>
                  </a:extLst>
                </a:gridCol>
                <a:gridCol w="850900">
                  <a:extLst>
                    <a:ext uri="{9D8B030D-6E8A-4147-A177-3AD203B41FA5}">
                      <a16:colId xmlns:a16="http://schemas.microsoft.com/office/drawing/2014/main" val="635944514"/>
                    </a:ext>
                  </a:extLst>
                </a:gridCol>
              </a:tblGrid>
              <a:tr h="659027">
                <a:tc>
                  <a:txBody>
                    <a:bodyPr/>
                    <a:lstStyle/>
                    <a:p>
                      <a:pPr algn="ctr">
                        <a:lnSpc>
                          <a:spcPct val="150000"/>
                        </a:lnSpc>
                      </a:pPr>
                      <a:r>
                        <a:rPr lang="ar-SA" sz="1400" dirty="0">
                          <a:latin typeface="Almarai" pitchFamily="2" charset="-78"/>
                          <a:cs typeface="Almarai" pitchFamily="2" charset="-78"/>
                        </a:rPr>
                        <a:t>نوع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الهدف</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المعادلة</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الوزن</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931367">
                <a:tc>
                  <a:txBody>
                    <a:bodyPr/>
                    <a:lstStyle/>
                    <a:p>
                      <a:pPr algn="ctr" rtl="1">
                        <a:lnSpc>
                          <a:spcPct val="150000"/>
                        </a:lnSpc>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ar-SA" sz="1200" dirty="0">
                          <a:solidFill>
                            <a:schemeClr val="tx1"/>
                          </a:solidFill>
                          <a:latin typeface="Almarai" pitchFamily="2" charset="-78"/>
                          <a:cs typeface="Almarai" pitchFamily="2" charset="-78"/>
                        </a:rPr>
                        <a:t>75%</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لا يوجد معادلة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استراتيجية رافد</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ar-SA" sz="1200" dirty="0">
                          <a:solidFill>
                            <a:schemeClr val="tx1"/>
                          </a:solidFill>
                          <a:latin typeface="Almarai" pitchFamily="2" charset="-78"/>
                          <a:cs typeface="Almarai" pitchFamily="2" charset="-78"/>
                        </a:rPr>
                        <a:t>25</a:t>
                      </a:r>
                      <a:r>
                        <a:rPr lang="en-US" sz="1200" dirty="0">
                          <a:solidFill>
                            <a:schemeClr val="tx1"/>
                          </a:solidFill>
                          <a:latin typeface="Almarai" pitchFamily="2" charset="-78"/>
                          <a:cs typeface="Almarai" pitchFamily="2" charset="-78"/>
                        </a:rPr>
                        <a:t>%</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2935710478"/>
                  </a:ext>
                </a:extLst>
              </a:tr>
              <a:tr h="766432">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ar-SA" sz="1200" dirty="0">
                          <a:solidFill>
                            <a:schemeClr val="tx1"/>
                          </a:solidFill>
                          <a:latin typeface="Almarai" pitchFamily="2" charset="-78"/>
                          <a:cs typeface="Almarai" pitchFamily="2" charset="-78"/>
                        </a:rPr>
                        <a:t>75%</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القطاعات ذات السياسات والإجراءات المحدثة / مجموع القطاعات) * 100</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السياسات والإجراءات المحدثة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ar-SA" sz="1200" dirty="0">
                          <a:solidFill>
                            <a:schemeClr val="tx1"/>
                          </a:solidFill>
                          <a:latin typeface="Almarai" pitchFamily="2" charset="-78"/>
                          <a:cs typeface="Almarai" pitchFamily="2" charset="-78"/>
                        </a:rPr>
                        <a:t>5%</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082658606"/>
                  </a:ext>
                </a:extLst>
              </a:tr>
              <a:tr h="766432">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ar-SA" sz="1200" dirty="0">
                          <a:solidFill>
                            <a:schemeClr val="tx1"/>
                          </a:solidFill>
                          <a:latin typeface="Almarai" pitchFamily="2" charset="-78"/>
                          <a:cs typeface="Almarai" pitchFamily="2" charset="-78"/>
                        </a:rPr>
                        <a:t>3</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لا يوجد معادلة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جوائز واعتمادات</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ar-SA" sz="1200" dirty="0">
                          <a:solidFill>
                            <a:schemeClr val="tx1"/>
                          </a:solidFill>
                          <a:latin typeface="Almarai" pitchFamily="2" charset="-78"/>
                          <a:cs typeface="Almarai" pitchFamily="2" charset="-78"/>
                        </a:rPr>
                        <a:t>20%</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2055332767"/>
                  </a:ext>
                </a:extLst>
              </a:tr>
              <a:tr h="931367">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ar-SA" sz="1200" dirty="0">
                          <a:solidFill>
                            <a:schemeClr val="tx1"/>
                          </a:solidFill>
                          <a:latin typeface="Almarai" pitchFamily="2" charset="-78"/>
                          <a:cs typeface="Almarai" pitchFamily="2" charset="-78"/>
                        </a:rPr>
                        <a:t>4</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لا يوجد معادلة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الحملات التوعوية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ar-SA" sz="1200" dirty="0">
                          <a:solidFill>
                            <a:schemeClr val="tx1"/>
                          </a:solidFill>
                          <a:latin typeface="Almarai" pitchFamily="2" charset="-78"/>
                          <a:cs typeface="Almarai" pitchFamily="2" charset="-78"/>
                        </a:rPr>
                        <a:t>10%</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2016508191"/>
                  </a:ext>
                </a:extLst>
              </a:tr>
              <a:tr h="931367">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0">
                        <a:lnSpc>
                          <a:spcPct val="150000"/>
                        </a:lnSpc>
                      </a:pPr>
                      <a:r>
                        <a:rPr lang="ar-SA" sz="1200" dirty="0">
                          <a:solidFill>
                            <a:schemeClr val="tx1"/>
                          </a:solidFill>
                          <a:latin typeface="Almarai" pitchFamily="2" charset="-78"/>
                          <a:cs typeface="Almarai" pitchFamily="2" charset="-78"/>
                        </a:rPr>
                        <a:t>%</a:t>
                      </a:r>
                      <a:r>
                        <a:rPr lang="en-US" sz="1200" dirty="0">
                          <a:solidFill>
                            <a:schemeClr val="tx1"/>
                          </a:solidFill>
                          <a:latin typeface="Almarai" pitchFamily="2" charset="-78"/>
                          <a:cs typeface="Almarai" pitchFamily="2" charset="-78"/>
                        </a:rPr>
                        <a:t>≤</a:t>
                      </a:r>
                      <a:r>
                        <a:rPr lang="ar-SA" sz="1200" dirty="0">
                          <a:solidFill>
                            <a:schemeClr val="tx1"/>
                          </a:solidFill>
                          <a:latin typeface="Almarai" pitchFamily="2" charset="-78"/>
                          <a:cs typeface="Almarai" pitchFamily="2" charset="-78"/>
                        </a:rPr>
                        <a:t>30</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المخاطر  العالية (خطر عالي) / إجمالي عدد المخاطر ) * 100</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المخاطر العالية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ar-SA" sz="1200" dirty="0">
                          <a:solidFill>
                            <a:schemeClr val="tx1"/>
                          </a:solidFill>
                          <a:latin typeface="Almarai" pitchFamily="2" charset="-78"/>
                          <a:cs typeface="Almarai" pitchFamily="2" charset="-78"/>
                        </a:rPr>
                        <a:t>20%</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569007360"/>
                  </a:ext>
                </a:extLst>
              </a:tr>
              <a:tr h="931367">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ar-SA" sz="1200" dirty="0">
                          <a:solidFill>
                            <a:schemeClr val="tx1"/>
                          </a:solidFill>
                          <a:latin typeface="Almarai" pitchFamily="2" charset="-78"/>
                          <a:cs typeface="Almarai" pitchFamily="2" charset="-78"/>
                        </a:rPr>
                        <a:t>7</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لا يوجد معادلة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الاتفاقيات والشراكات الاستراتيجية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20%</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722397247"/>
                  </a:ext>
                </a:extLst>
              </a:tr>
            </a:tbl>
          </a:graphicData>
        </a:graphic>
      </p:graphicFrame>
      <p:sp>
        <p:nvSpPr>
          <p:cNvPr id="5" name="Rectangle 4">
            <a:extLst>
              <a:ext uri="{FF2B5EF4-FFF2-40B4-BE49-F238E27FC236}">
                <a16:creationId xmlns:a16="http://schemas.microsoft.com/office/drawing/2014/main" id="{99D476F0-1629-D69F-B4EF-0FFF02042C6C}"/>
              </a:ext>
            </a:extLst>
          </p:cNvPr>
          <p:cNvSpPr/>
          <p:nvPr/>
        </p:nvSpPr>
        <p:spPr>
          <a:xfrm>
            <a:off x="5813660" y="0"/>
            <a:ext cx="6196704" cy="600164"/>
          </a:xfrm>
          <a:prstGeom prst="rect">
            <a:avLst/>
          </a:prstGeom>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endParaRPr kumimoji="0" lang="ar-SA" sz="2400" b="0" i="0" u="none" strike="noStrike" kern="1200" cap="none" spc="0" normalizeH="0" baseline="0" noProof="0" dirty="0">
              <a:ln>
                <a:noFill/>
              </a:ln>
              <a:solidFill>
                <a:srgbClr val="002959"/>
              </a:solidFill>
              <a:effectLst/>
              <a:uLnTx/>
              <a:uFillTx/>
              <a:latin typeface="Almarai Bold" pitchFamily="2" charset="-78"/>
              <a:ea typeface="+mn-ea"/>
              <a:cs typeface="Almarai Bold" pitchFamily="2" charset="-78"/>
            </a:endParaRPr>
          </a:p>
        </p:txBody>
      </p:sp>
      <p:sp>
        <p:nvSpPr>
          <p:cNvPr id="11" name="TextBox 10">
            <a:extLst>
              <a:ext uri="{FF2B5EF4-FFF2-40B4-BE49-F238E27FC236}">
                <a16:creationId xmlns:a16="http://schemas.microsoft.com/office/drawing/2014/main" id="{C45BDF7D-4F35-27A0-A2CF-5F7D9D4B1E76}"/>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الاستراتيجية وتطوير القطاع</a:t>
            </a:r>
          </a:p>
        </p:txBody>
      </p:sp>
      <p:pic>
        <p:nvPicPr>
          <p:cNvPr id="14" name="Picture 13" descr="Text&#10;&#10;Description automatically generated with medium confidence">
            <a:extLst>
              <a:ext uri="{FF2B5EF4-FFF2-40B4-BE49-F238E27FC236}">
                <a16:creationId xmlns:a16="http://schemas.microsoft.com/office/drawing/2014/main" id="{85767B02-FFDF-93FF-A13C-7230ED5A0E8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spTree>
    <p:extLst>
      <p:ext uri="{BB962C8B-B14F-4D97-AF65-F5344CB8AC3E}">
        <p14:creationId xmlns:p14="http://schemas.microsoft.com/office/powerpoint/2010/main" val="3700541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789BD45-5C08-4000-8B10-38CE89618E2B}"/>
              </a:ext>
            </a:extLst>
          </p:cNvPr>
          <p:cNvGraphicFramePr>
            <a:graphicFrameLocks noGrp="1"/>
          </p:cNvGraphicFramePr>
          <p:nvPr>
            <p:extLst>
              <p:ext uri="{D42A27DB-BD31-4B8C-83A1-F6EECF244321}">
                <p14:modId xmlns:p14="http://schemas.microsoft.com/office/powerpoint/2010/main" val="40294180"/>
              </p:ext>
            </p:extLst>
          </p:nvPr>
        </p:nvGraphicFramePr>
        <p:xfrm>
          <a:off x="0" y="716155"/>
          <a:ext cx="12192000" cy="6580602"/>
        </p:xfrm>
        <a:graphic>
          <a:graphicData uri="http://schemas.openxmlformats.org/drawingml/2006/table">
            <a:tbl>
              <a:tblPr firstRow="1" lastRow="1" bandRow="1">
                <a:tableStyleId>{BC89EF96-8CEA-46FF-86C4-4CE0E7609802}</a:tableStyleId>
              </a:tblPr>
              <a:tblGrid>
                <a:gridCol w="3348894">
                  <a:extLst>
                    <a:ext uri="{9D8B030D-6E8A-4147-A177-3AD203B41FA5}">
                      <a16:colId xmlns:a16="http://schemas.microsoft.com/office/drawing/2014/main" val="3528422332"/>
                    </a:ext>
                  </a:extLst>
                </a:gridCol>
                <a:gridCol w="127636">
                  <a:extLst>
                    <a:ext uri="{9D8B030D-6E8A-4147-A177-3AD203B41FA5}">
                      <a16:colId xmlns:a16="http://schemas.microsoft.com/office/drawing/2014/main" val="2388568307"/>
                    </a:ext>
                  </a:extLst>
                </a:gridCol>
                <a:gridCol w="1035618">
                  <a:extLst>
                    <a:ext uri="{9D8B030D-6E8A-4147-A177-3AD203B41FA5}">
                      <a16:colId xmlns:a16="http://schemas.microsoft.com/office/drawing/2014/main" val="4193973655"/>
                    </a:ext>
                  </a:extLst>
                </a:gridCol>
                <a:gridCol w="746314">
                  <a:extLst>
                    <a:ext uri="{9D8B030D-6E8A-4147-A177-3AD203B41FA5}">
                      <a16:colId xmlns:a16="http://schemas.microsoft.com/office/drawing/2014/main" val="290041181"/>
                    </a:ext>
                  </a:extLst>
                </a:gridCol>
                <a:gridCol w="709368">
                  <a:extLst>
                    <a:ext uri="{9D8B030D-6E8A-4147-A177-3AD203B41FA5}">
                      <a16:colId xmlns:a16="http://schemas.microsoft.com/office/drawing/2014/main" val="986504599"/>
                    </a:ext>
                  </a:extLst>
                </a:gridCol>
                <a:gridCol w="709779">
                  <a:extLst>
                    <a:ext uri="{9D8B030D-6E8A-4147-A177-3AD203B41FA5}">
                      <a16:colId xmlns:a16="http://schemas.microsoft.com/office/drawing/2014/main" val="3691410578"/>
                    </a:ext>
                  </a:extLst>
                </a:gridCol>
                <a:gridCol w="595519">
                  <a:extLst>
                    <a:ext uri="{9D8B030D-6E8A-4147-A177-3AD203B41FA5}">
                      <a16:colId xmlns:a16="http://schemas.microsoft.com/office/drawing/2014/main" val="692657871"/>
                    </a:ext>
                  </a:extLst>
                </a:gridCol>
                <a:gridCol w="1129733">
                  <a:extLst>
                    <a:ext uri="{9D8B030D-6E8A-4147-A177-3AD203B41FA5}">
                      <a16:colId xmlns:a16="http://schemas.microsoft.com/office/drawing/2014/main" val="786455139"/>
                    </a:ext>
                  </a:extLst>
                </a:gridCol>
                <a:gridCol w="2099158">
                  <a:extLst>
                    <a:ext uri="{9D8B030D-6E8A-4147-A177-3AD203B41FA5}">
                      <a16:colId xmlns:a16="http://schemas.microsoft.com/office/drawing/2014/main" val="313549563"/>
                    </a:ext>
                  </a:extLst>
                </a:gridCol>
                <a:gridCol w="729559">
                  <a:extLst>
                    <a:ext uri="{9D8B030D-6E8A-4147-A177-3AD203B41FA5}">
                      <a16:colId xmlns:a16="http://schemas.microsoft.com/office/drawing/2014/main" val="2142733880"/>
                    </a:ext>
                  </a:extLst>
                </a:gridCol>
                <a:gridCol w="960422">
                  <a:extLst>
                    <a:ext uri="{9D8B030D-6E8A-4147-A177-3AD203B41FA5}">
                      <a16:colId xmlns:a16="http://schemas.microsoft.com/office/drawing/2014/main" val="481353969"/>
                    </a:ext>
                  </a:extLst>
                </a:gridCol>
              </a:tblGrid>
              <a:tr h="454363">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dirty="0">
                          <a:ln>
                            <a:noFill/>
                          </a:ln>
                          <a:solidFill>
                            <a:schemeClr val="bg1"/>
                          </a:solidFill>
                          <a:effectLst/>
                          <a:uLnTx/>
                          <a:uFillTx/>
                          <a:latin typeface="Almarai Bold" pitchFamily="2" charset="-78"/>
                          <a:ea typeface="+mn-ea"/>
                          <a:cs typeface="Almarai Bold" pitchFamily="2" charset="-78"/>
                        </a:rPr>
                        <a:t>الملاحظات</a:t>
                      </a:r>
                      <a:endParaRPr kumimoji="0" lang="en-GB" sz="1400" b="1" i="0" u="none" strike="noStrike" kern="1200" cap="none" spc="40" normalizeH="0" baseline="0" dirty="0">
                        <a:ln>
                          <a:noFill/>
                        </a:ln>
                        <a:solidFill>
                          <a:schemeClr val="bg1"/>
                        </a:solidFill>
                        <a:effectLst/>
                        <a:uLnTx/>
                        <a:uFillTx/>
                        <a:latin typeface="Almarai Bold" pitchFamily="2" charset="-78"/>
                        <a:ea typeface="+mn-ea"/>
                        <a:cs typeface="Almarai Bold"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النتيجة النهائية</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Bold" pitchFamily="2" charset="-78"/>
                          <a:ea typeface="+mn-ea"/>
                          <a:cs typeface="Almarai Bold" pitchFamily="2" charset="-78"/>
                        </a:rPr>
                        <a:t>Q4</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Bold" pitchFamily="2" charset="-78"/>
                          <a:ea typeface="+mn-ea"/>
                          <a:cs typeface="Almarai Bold" pitchFamily="2" charset="-78"/>
                        </a:rPr>
                        <a:t>Q3</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400" dirty="0">
                          <a:solidFill>
                            <a:schemeClr val="bg1"/>
                          </a:solidFill>
                          <a:latin typeface="Almarai" pitchFamily="2" charset="-78"/>
                          <a:cs typeface="Almarai" pitchFamily="2" charset="-78"/>
                        </a:rPr>
                        <a:t>Q2</a:t>
                      </a:r>
                      <a:endParaRPr sz="1400" dirty="0">
                        <a:solidFill>
                          <a:schemeClr val="bg1"/>
                        </a:solidFill>
                        <a:latin typeface="Almarai" pitchFamily="2" charset="-78"/>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Bold" pitchFamily="2" charset="-78"/>
                          <a:ea typeface="+mn-ea"/>
                          <a:cs typeface="Almarai Bold" pitchFamily="2" charset="-78"/>
                        </a:rPr>
                        <a:t>Q1</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Bold" pitchFamily="2" charset="-78"/>
                          <a:ea typeface="+mn-ea"/>
                          <a:cs typeface="Almarai Bold" pitchFamily="2" charset="-78"/>
                        </a:rPr>
                        <a:t>المستهدف</a:t>
                      </a:r>
                      <a:endParaRPr kumimoji="0" lang="en-GB" sz="1400" b="1" i="0" u="none" strike="noStrike" kern="1200" cap="none" spc="40" normalizeH="0" baseline="0" noProof="0" dirty="0">
                        <a:ln>
                          <a:noFill/>
                        </a:ln>
                        <a:solidFill>
                          <a:schemeClr val="bg1"/>
                        </a:solidFill>
                        <a:effectLst/>
                        <a:uLnTx/>
                        <a:uFillTx/>
                        <a:latin typeface="Almarai Bold" pitchFamily="2" charset="-78"/>
                        <a:ea typeface="+mn-ea"/>
                        <a:cs typeface="Almarai Bold"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Bold" pitchFamily="2" charset="-78"/>
                          <a:ea typeface="+mn-ea"/>
                          <a:cs typeface="Almarai Bold" pitchFamily="2" charset="-78"/>
                        </a:rPr>
                        <a:t>المؤشر</a:t>
                      </a:r>
                      <a:endParaRPr kumimoji="0" lang="en-GB" sz="1400" b="1" i="0" u="none" strike="noStrike" kern="1200" cap="none" spc="40" normalizeH="0" baseline="0" noProof="0" dirty="0">
                        <a:ln>
                          <a:noFill/>
                        </a:ln>
                        <a:solidFill>
                          <a:schemeClr val="bg1"/>
                        </a:solidFill>
                        <a:effectLst/>
                        <a:uLnTx/>
                        <a:uFillTx/>
                        <a:latin typeface="Almarai Bold" pitchFamily="2" charset="-78"/>
                        <a:ea typeface="+mn-ea"/>
                        <a:cs typeface="Almarai Bold"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Bold" pitchFamily="2" charset="-78"/>
                          <a:ea typeface="+mn-ea"/>
                          <a:cs typeface="Almarai Bold" pitchFamily="2" charset="-78"/>
                        </a:rPr>
                        <a:t>الوزن</a:t>
                      </a:r>
                      <a:endParaRPr kumimoji="0" lang="en-GB" sz="1400" b="1" i="0" u="none" strike="noStrike" kern="1200" cap="none" spc="40" normalizeH="0" baseline="0" noProof="0" dirty="0">
                        <a:ln>
                          <a:noFill/>
                        </a:ln>
                        <a:solidFill>
                          <a:schemeClr val="bg1"/>
                        </a:solidFill>
                        <a:effectLst/>
                        <a:uLnTx/>
                        <a:uFillTx/>
                        <a:latin typeface="Almarai Bold" pitchFamily="2" charset="-78"/>
                        <a:ea typeface="+mn-ea"/>
                        <a:cs typeface="Almarai Bold"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Bold" pitchFamily="2" charset="-78"/>
                          <a:ea typeface="+mn-ea"/>
                          <a:cs typeface="Almarai Bold" pitchFamily="2" charset="-78"/>
                        </a:rPr>
                        <a:t>نوع المؤشر</a:t>
                      </a:r>
                      <a:endParaRPr kumimoji="0" lang="en-GB" sz="1400" b="1" i="0" u="none" strike="noStrike" kern="1200" cap="none" spc="40" normalizeH="0" baseline="0" noProof="0" dirty="0">
                        <a:ln>
                          <a:noFill/>
                        </a:ln>
                        <a:solidFill>
                          <a:schemeClr val="bg1"/>
                        </a:solidFill>
                        <a:effectLst/>
                        <a:uLnTx/>
                        <a:uFillTx/>
                        <a:latin typeface="Almarai Bold" pitchFamily="2" charset="-78"/>
                        <a:ea typeface="+mn-ea"/>
                        <a:cs typeface="Almarai Bold"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506390058"/>
                  </a:ext>
                </a:extLst>
              </a:tr>
              <a:tr h="831847">
                <a:tc>
                  <a:txBody>
                    <a:bodyPr/>
                    <a:lstStyle/>
                    <a:p>
                      <a:pPr marL="0" marR="0" lvl="0" indent="0" algn="justLow" defTabSz="914400" rtl="1" eaLnBrk="1" fontAlgn="b" latinLnBrk="0" hangingPunct="1">
                        <a:lnSpc>
                          <a:spcPct val="100000"/>
                        </a:lnSpc>
                        <a:spcBef>
                          <a:spcPts val="0"/>
                        </a:spcBef>
                        <a:spcAft>
                          <a:spcPts val="0"/>
                        </a:spcAft>
                        <a:buClrTx/>
                        <a:buSzTx/>
                        <a:buFontTx/>
                        <a:buNone/>
                        <a:tabLst/>
                        <a:defRPr/>
                      </a:pPr>
                      <a:r>
                        <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 -</a:t>
                      </a: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Q1+Q2</a:t>
                      </a: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تم العمل على نطاق العمل والعرض على مجلس المديرين وتم التوجيه من قبل الشركة القابضة على ان تتم الموائمة واسقاط مشروع استراتيجية والاندماج مع شركة المباني. </a:t>
                      </a: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1">
                        <a:lnSpc>
                          <a:spcPct val="150000"/>
                        </a:lnSpc>
                      </a:pPr>
                      <a:r>
                        <a:rPr lang="ar-SA" sz="1200" dirty="0">
                          <a:solidFill>
                            <a:schemeClr val="tx1"/>
                          </a:solidFill>
                          <a:latin typeface="Almarai" pitchFamily="2" charset="-78"/>
                          <a:cs typeface="Almarai" pitchFamily="2" charset="-78"/>
                        </a:rPr>
                        <a:t>75%</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dirty="0">
                          <a:solidFill>
                            <a:schemeClr val="tx1"/>
                          </a:solidFill>
                          <a:latin typeface="Almarai" pitchFamily="2" charset="-78"/>
                          <a:cs typeface="Almarai" pitchFamily="2" charset="-78"/>
                        </a:rPr>
                        <a:t>% استراتيجية رافد</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ar-SA" sz="1200" dirty="0">
                          <a:solidFill>
                            <a:schemeClr val="tx1"/>
                          </a:solidFill>
                          <a:latin typeface="Almarai" pitchFamily="2" charset="-78"/>
                          <a:cs typeface="Almarai" pitchFamily="2" charset="-78"/>
                        </a:rPr>
                        <a:t>25</a:t>
                      </a:r>
                      <a:r>
                        <a:rPr lang="en-US" sz="1200" dirty="0">
                          <a:solidFill>
                            <a:schemeClr val="tx1"/>
                          </a:solidFill>
                          <a:latin typeface="Almarai" pitchFamily="2" charset="-78"/>
                          <a:cs typeface="Almarai" pitchFamily="2" charset="-78"/>
                        </a:rPr>
                        <a: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lnSpc>
                          <a:spcPct val="150000"/>
                        </a:lnSpc>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345933"/>
                  </a:ext>
                </a:extLst>
              </a:tr>
              <a:tr h="639837">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Q1+Q2</a:t>
                      </a: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-تم اقفال وتحديث كافة السياسات والإجراءات في الشركة داخلياً وخارجيا اخذ الاعتبار ملاحظات الاعتمادات الخارجية دون وجود موظف على هذه الوظيفة </a:t>
                      </a: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96%</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96%</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1">
                        <a:lnSpc>
                          <a:spcPct val="150000"/>
                        </a:lnSpc>
                      </a:pPr>
                      <a:r>
                        <a:rPr lang="ar-SA" sz="1200" dirty="0">
                          <a:solidFill>
                            <a:schemeClr val="tx1"/>
                          </a:solidFill>
                          <a:latin typeface="Almarai" pitchFamily="2" charset="-78"/>
                          <a:cs typeface="Almarai" pitchFamily="2" charset="-78"/>
                        </a:rPr>
                        <a:t>75%</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dirty="0">
                          <a:solidFill>
                            <a:schemeClr val="tx1"/>
                          </a:solidFill>
                          <a:latin typeface="Almarai" pitchFamily="2" charset="-78"/>
                          <a:cs typeface="Almarai" pitchFamily="2" charset="-78"/>
                        </a:rPr>
                        <a:t>% السياسات والإجراءات المحدثة</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ar-SA" sz="1200" dirty="0">
                          <a:solidFill>
                            <a:schemeClr val="tx1"/>
                          </a:solidFill>
                          <a:latin typeface="Almarai" pitchFamily="2" charset="-78"/>
                          <a:cs typeface="Almarai" pitchFamily="2" charset="-78"/>
                        </a:rPr>
                        <a:t>5</a:t>
                      </a:r>
                      <a:r>
                        <a:rPr lang="en-US" sz="1200" dirty="0">
                          <a:solidFill>
                            <a:schemeClr val="tx1"/>
                          </a:solidFill>
                          <a:latin typeface="Almarai" pitchFamily="2" charset="-78"/>
                          <a:cs typeface="Almarai" pitchFamily="2" charset="-78"/>
                        </a:rPr>
                        <a: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2732480"/>
                  </a:ext>
                </a:extLst>
              </a:tr>
              <a:tr h="2367925">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 -</a:t>
                      </a: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Q1+Q2</a:t>
                      </a: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خلال الفترة الماضية وهذه الفترة نعمل على نطاق تصحيح الأوضاع لإعتماد السلامة المرورية على الطرق وهو ساري حتى مايو 2027 والإعتماد الخليجي وهو ساري حتى مارس 2027 كنا نعمل على تحديث الوثائق ومواءمتها مع الإجراءات المستحدثة لكلا الشهادتين لإجراءات المتابعة السنوية من قبل الجهة المانحة وجهة الاعتماد والاستعداد لهما، مع رغبتنا في تجديد اعتماد افضل بيئة عمل بنهاية الربع الرابع للسنة الحالية واستحداث شهادة افضل بيئة صحية اذا كنا نلبي المتطلبات، ومن المتوقع الحصول على الاعتماد السعودي بنهاية العام حيث نعمل على اكمال المتطلبات للتجهز لجلسة التقييم</a:t>
                      </a:r>
                    </a:p>
                    <a:p>
                      <a:pPr marL="0" marR="0" lvl="0" indent="0" algn="r" defTabSz="914400" rtl="1" eaLnBrk="1" fontAlgn="b" latinLnBrk="0" hangingPunct="1">
                        <a:lnSpc>
                          <a:spcPct val="100000"/>
                        </a:lnSpc>
                        <a:spcBef>
                          <a:spcPts val="0"/>
                        </a:spcBef>
                        <a:spcAft>
                          <a:spcPts val="0"/>
                        </a:spcAft>
                        <a:buClrTx/>
                        <a:buSzTx/>
                        <a:buFontTx/>
                        <a:buNone/>
                        <a:tabLst/>
                        <a:defRPr/>
                      </a:pP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يتم حصد الجوائز في الربع الأخير من العام</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1">
                        <a:lnSpc>
                          <a:spcPct val="150000"/>
                        </a:lnSpc>
                      </a:pPr>
                      <a:r>
                        <a:rPr lang="ar-SA" sz="1200" dirty="0">
                          <a:solidFill>
                            <a:schemeClr val="tx1"/>
                          </a:solidFill>
                          <a:latin typeface="Almarai" pitchFamily="2" charset="-78"/>
                          <a:cs typeface="Almarai" pitchFamily="2" charset="-78"/>
                        </a:rPr>
                        <a:t>3</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dirty="0">
                          <a:solidFill>
                            <a:schemeClr val="tx1"/>
                          </a:solidFill>
                          <a:latin typeface="Almarai" pitchFamily="2" charset="-78"/>
                          <a:cs typeface="Almarai" pitchFamily="2" charset="-78"/>
                        </a:rPr>
                        <a:t># جوائز واعتمادات</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dirty="0">
                          <a:solidFill>
                            <a:schemeClr val="tx1"/>
                          </a:solidFill>
                          <a:latin typeface="Almarai" pitchFamily="2" charset="-78"/>
                          <a:cs typeface="Almarai" pitchFamily="2" charset="-78"/>
                        </a:rPr>
                        <a:t>20%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1117382"/>
                  </a:ext>
                </a:extLst>
              </a:tr>
              <a:tr h="483193">
                <a:tc>
                  <a:txBody>
                    <a:bodyPr/>
                    <a:lstStyle/>
                    <a:p>
                      <a:pPr marL="0" marR="0" lvl="0" indent="0" algn="r" defTabSz="914400" rtl="1" eaLnBrk="1" fontAlgn="b"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a:t>
                      </a:r>
                      <a:r>
                        <a:rPr kumimoji="0" lang="en-US" sz="1200" b="1"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Q1</a:t>
                      </a: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+Q2</a:t>
                      </a:r>
                      <a:r>
                        <a:rPr kumimoji="0" lang="ar-SA"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تم تأجيل الحملة التوعوية حتى الربع الرابع من العام بحسب الخطة العامة </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1">
                        <a:lnSpc>
                          <a:spcPct val="150000"/>
                        </a:lnSpc>
                      </a:pPr>
                      <a:r>
                        <a:rPr lang="ar-SA" sz="1200" dirty="0">
                          <a:solidFill>
                            <a:schemeClr val="tx1"/>
                          </a:solidFill>
                          <a:latin typeface="Almarai" pitchFamily="2" charset="-78"/>
                          <a:cs typeface="Almarai" pitchFamily="2" charset="-78"/>
                        </a:rPr>
                        <a:t>4</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dirty="0">
                          <a:solidFill>
                            <a:schemeClr val="tx1"/>
                          </a:solidFill>
                          <a:latin typeface="Almarai" pitchFamily="2" charset="-78"/>
                          <a:cs typeface="Almarai" pitchFamily="2" charset="-78"/>
                        </a:rPr>
                        <a:t># الحملات التوعوية</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dirty="0">
                          <a:solidFill>
                            <a:schemeClr val="tx1"/>
                          </a:solidFill>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0818292"/>
                  </a:ext>
                </a:extLst>
              </a:tr>
              <a:tr h="738448">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 Q1+Q2</a:t>
                      </a: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تم اقفال 70% من الملاحظات ذات المخاطر العالية على الشركة المتبقي </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32%</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32%</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a:lnSpc>
                          <a:spcPct val="150000"/>
                        </a:lnSpc>
                      </a:pPr>
                      <a:r>
                        <a:rPr lang="ar-SA" sz="1200" dirty="0">
                          <a:solidFill>
                            <a:schemeClr val="tx1"/>
                          </a:solidFill>
                          <a:latin typeface="Almarai" pitchFamily="2" charset="-78"/>
                          <a:cs typeface="Almarai" pitchFamily="2" charset="-78"/>
                        </a:rPr>
                        <a:t>%</a:t>
                      </a:r>
                      <a:r>
                        <a:rPr lang="en-US" sz="1200" dirty="0">
                          <a:solidFill>
                            <a:schemeClr val="tx1"/>
                          </a:solidFill>
                          <a:latin typeface="Almarai" pitchFamily="2" charset="-78"/>
                          <a:cs typeface="Almarai" pitchFamily="2" charset="-78"/>
                        </a:rPr>
                        <a:t>≤</a:t>
                      </a:r>
                      <a:r>
                        <a:rPr lang="ar-SA" sz="1200" dirty="0">
                          <a:solidFill>
                            <a:schemeClr val="tx1"/>
                          </a:solidFill>
                          <a:latin typeface="Almarai" pitchFamily="2" charset="-78"/>
                          <a:cs typeface="Almarai" pitchFamily="2" charset="-78"/>
                        </a:rPr>
                        <a:t>30</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dirty="0">
                          <a:solidFill>
                            <a:schemeClr val="tx1"/>
                          </a:solidFill>
                          <a:latin typeface="Almarai" pitchFamily="2" charset="-78"/>
                          <a:cs typeface="Almarai" pitchFamily="2" charset="-78"/>
                        </a:rPr>
                        <a:t>% المخاطر العالية</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dirty="0">
                          <a:solidFill>
                            <a:schemeClr val="tx1"/>
                          </a:solidFill>
                          <a:latin typeface="Almarai" pitchFamily="2" charset="-78"/>
                          <a:cs typeface="Almarai" pitchFamily="2" charset="-78"/>
                        </a:rPr>
                        <a:t>20%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0065364"/>
                  </a:ext>
                </a:extLst>
              </a:tr>
              <a:tr h="626232">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kumimoji="0" lang="en-US"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a:t>
                      </a:r>
                      <a:r>
                        <a:rPr kumimoji="0" lang="en-US" sz="1200" b="1"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Q1</a:t>
                      </a: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+Q2</a:t>
                      </a:r>
                      <a:r>
                        <a:rPr kumimoji="0" lang="ar-SA"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كانت هنالك اتفاقيات تحت الاجراء حتى نهاية الربع الثاني وتم توقيعها في بداية الربع الثالث </a:t>
                      </a:r>
                      <a:endParaRPr kumimoji="0" lang="en-US"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1">
                        <a:lnSpc>
                          <a:spcPct val="150000"/>
                        </a:lnSpc>
                      </a:pPr>
                      <a:r>
                        <a:rPr lang="ar-SA" sz="1200" dirty="0">
                          <a:solidFill>
                            <a:schemeClr val="tx1"/>
                          </a:solidFill>
                          <a:latin typeface="Almarai" pitchFamily="2" charset="-78"/>
                          <a:cs typeface="Almarai" pitchFamily="2" charset="-78"/>
                        </a:rPr>
                        <a:t>7</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b="0" dirty="0">
                          <a:solidFill>
                            <a:schemeClr val="tx1"/>
                          </a:solidFill>
                          <a:latin typeface="Almarai" pitchFamily="2" charset="-78"/>
                          <a:cs typeface="Almarai" pitchFamily="2" charset="-78"/>
                        </a:rPr>
                        <a:t># الاتفاقيات والشراكات الاستراتيجية</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b="0" dirty="0">
                          <a:solidFill>
                            <a:schemeClr val="tx1"/>
                          </a:solidFill>
                          <a:latin typeface="Almarai" pitchFamily="2" charset="-78"/>
                          <a:cs typeface="Almarai" pitchFamily="2" charset="-78"/>
                        </a:rPr>
                        <a:t>20%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سنوي</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21032384"/>
                  </a:ext>
                </a:extLst>
              </a:tr>
            </a:tbl>
          </a:graphicData>
        </a:graphic>
      </p:graphicFrame>
      <p:pic>
        <p:nvPicPr>
          <p:cNvPr id="26" name="Picture 25" descr="Text&#10;&#10;Description automatically generated with medium confidence">
            <a:extLst>
              <a:ext uri="{FF2B5EF4-FFF2-40B4-BE49-F238E27FC236}">
                <a16:creationId xmlns:a16="http://schemas.microsoft.com/office/drawing/2014/main" id="{4F4AF57B-9DE0-492B-9DB0-50C6A26A0F7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t="1" b="-21"/>
          <a:stretch/>
        </p:blipFill>
        <p:spPr>
          <a:xfrm>
            <a:off x="112358" y="84607"/>
            <a:ext cx="819076" cy="631548"/>
          </a:xfrm>
          <a:prstGeom prst="rect">
            <a:avLst/>
          </a:prstGeom>
        </p:spPr>
      </p:pic>
      <p:sp>
        <p:nvSpPr>
          <p:cNvPr id="10" name="Rectangle 9">
            <a:extLst>
              <a:ext uri="{FF2B5EF4-FFF2-40B4-BE49-F238E27FC236}">
                <a16:creationId xmlns:a16="http://schemas.microsoft.com/office/drawing/2014/main" id="{4D4FFFC4-E065-64A4-2E89-31676DB5159D}"/>
              </a:ext>
            </a:extLst>
          </p:cNvPr>
          <p:cNvSpPr/>
          <p:nvPr/>
        </p:nvSpPr>
        <p:spPr>
          <a:xfrm>
            <a:off x="5702157" y="143025"/>
            <a:ext cx="6396620" cy="496803"/>
          </a:xfrm>
          <a:prstGeom prst="rect">
            <a:avLst/>
          </a:prstGeom>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الاستراتيجية وتطوير القطاع</a:t>
            </a:r>
          </a:p>
        </p:txBody>
      </p:sp>
    </p:spTree>
    <p:extLst>
      <p:ext uri="{BB962C8B-B14F-4D97-AF65-F5344CB8AC3E}">
        <p14:creationId xmlns:p14="http://schemas.microsoft.com/office/powerpoint/2010/main" val="147347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B57B034-C7F8-9A2D-80B8-BBAE67037DAB}"/>
              </a:ext>
            </a:extLst>
          </p:cNvPr>
          <p:cNvSpPr/>
          <p:nvPr/>
        </p:nvSpPr>
        <p:spPr>
          <a:xfrm>
            <a:off x="5813660" y="0"/>
            <a:ext cx="6196704" cy="600164"/>
          </a:xfrm>
          <a:prstGeom prst="rect">
            <a:avLst/>
          </a:prstGeom>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endParaRPr kumimoji="0" lang="ar-SA" sz="2400" b="0" i="0" u="none" strike="noStrike" kern="1200" cap="none" spc="0" normalizeH="0" baseline="0" noProof="0" dirty="0">
              <a:ln>
                <a:noFill/>
              </a:ln>
              <a:solidFill>
                <a:srgbClr val="002959"/>
              </a:solidFill>
              <a:effectLst/>
              <a:uLnTx/>
              <a:uFillTx/>
              <a:latin typeface="Almarai Bold" pitchFamily="2" charset="-78"/>
              <a:ea typeface="+mn-ea"/>
              <a:cs typeface="Almarai Bold" pitchFamily="2" charset="-78"/>
            </a:endParaRPr>
          </a:p>
        </p:txBody>
      </p:sp>
      <p:sp>
        <p:nvSpPr>
          <p:cNvPr id="7" name="TextBox 6">
            <a:extLst>
              <a:ext uri="{FF2B5EF4-FFF2-40B4-BE49-F238E27FC236}">
                <a16:creationId xmlns:a16="http://schemas.microsoft.com/office/drawing/2014/main" id="{55A44550-D5C8-B58D-081B-26786CB225FC}"/>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المالية</a:t>
            </a:r>
          </a:p>
        </p:txBody>
      </p:sp>
      <p:pic>
        <p:nvPicPr>
          <p:cNvPr id="12" name="Picture 11" descr="Text&#10;&#10;Description automatically generated with medium confidence">
            <a:extLst>
              <a:ext uri="{FF2B5EF4-FFF2-40B4-BE49-F238E27FC236}">
                <a16:creationId xmlns:a16="http://schemas.microsoft.com/office/drawing/2014/main" id="{55C42E9C-E044-341B-669F-53D27E1BE5C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graphicFrame>
        <p:nvGraphicFramePr>
          <p:cNvPr id="13" name="Table 2">
            <a:extLst>
              <a:ext uri="{FF2B5EF4-FFF2-40B4-BE49-F238E27FC236}">
                <a16:creationId xmlns:a16="http://schemas.microsoft.com/office/drawing/2014/main" id="{1E4FCB29-3777-5B99-A0EC-B06E4B48F4D0}"/>
              </a:ext>
            </a:extLst>
          </p:cNvPr>
          <p:cNvGraphicFramePr>
            <a:graphicFrameLocks noGrp="1"/>
          </p:cNvGraphicFramePr>
          <p:nvPr>
            <p:extLst>
              <p:ext uri="{D42A27DB-BD31-4B8C-83A1-F6EECF244321}">
                <p14:modId xmlns:p14="http://schemas.microsoft.com/office/powerpoint/2010/main" val="2062953841"/>
              </p:ext>
            </p:extLst>
          </p:nvPr>
        </p:nvGraphicFramePr>
        <p:xfrm>
          <a:off x="1" y="976329"/>
          <a:ext cx="12192000" cy="5253016"/>
        </p:xfrm>
        <a:graphic>
          <a:graphicData uri="http://schemas.openxmlformats.org/drawingml/2006/table">
            <a:tbl>
              <a:tblPr firstRow="1" bandRow="1">
                <a:tableStyleId>{5C22544A-7EE6-4342-B048-85BDC9FD1C3A}</a:tableStyleId>
              </a:tblPr>
              <a:tblGrid>
                <a:gridCol w="3378201">
                  <a:extLst>
                    <a:ext uri="{9D8B030D-6E8A-4147-A177-3AD203B41FA5}">
                      <a16:colId xmlns:a16="http://schemas.microsoft.com/office/drawing/2014/main" val="276634163"/>
                    </a:ext>
                  </a:extLst>
                </a:gridCol>
                <a:gridCol w="5403153">
                  <a:extLst>
                    <a:ext uri="{9D8B030D-6E8A-4147-A177-3AD203B41FA5}">
                      <a16:colId xmlns:a16="http://schemas.microsoft.com/office/drawing/2014/main" val="1759313315"/>
                    </a:ext>
                  </a:extLst>
                </a:gridCol>
                <a:gridCol w="3410646">
                  <a:extLst>
                    <a:ext uri="{9D8B030D-6E8A-4147-A177-3AD203B41FA5}">
                      <a16:colId xmlns:a16="http://schemas.microsoft.com/office/drawing/2014/main" val="3157918808"/>
                    </a:ext>
                  </a:extLst>
                </a:gridCol>
              </a:tblGrid>
              <a:tr h="573707">
                <a:tc>
                  <a:txBody>
                    <a:bodyPr/>
                    <a:lstStyle/>
                    <a:p>
                      <a:pPr algn="ctr">
                        <a:lnSpc>
                          <a:spcPct val="150000"/>
                        </a:lnSpc>
                      </a:pPr>
                      <a:r>
                        <a:rPr lang="ar-SA" sz="1400" dirty="0">
                          <a:latin typeface="Almarai" pitchFamily="2" charset="-78"/>
                          <a:cs typeface="Almarai" pitchFamily="2" charset="-78"/>
                        </a:rPr>
                        <a:t>الهدف التشغيلي</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شرح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859765">
                <a:tc>
                  <a:txBody>
                    <a:bodyPr/>
                    <a:lstStyle/>
                    <a:p>
                      <a:pPr algn="r" rtl="1">
                        <a:lnSpc>
                          <a:spcPct val="150000"/>
                        </a:lnSpc>
                      </a:pPr>
                      <a:r>
                        <a:rPr lang="ar-SA" sz="1200" dirty="0">
                          <a:solidFill>
                            <a:schemeClr val="tx1"/>
                          </a:solidFill>
                          <a:latin typeface="Almarai" pitchFamily="2" charset="-78"/>
                          <a:cs typeface="Almarai" pitchFamily="2" charset="-78"/>
                        </a:rPr>
                        <a:t>• زيادة الربحية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نسبة الانحراف عن الميزانية المخططة ​(انحراف إيجابي).</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الانحراف عن الميزانية المخططة​ (إيجابي)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935710478"/>
                  </a:ext>
                </a:extLst>
              </a:tr>
              <a:tr h="859765">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تطبيق وتحسين جودة العمليات الداخلية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نسبة إصدار القوائم المالية الربعية غير المدققة خلال 20 يوم عمل من انتهاء الربع وخلال 3 شهور من انتهاء السنة.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إصدار مسودة القوائم المالية </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129964919"/>
                  </a:ext>
                </a:extLst>
              </a:tr>
              <a:tr h="859765">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تطبيق وتحسين جودة العمليات الداخلية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قياس إقفال الفترة المحاسبية خلال 10 أيام عمل من انتهاء الشهر.</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إقفال الفترة المحاسبية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681133325"/>
                  </a:ext>
                </a:extLst>
              </a:tr>
              <a:tr h="559882">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زيادة الربحية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إجمالي العائد من الاستثمار في أسواق المال.</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العائد من الاستثمار</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082658606"/>
                  </a:ext>
                </a:extLst>
              </a:tr>
              <a:tr h="859765">
                <a:tc>
                  <a:txBody>
                    <a:bodyPr/>
                    <a:lstStyle/>
                    <a:p>
                      <a:pPr marL="171450" marR="0" lvl="0" indent="-1714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lang="ar-SA" sz="1200" dirty="0">
                          <a:solidFill>
                            <a:schemeClr val="tx1"/>
                          </a:solidFill>
                          <a:latin typeface="Almarai" pitchFamily="2" charset="-78"/>
                          <a:cs typeface="Almarai" pitchFamily="2" charset="-78"/>
                        </a:rPr>
                        <a:t>تطبيق وتحسين جودة العمليات الداخلية</a:t>
                      </a:r>
                      <a:endParaRPr lang="en-US" sz="1200" dirty="0">
                        <a:solidFill>
                          <a:schemeClr val="tx1"/>
                        </a:solidFill>
                        <a:latin typeface="Almarai" pitchFamily="2" charset="-78"/>
                        <a:cs typeface="Almarai" pitchFamily="2" charset="-78"/>
                      </a:endParaRPr>
                    </a:p>
                    <a:p>
                      <a:pPr marL="171450" marR="0" lvl="0" indent="-1714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lang="ar-SA" sz="1200" dirty="0">
                          <a:solidFill>
                            <a:schemeClr val="tx1"/>
                          </a:solidFill>
                          <a:latin typeface="Almarai" pitchFamily="2" charset="-78"/>
                          <a:cs typeface="Almarai" pitchFamily="2" charset="-78"/>
                        </a:rPr>
                        <a:t>تحسين سمعة الشركة وتعزيز علامتها التجارية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نسبة اكتمال إرسال نماذج تفاصيل دفعات متعهدي النقل خلال (5 أيام عمل) من تاريخ استلام تقارير الأداء.</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إصدار نماذج تفاصيل الدفعات لطلب الفواتير (للمتعهدين)</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569007360"/>
                  </a:ext>
                </a:extLst>
              </a:tr>
              <a:tr h="680367">
                <a:tc>
                  <a:txBody>
                    <a:bodyPr/>
                    <a:lstStyle/>
                    <a:p>
                      <a:pPr marL="171450" marR="0" lvl="0" indent="-1714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lang="ar-SA" sz="1200" dirty="0">
                          <a:solidFill>
                            <a:schemeClr val="tx1"/>
                          </a:solidFill>
                          <a:latin typeface="Almarai" pitchFamily="2" charset="-78"/>
                          <a:cs typeface="Almarai" pitchFamily="2" charset="-78"/>
                        </a:rPr>
                        <a:t>تطبيق وتحسين جودة العمليات الداخلية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قياس نسبة الأداء في إصدار المطالبات المالية خلال (3 أيام عمل) من تاريخ اكتمال إصدار نماذج تفاصيل الدفعات لمتعهدي النقل.</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الفوترة بمستحقات الشركة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671316981"/>
                  </a:ext>
                </a:extLst>
              </a:tr>
            </a:tbl>
          </a:graphicData>
        </a:graphic>
      </p:graphicFrame>
      <p:pic>
        <p:nvPicPr>
          <p:cNvPr id="14" name="Picture 13" descr="A picture containing graphical user interface&#10;&#10;Description automatically generated">
            <a:extLst>
              <a:ext uri="{FF2B5EF4-FFF2-40B4-BE49-F238E27FC236}">
                <a16:creationId xmlns:a16="http://schemas.microsoft.com/office/drawing/2014/main" id="{2A96B416-6F28-533C-5741-E82CC3A2ADD4}"/>
              </a:ext>
            </a:extLst>
          </p:cNvPr>
          <p:cNvPicPr>
            <a:picLocks noChangeAspect="1"/>
          </p:cNvPicPr>
          <p:nvPr/>
        </p:nvPicPr>
        <p:blipFill rotWithShape="1">
          <a:blip r:embed="rId3"/>
          <a:srcRect l="23677" t="39057" b="28402"/>
          <a:stretch/>
        </p:blipFill>
        <p:spPr>
          <a:xfrm>
            <a:off x="0" y="6477595"/>
            <a:ext cx="5382126" cy="380404"/>
          </a:xfrm>
          <a:prstGeom prst="rect">
            <a:avLst/>
          </a:prstGeom>
        </p:spPr>
      </p:pic>
    </p:spTree>
    <p:extLst>
      <p:ext uri="{BB962C8B-B14F-4D97-AF65-F5344CB8AC3E}">
        <p14:creationId xmlns:p14="http://schemas.microsoft.com/office/powerpoint/2010/main" val="2058300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BBA866C-0246-4B8C-F2A4-92E2860A24D9}"/>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المالية</a:t>
            </a:r>
          </a:p>
        </p:txBody>
      </p:sp>
      <p:pic>
        <p:nvPicPr>
          <p:cNvPr id="11" name="Picture 10" descr="Text&#10;&#10;Description automatically generated with medium confidence">
            <a:extLst>
              <a:ext uri="{FF2B5EF4-FFF2-40B4-BE49-F238E27FC236}">
                <a16:creationId xmlns:a16="http://schemas.microsoft.com/office/drawing/2014/main" id="{D817C9C2-35A6-06AB-293D-8CA23246EAB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graphicFrame>
        <p:nvGraphicFramePr>
          <p:cNvPr id="50" name="Table 2">
            <a:extLst>
              <a:ext uri="{FF2B5EF4-FFF2-40B4-BE49-F238E27FC236}">
                <a16:creationId xmlns:a16="http://schemas.microsoft.com/office/drawing/2014/main" id="{58FAFFFC-3B03-46E2-451D-06084EB04E00}"/>
              </a:ext>
            </a:extLst>
          </p:cNvPr>
          <p:cNvGraphicFramePr>
            <a:graphicFrameLocks noGrp="1"/>
          </p:cNvGraphicFramePr>
          <p:nvPr>
            <p:extLst>
              <p:ext uri="{D42A27DB-BD31-4B8C-83A1-F6EECF244321}">
                <p14:modId xmlns:p14="http://schemas.microsoft.com/office/powerpoint/2010/main" val="1250221943"/>
              </p:ext>
            </p:extLst>
          </p:nvPr>
        </p:nvGraphicFramePr>
        <p:xfrm>
          <a:off x="1" y="832918"/>
          <a:ext cx="12191999" cy="6025081"/>
        </p:xfrm>
        <a:graphic>
          <a:graphicData uri="http://schemas.openxmlformats.org/drawingml/2006/table">
            <a:tbl>
              <a:tblPr firstRow="1" bandRow="1">
                <a:tableStyleId>{5C22544A-7EE6-4342-B048-85BDC9FD1C3A}</a:tableStyleId>
              </a:tblPr>
              <a:tblGrid>
                <a:gridCol w="1150706">
                  <a:extLst>
                    <a:ext uri="{9D8B030D-6E8A-4147-A177-3AD203B41FA5}">
                      <a16:colId xmlns:a16="http://schemas.microsoft.com/office/drawing/2014/main" val="2055658794"/>
                    </a:ext>
                  </a:extLst>
                </a:gridCol>
                <a:gridCol w="1130158">
                  <a:extLst>
                    <a:ext uri="{9D8B030D-6E8A-4147-A177-3AD203B41FA5}">
                      <a16:colId xmlns:a16="http://schemas.microsoft.com/office/drawing/2014/main" val="3919127931"/>
                    </a:ext>
                  </a:extLst>
                </a:gridCol>
                <a:gridCol w="5922315">
                  <a:extLst>
                    <a:ext uri="{9D8B030D-6E8A-4147-A177-3AD203B41FA5}">
                      <a16:colId xmlns:a16="http://schemas.microsoft.com/office/drawing/2014/main" val="1759313315"/>
                    </a:ext>
                  </a:extLst>
                </a:gridCol>
                <a:gridCol w="3137920">
                  <a:extLst>
                    <a:ext uri="{9D8B030D-6E8A-4147-A177-3AD203B41FA5}">
                      <a16:colId xmlns:a16="http://schemas.microsoft.com/office/drawing/2014/main" val="3157918808"/>
                    </a:ext>
                  </a:extLst>
                </a:gridCol>
                <a:gridCol w="850900">
                  <a:extLst>
                    <a:ext uri="{9D8B030D-6E8A-4147-A177-3AD203B41FA5}">
                      <a16:colId xmlns:a16="http://schemas.microsoft.com/office/drawing/2014/main" val="635944514"/>
                    </a:ext>
                  </a:extLst>
                </a:gridCol>
              </a:tblGrid>
              <a:tr h="666760">
                <a:tc>
                  <a:txBody>
                    <a:bodyPr/>
                    <a:lstStyle/>
                    <a:p>
                      <a:pPr algn="ctr">
                        <a:lnSpc>
                          <a:spcPct val="150000"/>
                        </a:lnSpc>
                      </a:pPr>
                      <a:r>
                        <a:rPr lang="ar-SA" sz="1400" dirty="0">
                          <a:latin typeface="Almarai" pitchFamily="2" charset="-78"/>
                          <a:cs typeface="Almarai" pitchFamily="2" charset="-78"/>
                        </a:rPr>
                        <a:t>نوع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الهدف</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المعادلة</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الوزن</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948440">
                <a:tc>
                  <a:txBody>
                    <a:bodyPr/>
                    <a:lstStyle/>
                    <a:p>
                      <a:pPr algn="ctr" rtl="1">
                        <a:lnSpc>
                          <a:spcPct val="150000"/>
                        </a:lnSpc>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solidFill>
                            <a:schemeClr val="tx1"/>
                          </a:solidFill>
                          <a:latin typeface="Almarai" pitchFamily="2" charset="-78"/>
                          <a:cs typeface="Almarai" pitchFamily="2" charset="-78"/>
                        </a:rPr>
                        <a:t>1-5%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(صافي الدخل (الخسارة) بعد الزكاة الفعلي / صافي الدخل (الخسارة) بعد الزكاة الموازنة) - 100%</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الانحراف عن الميزانية المخططة​ (إيجابي)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20%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935710478"/>
                  </a:ext>
                </a:extLst>
              </a:tr>
              <a:tr h="729366">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solidFill>
                            <a:schemeClr val="tx1"/>
                          </a:solidFill>
                          <a:latin typeface="Almarai" pitchFamily="2" charset="-78"/>
                          <a:cs typeface="Almarai" pitchFamily="2" charset="-78"/>
                        </a:rPr>
                        <a:t>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مسودة القوائم المصدرة بالوقت المحدد / إجمالي عدد مسودة القوائم المصدرة)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إصدار مسودة القوائم المالية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20%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082658606"/>
                  </a:ext>
                </a:extLst>
              </a:tr>
              <a:tr h="793381">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الفترات المحاسبية المقفلة بالوقت / إجمالي عدد الفترات المحاسبية المغلقة)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إقفال الفترة المحاسبية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175398007"/>
                  </a:ext>
                </a:extLst>
              </a:tr>
              <a:tr h="1138313">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solidFill>
                            <a:schemeClr val="tx1"/>
                          </a:solidFill>
                          <a:latin typeface="Almarai" pitchFamily="2" charset="-78"/>
                          <a:cs typeface="Almarai" pitchFamily="2" charset="-78"/>
                        </a:rPr>
                        <a:t>50 </a:t>
                      </a:r>
                      <a:r>
                        <a:rPr lang="ar-SA" sz="1200" dirty="0">
                          <a:solidFill>
                            <a:schemeClr val="tx1"/>
                          </a:solidFill>
                          <a:latin typeface="Almarai" pitchFamily="2" charset="-78"/>
                          <a:cs typeface="Almarai" pitchFamily="2" charset="-78"/>
                        </a:rPr>
                        <a:t> مليون</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(إجمالي العائد من الاستثمار / المستهدف)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العائد من الاستثمار</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013659251"/>
                  </a:ext>
                </a:extLst>
              </a:tr>
              <a:tr h="882238">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1" dirty="0">
                          <a:solidFill>
                            <a:schemeClr val="tx1"/>
                          </a:solidFill>
                          <a:latin typeface="Almarai" pitchFamily="2" charset="-78"/>
                          <a:cs typeface="Almarai" pitchFamily="2" charset="-78"/>
                        </a:rPr>
                        <a:t>ربعي</a:t>
                      </a:r>
                      <a:endParaRPr lang="en-US" sz="1200" b="1"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solidFill>
                            <a:schemeClr val="tx1"/>
                          </a:solidFill>
                          <a:latin typeface="Almarai" pitchFamily="2" charset="-78"/>
                          <a:cs typeface="Almarai" pitchFamily="2" charset="-78"/>
                        </a:rPr>
                        <a:t>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النماذج المصدرة بالوقت المحدد / إجمالي عدد النماذج المصدرة)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إصدار نماذج تفاصيل الدفعات لطلب الفواتير (للمتعهدين)</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569007360"/>
                  </a:ext>
                </a:extLst>
              </a:tr>
              <a:tr h="866583">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solidFill>
                            <a:schemeClr val="tx1"/>
                          </a:solidFill>
                          <a:latin typeface="Almarai" pitchFamily="2" charset="-78"/>
                          <a:cs typeface="Almarai" pitchFamily="2" charset="-78"/>
                        </a:rPr>
                        <a:t>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عدد المطالبات المالية المصدرة في الوقت المحدد / إجمالي عدد المطالبات المالية)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الفوترة بمستحقات الشركة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758509453"/>
                  </a:ext>
                </a:extLst>
              </a:tr>
            </a:tbl>
          </a:graphicData>
        </a:graphic>
      </p:graphicFrame>
    </p:spTree>
    <p:extLst>
      <p:ext uri="{BB962C8B-B14F-4D97-AF65-F5344CB8AC3E}">
        <p14:creationId xmlns:p14="http://schemas.microsoft.com/office/powerpoint/2010/main" val="2225327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descr="Text&#10;&#10;Description automatically generated with medium confidence">
            <a:extLst>
              <a:ext uri="{FF2B5EF4-FFF2-40B4-BE49-F238E27FC236}">
                <a16:creationId xmlns:a16="http://schemas.microsoft.com/office/drawing/2014/main" id="{C93BB21F-D8B8-0D7A-F754-D090031D849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t="1" b="-21"/>
          <a:stretch/>
        </p:blipFill>
        <p:spPr>
          <a:xfrm>
            <a:off x="112358" y="84607"/>
            <a:ext cx="819076" cy="631548"/>
          </a:xfrm>
          <a:prstGeom prst="rect">
            <a:avLst/>
          </a:prstGeom>
        </p:spPr>
      </p:pic>
      <p:sp>
        <p:nvSpPr>
          <p:cNvPr id="2" name="TextBox 1">
            <a:extLst>
              <a:ext uri="{FF2B5EF4-FFF2-40B4-BE49-F238E27FC236}">
                <a16:creationId xmlns:a16="http://schemas.microsoft.com/office/drawing/2014/main" id="{904A0B8B-A096-5D12-0410-0E319E090D5C}"/>
              </a:ext>
            </a:extLst>
          </p:cNvPr>
          <p:cNvSpPr txBox="1"/>
          <p:nvPr/>
        </p:nvSpPr>
        <p:spPr>
          <a:xfrm>
            <a:off x="5964592" y="200629"/>
            <a:ext cx="6115050" cy="515526"/>
          </a:xfrm>
          <a:prstGeom prst="rect">
            <a:avLst/>
          </a:prstGeom>
          <a:noFill/>
        </p:spPr>
        <p:txBody>
          <a:bodyPr wrap="square">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المالية</a:t>
            </a:r>
          </a:p>
        </p:txBody>
      </p:sp>
      <p:graphicFrame>
        <p:nvGraphicFramePr>
          <p:cNvPr id="30" name="Table 29">
            <a:extLst>
              <a:ext uri="{FF2B5EF4-FFF2-40B4-BE49-F238E27FC236}">
                <a16:creationId xmlns:a16="http://schemas.microsoft.com/office/drawing/2014/main" id="{30E0A729-7199-4198-2374-EDF075FD9F3A}"/>
              </a:ext>
            </a:extLst>
          </p:cNvPr>
          <p:cNvGraphicFramePr>
            <a:graphicFrameLocks noGrp="1"/>
          </p:cNvGraphicFramePr>
          <p:nvPr>
            <p:extLst>
              <p:ext uri="{D42A27DB-BD31-4B8C-83A1-F6EECF244321}">
                <p14:modId xmlns:p14="http://schemas.microsoft.com/office/powerpoint/2010/main" val="933676705"/>
              </p:ext>
            </p:extLst>
          </p:nvPr>
        </p:nvGraphicFramePr>
        <p:xfrm>
          <a:off x="0" y="947976"/>
          <a:ext cx="12191998" cy="6058396"/>
        </p:xfrm>
        <a:graphic>
          <a:graphicData uri="http://schemas.openxmlformats.org/drawingml/2006/table">
            <a:tbl>
              <a:tblPr firstRow="1" lastRow="1" bandRow="1">
                <a:tableStyleId>{BC89EF96-8CEA-46FF-86C4-4CE0E7609802}</a:tableStyleId>
              </a:tblPr>
              <a:tblGrid>
                <a:gridCol w="3490146">
                  <a:extLst>
                    <a:ext uri="{9D8B030D-6E8A-4147-A177-3AD203B41FA5}">
                      <a16:colId xmlns:a16="http://schemas.microsoft.com/office/drawing/2014/main" val="3528422332"/>
                    </a:ext>
                  </a:extLst>
                </a:gridCol>
                <a:gridCol w="123945">
                  <a:extLst>
                    <a:ext uri="{9D8B030D-6E8A-4147-A177-3AD203B41FA5}">
                      <a16:colId xmlns:a16="http://schemas.microsoft.com/office/drawing/2014/main" val="290041181"/>
                    </a:ext>
                  </a:extLst>
                </a:gridCol>
                <a:gridCol w="1013219">
                  <a:extLst>
                    <a:ext uri="{9D8B030D-6E8A-4147-A177-3AD203B41FA5}">
                      <a16:colId xmlns:a16="http://schemas.microsoft.com/office/drawing/2014/main" val="264207629"/>
                    </a:ext>
                  </a:extLst>
                </a:gridCol>
                <a:gridCol w="123945">
                  <a:extLst>
                    <a:ext uri="{9D8B030D-6E8A-4147-A177-3AD203B41FA5}">
                      <a16:colId xmlns:a16="http://schemas.microsoft.com/office/drawing/2014/main" val="3199165258"/>
                    </a:ext>
                  </a:extLst>
                </a:gridCol>
                <a:gridCol w="623447">
                  <a:extLst>
                    <a:ext uri="{9D8B030D-6E8A-4147-A177-3AD203B41FA5}">
                      <a16:colId xmlns:a16="http://schemas.microsoft.com/office/drawing/2014/main" val="2210910977"/>
                    </a:ext>
                  </a:extLst>
                </a:gridCol>
                <a:gridCol w="123945">
                  <a:extLst>
                    <a:ext uri="{9D8B030D-6E8A-4147-A177-3AD203B41FA5}">
                      <a16:colId xmlns:a16="http://schemas.microsoft.com/office/drawing/2014/main" val="321370419"/>
                    </a:ext>
                  </a:extLst>
                </a:gridCol>
                <a:gridCol w="605402">
                  <a:extLst>
                    <a:ext uri="{9D8B030D-6E8A-4147-A177-3AD203B41FA5}">
                      <a16:colId xmlns:a16="http://schemas.microsoft.com/office/drawing/2014/main" val="986504599"/>
                    </a:ext>
                  </a:extLst>
                </a:gridCol>
                <a:gridCol w="123945">
                  <a:extLst>
                    <a:ext uri="{9D8B030D-6E8A-4147-A177-3AD203B41FA5}">
                      <a16:colId xmlns:a16="http://schemas.microsoft.com/office/drawing/2014/main" val="3850642199"/>
                    </a:ext>
                  </a:extLst>
                </a:gridCol>
                <a:gridCol w="578330">
                  <a:extLst>
                    <a:ext uri="{9D8B030D-6E8A-4147-A177-3AD203B41FA5}">
                      <a16:colId xmlns:a16="http://schemas.microsoft.com/office/drawing/2014/main" val="3691410578"/>
                    </a:ext>
                  </a:extLst>
                </a:gridCol>
                <a:gridCol w="123945">
                  <a:extLst>
                    <a:ext uri="{9D8B030D-6E8A-4147-A177-3AD203B41FA5}">
                      <a16:colId xmlns:a16="http://schemas.microsoft.com/office/drawing/2014/main" val="886701037"/>
                    </a:ext>
                  </a:extLst>
                </a:gridCol>
                <a:gridCol w="605402">
                  <a:extLst>
                    <a:ext uri="{9D8B030D-6E8A-4147-A177-3AD203B41FA5}">
                      <a16:colId xmlns:a16="http://schemas.microsoft.com/office/drawing/2014/main" val="692657871"/>
                    </a:ext>
                  </a:extLst>
                </a:gridCol>
                <a:gridCol w="1127883">
                  <a:extLst>
                    <a:ext uri="{9D8B030D-6E8A-4147-A177-3AD203B41FA5}">
                      <a16:colId xmlns:a16="http://schemas.microsoft.com/office/drawing/2014/main" val="786455139"/>
                    </a:ext>
                  </a:extLst>
                </a:gridCol>
                <a:gridCol w="1858752">
                  <a:extLst>
                    <a:ext uri="{9D8B030D-6E8A-4147-A177-3AD203B41FA5}">
                      <a16:colId xmlns:a16="http://schemas.microsoft.com/office/drawing/2014/main" val="313549563"/>
                    </a:ext>
                  </a:extLst>
                </a:gridCol>
                <a:gridCol w="640638">
                  <a:extLst>
                    <a:ext uri="{9D8B030D-6E8A-4147-A177-3AD203B41FA5}">
                      <a16:colId xmlns:a16="http://schemas.microsoft.com/office/drawing/2014/main" val="2142733880"/>
                    </a:ext>
                  </a:extLst>
                </a:gridCol>
                <a:gridCol w="1029054">
                  <a:extLst>
                    <a:ext uri="{9D8B030D-6E8A-4147-A177-3AD203B41FA5}">
                      <a16:colId xmlns:a16="http://schemas.microsoft.com/office/drawing/2014/main" val="481353969"/>
                    </a:ext>
                  </a:extLst>
                </a:gridCol>
              </a:tblGrid>
              <a:tr h="560703">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dirty="0">
                          <a:ln>
                            <a:noFill/>
                          </a:ln>
                          <a:solidFill>
                            <a:schemeClr val="bg1"/>
                          </a:solidFill>
                          <a:effectLst/>
                          <a:uLnTx/>
                          <a:uFillTx/>
                          <a:latin typeface="Almarai" pitchFamily="2" charset="-78"/>
                          <a:ea typeface="+mn-ea"/>
                          <a:cs typeface="Almarai" pitchFamily="2" charset="-78"/>
                        </a:rPr>
                        <a:t>الملاحظات</a:t>
                      </a:r>
                      <a:endParaRPr kumimoji="0" lang="en-GB" sz="1400" b="1" i="0" u="none" strike="noStrike" kern="1200" cap="none" spc="40" normalizeH="0" baseline="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النتيجة النهائية</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endParaRPr kumimoji="0" lang="en-GB" sz="1200" b="1" i="0" u="none" strike="noStrike" kern="1200" cap="none" spc="40" normalizeH="0" baseline="0" noProof="0" dirty="0">
                        <a:ln>
                          <a:noFill/>
                        </a:ln>
                        <a:solidFill>
                          <a:schemeClr val="tx1">
                            <a:lumMod val="75000"/>
                            <a:lumOff val="25000"/>
                          </a:schemeClr>
                        </a:solidFill>
                        <a:effectLst/>
                        <a:uLnTx/>
                        <a:uFillTx/>
                        <a:latin typeface="Almarai Bold" pitchFamily="2" charset="-78"/>
                        <a:ea typeface="+mn-ea"/>
                        <a:cs typeface="Almarai Bold"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Q4</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Q3</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lvl="0" algn="ctr"/>
                      <a:r>
                        <a:rPr lang="en-US" sz="1400" dirty="0">
                          <a:solidFill>
                            <a:schemeClr val="bg1"/>
                          </a:solidFill>
                          <a:latin typeface="Almarai" pitchFamily="2" charset="-78"/>
                          <a:cs typeface="Almarai" pitchFamily="2" charset="-78"/>
                        </a:rPr>
                        <a:t>Q2</a:t>
                      </a:r>
                      <a:endParaRPr sz="1400" dirty="0">
                        <a:solidFill>
                          <a:schemeClr val="bg1"/>
                        </a:solidFill>
                        <a:latin typeface="Almarai" pitchFamily="2" charset="-78"/>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Q1</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المستهدف</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الوزن</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نوع 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506390058"/>
                  </a:ext>
                </a:extLst>
              </a:tr>
              <a:tr h="1591945">
                <a:tc>
                  <a:txBody>
                    <a:bodyPr/>
                    <a:lstStyle/>
                    <a:p>
                      <a:pPr marL="0" marR="0" lvl="0" indent="0" algn="justLow" defTabSz="914400" rtl="1" eaLnBrk="1" fontAlgn="b" latinLnBrk="0" hangingPunct="1">
                        <a:lnSpc>
                          <a:spcPct val="100000"/>
                        </a:lnSpc>
                        <a:spcBef>
                          <a:spcPts val="0"/>
                        </a:spcBef>
                        <a:spcAft>
                          <a:spcPts val="0"/>
                        </a:spcAft>
                        <a:buClrTx/>
                        <a:buSzTx/>
                        <a:buFontTx/>
                        <a:buNone/>
                        <a:tabLst/>
                        <a:defRPr/>
                      </a:pP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Q1</a:t>
                      </a: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-انحراف ايجابي تجاوز النسبة المستهدفة بسبب الزيادة في الايرادات بقيمة 24 مليون عن المخطط وانخفاض في المصاريف عن المخطط بما يقارب 5 ملايين ويعود سبب زيادة الإيرادات على ادخال قيود تسوية خلال الربع الأول لمبالغ تخص العام المالي 2024م</a:t>
                      </a: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p>
                      <a:pPr marL="0" marR="0" lvl="0" indent="0" algn="justLow" defTabSz="914400" rtl="1" eaLnBrk="1" fontAlgn="b" latinLnBrk="0" hangingPunct="1">
                        <a:lnSpc>
                          <a:spcPct val="100000"/>
                        </a:lnSpc>
                        <a:spcBef>
                          <a:spcPts val="0"/>
                        </a:spcBef>
                        <a:spcAft>
                          <a:spcPts val="0"/>
                        </a:spcAft>
                        <a:buClrTx/>
                        <a:buSzTx/>
                        <a:buFontTx/>
                        <a:buNone/>
                        <a:tabLst/>
                        <a:defRPr/>
                      </a:pP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Q2</a:t>
                      </a: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 انحراف ايجابي تجاوز النسبة المستهدفة بسبب الزيادة في مجمل الربح بنسبة 20% وانخفاض في النفقات التشغيلية بنسبة 11% </a:t>
                      </a: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E8E8E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E8E8E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E8E8E8"/>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E8E8E8"/>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fontAlgn="b"/>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E8E8E8"/>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lang="en-US" sz="1200" b="0" i="0" u="none" strike="noStrike" dirty="0">
                          <a:solidFill>
                            <a:schemeClr val="tx1"/>
                          </a:solidFill>
                          <a:effectLst/>
                          <a:latin typeface="Almarai" pitchFamily="2" charset="-78"/>
                          <a:cs typeface="Almarai" pitchFamily="2" charset="-78"/>
                        </a:rPr>
                        <a:t>260%</a:t>
                      </a:r>
                    </a:p>
                  </a:txBody>
                  <a:tcPr marL="9525" marR="9525" marT="9525"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E8E8E8"/>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en-US" sz="1200" dirty="0">
                          <a:solidFill>
                            <a:schemeClr val="tx1"/>
                          </a:solidFill>
                          <a:latin typeface="Almarai" pitchFamily="2" charset="-78"/>
                          <a:cs typeface="Almarai" pitchFamily="2" charset="-78"/>
                        </a:rPr>
                        <a:t>1-5%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الانحراف عن الميزانية المخططة​ (إيجابي)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dirty="0">
                          <a:solidFill>
                            <a:schemeClr val="tx1"/>
                          </a:solidFill>
                          <a:latin typeface="Almarai" pitchFamily="2" charset="-78"/>
                          <a:cs typeface="Almarai" pitchFamily="2" charset="-78"/>
                        </a:rPr>
                        <a:t>20%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lnSpc>
                          <a:spcPct val="150000"/>
                        </a:lnSpc>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345933"/>
                  </a:ext>
                </a:extLst>
              </a:tr>
              <a:tr h="718059">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100%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Almarai" pitchFamily="2" charset="-78"/>
                          <a:cs typeface="Almarai" pitchFamily="2" charset="-78"/>
                        </a:rPr>
                        <a:t>100%</a:t>
                      </a: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rgbClr val="E8E8E8"/>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en-US" sz="1200" dirty="0">
                          <a:solidFill>
                            <a:schemeClr val="tx1"/>
                          </a:solidFill>
                          <a:latin typeface="Almarai" pitchFamily="2" charset="-78"/>
                          <a:cs typeface="Almarai" pitchFamily="2" charset="-78"/>
                        </a:rPr>
                        <a:t>100%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إصدار مسودة القوائم المالية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dirty="0">
                          <a:solidFill>
                            <a:schemeClr val="tx1"/>
                          </a:solidFill>
                          <a:latin typeface="Almarai" pitchFamily="2" charset="-78"/>
                          <a:cs typeface="Almarai" pitchFamily="2" charset="-78"/>
                        </a:rPr>
                        <a:t>20%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2732480"/>
                  </a:ext>
                </a:extLst>
              </a:tr>
              <a:tr h="682429">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100%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Almarai" pitchFamily="2" charset="-78"/>
                          <a:cs typeface="Almarai" pitchFamily="2" charset="-78"/>
                        </a:rPr>
                        <a:t>100%</a:t>
                      </a: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100%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إقفال الفترة المحاسبية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1117382"/>
                  </a:ext>
                </a:extLst>
              </a:tr>
              <a:tr h="827718">
                <a:tc>
                  <a:txBody>
                    <a:bodyPr/>
                    <a:lstStyle/>
                    <a:p>
                      <a:pPr marL="0" marR="0" lvl="0" indent="0" algn="r" defTabSz="914400" rtl="1" eaLnBrk="1" fontAlgn="b"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-Q1</a:t>
                      </a:r>
                      <a:r>
                        <a:rPr kumimoji="0" lang="ar-SA"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العائد من الاستثمار 7,874,497.41 ريال (16%) بسبب تأخر مستحقات الشركة من وزارة المالية بالإضافة الى انخفاض نسبة السايبر</a:t>
                      </a:r>
                      <a:endParaRPr kumimoji="0" lang="en-US"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endParaRPr>
                    </a:p>
                    <a:p>
                      <a:pPr marL="0" marR="0" lvl="0" indent="0" algn="r" defTabSz="914400" rtl="1" eaLnBrk="1" fontAlgn="b"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Q2</a:t>
                      </a:r>
                      <a:r>
                        <a:rPr kumimoji="0" lang="ar-SA"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العائد من الاستثمار  18,520,254.50 ريال (37%)</a:t>
                      </a: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18.5 M</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7.9 M</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ar-SA" sz="1200" dirty="0">
                          <a:solidFill>
                            <a:schemeClr val="tx1"/>
                          </a:solidFill>
                          <a:latin typeface="Almarai" pitchFamily="2" charset="-78"/>
                          <a:cs typeface="Almarai" pitchFamily="2" charset="-78"/>
                        </a:rPr>
                        <a:t>50</a:t>
                      </a:r>
                      <a:r>
                        <a:rPr lang="en-US" sz="1200" dirty="0">
                          <a:solidFill>
                            <a:schemeClr val="tx1"/>
                          </a:solidFill>
                          <a:latin typeface="Almarai" pitchFamily="2" charset="-78"/>
                          <a:cs typeface="Almarai" pitchFamily="2" charset="-78"/>
                        </a:rPr>
                        <a:t> </a:t>
                      </a:r>
                      <a:r>
                        <a:rPr lang="ar-SA" sz="1200" dirty="0">
                          <a:solidFill>
                            <a:schemeClr val="tx1"/>
                          </a:solidFill>
                          <a:latin typeface="Almarai" pitchFamily="2" charset="-78"/>
                          <a:cs typeface="Almarai" pitchFamily="2" charset="-78"/>
                        </a:rPr>
                        <a:t> مليون</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العائد من الاستثمار</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0818292"/>
                  </a:ext>
                </a:extLst>
              </a:tr>
              <a:tr h="846740">
                <a:tc>
                  <a:txBody>
                    <a:bodyPr/>
                    <a:lstStyle/>
                    <a:p>
                      <a:pPr marL="0" marR="0" lvl="0" indent="0" algn="r" defTabSz="914400" rtl="1" eaLnBrk="1" fontAlgn="b" latinLnBrk="0" hangingPunct="1">
                        <a:lnSpc>
                          <a:spcPct val="100000"/>
                        </a:lnSpc>
                        <a:spcBef>
                          <a:spcPts val="0"/>
                        </a:spcBef>
                        <a:spcAft>
                          <a:spcPts val="0"/>
                        </a:spcAft>
                        <a:buClrTx/>
                        <a:buSzTx/>
                        <a:buFont typeface="Arial" panose="020B0604020202020204" pitchFamily="34" charset="0"/>
                        <a:buNone/>
                        <a:tabLst/>
                        <a:defRPr/>
                      </a:pPr>
                      <a:endPar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100%</a:t>
                      </a: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Almarai" pitchFamily="2" charset="-78"/>
                          <a:cs typeface="Almarai" pitchFamily="2" charset="-78"/>
                        </a:rPr>
                        <a:t>100%</a:t>
                      </a: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en-US" sz="1200" dirty="0">
                          <a:solidFill>
                            <a:schemeClr val="tx1"/>
                          </a:solidFill>
                          <a:latin typeface="Almarai" pitchFamily="2" charset="-78"/>
                          <a:cs typeface="Almarai" pitchFamily="2" charset="-78"/>
                        </a:rPr>
                        <a:t>100%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إصدار نماذج تفاصيل الدفعات لطلب الفواتير (للمتعهدين)</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1" dirty="0">
                          <a:solidFill>
                            <a:schemeClr val="tx1"/>
                          </a:solidFill>
                          <a:latin typeface="Almarai" pitchFamily="2" charset="-78"/>
                          <a:cs typeface="Almarai" pitchFamily="2" charset="-78"/>
                        </a:rPr>
                        <a:t>ربعي</a:t>
                      </a:r>
                      <a:endParaRPr lang="en-US" sz="1200" b="1"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0065364"/>
                  </a:ext>
                </a:extLst>
              </a:tr>
              <a:tr h="682429">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endParaRPr kumimoji="0" lang="en-GB" sz="1200" b="0" i="0" u="none" strike="noStrike" kern="1200" cap="none" spc="40" normalizeH="0" baseline="0" noProof="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100%</a:t>
                      </a: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kern="1200" dirty="0">
                          <a:solidFill>
                            <a:schemeClr val="tx1"/>
                          </a:solidFill>
                          <a:latin typeface="Almarai" pitchFamily="2" charset="-78"/>
                          <a:ea typeface="+mn-ea"/>
                          <a:cs typeface="Almarai" pitchFamily="2" charset="-78"/>
                        </a:rPr>
                        <a:t>100%</a:t>
                      </a: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en-US" sz="1200" b="0" dirty="0">
                          <a:solidFill>
                            <a:schemeClr val="tx1"/>
                          </a:solidFill>
                          <a:latin typeface="Almarai" pitchFamily="2" charset="-78"/>
                          <a:cs typeface="Almarai" pitchFamily="2" charset="-78"/>
                        </a:rPr>
                        <a:t>100%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b="0" dirty="0">
                          <a:solidFill>
                            <a:schemeClr val="tx1"/>
                          </a:solidFill>
                          <a:latin typeface="Almarai" pitchFamily="2" charset="-78"/>
                          <a:cs typeface="Almarai" pitchFamily="2" charset="-78"/>
                        </a:rPr>
                        <a:t>% الفوترة بمستحقات الشركة</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15%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سنوي</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032384"/>
                  </a:ext>
                </a:extLst>
              </a:tr>
            </a:tbl>
          </a:graphicData>
        </a:graphic>
      </p:graphicFrame>
    </p:spTree>
    <p:extLst>
      <p:ext uri="{BB962C8B-B14F-4D97-AF65-F5344CB8AC3E}">
        <p14:creationId xmlns:p14="http://schemas.microsoft.com/office/powerpoint/2010/main" val="1704863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B57B034-C7F8-9A2D-80B8-BBAE67037DAB}"/>
              </a:ext>
            </a:extLst>
          </p:cNvPr>
          <p:cNvSpPr/>
          <p:nvPr/>
        </p:nvSpPr>
        <p:spPr>
          <a:xfrm>
            <a:off x="5813660" y="0"/>
            <a:ext cx="6196704" cy="600164"/>
          </a:xfrm>
          <a:prstGeom prst="rect">
            <a:avLst/>
          </a:prstGeom>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endParaRPr kumimoji="0" lang="ar-SA" sz="2400" b="0" i="0" u="none" strike="noStrike" kern="1200" cap="none" spc="0" normalizeH="0" baseline="0" noProof="0" dirty="0">
              <a:ln>
                <a:noFill/>
              </a:ln>
              <a:solidFill>
                <a:srgbClr val="002959"/>
              </a:solidFill>
              <a:effectLst/>
              <a:uLnTx/>
              <a:uFillTx/>
              <a:latin typeface="Almarai Bold" pitchFamily="2" charset="-78"/>
              <a:ea typeface="+mn-ea"/>
              <a:cs typeface="Almarai Bold" pitchFamily="2" charset="-78"/>
            </a:endParaRPr>
          </a:p>
        </p:txBody>
      </p:sp>
      <p:sp>
        <p:nvSpPr>
          <p:cNvPr id="11" name="TextBox 10">
            <a:extLst>
              <a:ext uri="{FF2B5EF4-FFF2-40B4-BE49-F238E27FC236}">
                <a16:creationId xmlns:a16="http://schemas.microsoft.com/office/drawing/2014/main" id="{4055C85E-5945-3DA8-89E2-5F1AACAB7ED4}"/>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إدارة الأعمال الخاصة</a:t>
            </a:r>
          </a:p>
        </p:txBody>
      </p:sp>
      <p:pic>
        <p:nvPicPr>
          <p:cNvPr id="12" name="Picture 11" descr="Text&#10;&#10;Description automatically generated with medium confidence">
            <a:extLst>
              <a:ext uri="{FF2B5EF4-FFF2-40B4-BE49-F238E27FC236}">
                <a16:creationId xmlns:a16="http://schemas.microsoft.com/office/drawing/2014/main" id="{FB479EB5-0B6A-9C35-3A74-B0CD0BCC0CA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graphicFrame>
        <p:nvGraphicFramePr>
          <p:cNvPr id="13" name="Table 2">
            <a:extLst>
              <a:ext uri="{FF2B5EF4-FFF2-40B4-BE49-F238E27FC236}">
                <a16:creationId xmlns:a16="http://schemas.microsoft.com/office/drawing/2014/main" id="{1E4FCB29-3777-5B99-A0EC-B06E4B48F4D0}"/>
              </a:ext>
            </a:extLst>
          </p:cNvPr>
          <p:cNvGraphicFramePr>
            <a:graphicFrameLocks noGrp="1"/>
          </p:cNvGraphicFramePr>
          <p:nvPr>
            <p:extLst>
              <p:ext uri="{D42A27DB-BD31-4B8C-83A1-F6EECF244321}">
                <p14:modId xmlns:p14="http://schemas.microsoft.com/office/powerpoint/2010/main" val="1702731713"/>
              </p:ext>
            </p:extLst>
          </p:nvPr>
        </p:nvGraphicFramePr>
        <p:xfrm>
          <a:off x="1" y="825372"/>
          <a:ext cx="12191999" cy="5457735"/>
        </p:xfrm>
        <a:graphic>
          <a:graphicData uri="http://schemas.openxmlformats.org/drawingml/2006/table">
            <a:tbl>
              <a:tblPr firstRow="1" bandRow="1">
                <a:tableStyleId>{5C22544A-7EE6-4342-B048-85BDC9FD1C3A}</a:tableStyleId>
              </a:tblPr>
              <a:tblGrid>
                <a:gridCol w="3419172">
                  <a:extLst>
                    <a:ext uri="{9D8B030D-6E8A-4147-A177-3AD203B41FA5}">
                      <a16:colId xmlns:a16="http://schemas.microsoft.com/office/drawing/2014/main" val="276634163"/>
                    </a:ext>
                  </a:extLst>
                </a:gridCol>
                <a:gridCol w="5889927">
                  <a:extLst>
                    <a:ext uri="{9D8B030D-6E8A-4147-A177-3AD203B41FA5}">
                      <a16:colId xmlns:a16="http://schemas.microsoft.com/office/drawing/2014/main" val="1759313315"/>
                    </a:ext>
                  </a:extLst>
                </a:gridCol>
                <a:gridCol w="2882900">
                  <a:extLst>
                    <a:ext uri="{9D8B030D-6E8A-4147-A177-3AD203B41FA5}">
                      <a16:colId xmlns:a16="http://schemas.microsoft.com/office/drawing/2014/main" val="3157918808"/>
                    </a:ext>
                  </a:extLst>
                </a:gridCol>
              </a:tblGrid>
              <a:tr h="631380">
                <a:tc>
                  <a:txBody>
                    <a:bodyPr/>
                    <a:lstStyle/>
                    <a:p>
                      <a:pPr algn="ctr">
                        <a:lnSpc>
                          <a:spcPct val="150000"/>
                        </a:lnSpc>
                      </a:pPr>
                      <a:r>
                        <a:rPr lang="ar-SA" sz="1400" dirty="0">
                          <a:latin typeface="Almarai" pitchFamily="2" charset="-78"/>
                          <a:cs typeface="Almarai" pitchFamily="2" charset="-78"/>
                        </a:rPr>
                        <a:t>الهدف التشغيلي</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شرح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1038909">
                <a:tc>
                  <a:txBody>
                    <a:bodyPr/>
                    <a:lstStyle/>
                    <a:p>
                      <a:pPr algn="r" rtl="1" fontAlgn="ctr"/>
                      <a:r>
                        <a:rPr lang="ar-SA" sz="1200" kern="1200" dirty="0">
                          <a:solidFill>
                            <a:schemeClr val="tx1"/>
                          </a:solidFill>
                          <a:latin typeface="Almarai" pitchFamily="2" charset="-78"/>
                          <a:ea typeface="+mn-ea"/>
                          <a:cs typeface="Almarai" pitchFamily="2" charset="-78"/>
                        </a:rPr>
                        <a:t>• تطبيق وتحسين جودة العمليات الداخلية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عدد تقارير المبيعات  الصادرة من إدارة الاعمال الخاصة بشكل عام</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التقارير الربعية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055332767"/>
                  </a:ext>
                </a:extLst>
              </a:tr>
              <a:tr h="1262482">
                <a:tc>
                  <a:txBody>
                    <a:bodyPr/>
                    <a:lstStyle/>
                    <a:p>
                      <a:pPr algn="r" rtl="1" fontAlgn="ctr"/>
                      <a:r>
                        <a:rPr lang="ar-SA" sz="1200" kern="1200" dirty="0">
                          <a:solidFill>
                            <a:schemeClr val="tx1"/>
                          </a:solidFill>
                          <a:latin typeface="Almarai" pitchFamily="2" charset="-78"/>
                          <a:ea typeface="+mn-ea"/>
                          <a:cs typeface="Almarai" pitchFamily="2" charset="-78"/>
                        </a:rPr>
                        <a:t>• زيادة الربحية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عدد الحافلات والمركبات المشغلة لمشاريع الاعمال الخاصة.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الحافلات المشغلة </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569007360"/>
                  </a:ext>
                </a:extLst>
              </a:tr>
              <a:tr h="1262482">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kern="1200" dirty="0">
                          <a:solidFill>
                            <a:schemeClr val="tx1"/>
                          </a:solidFill>
                          <a:latin typeface="Almarai" pitchFamily="2" charset="-78"/>
                          <a:ea typeface="+mn-ea"/>
                          <a:cs typeface="Almarai" pitchFamily="2" charset="-78"/>
                        </a:rPr>
                        <a:t>• زيادة الربحية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kern="1200" dirty="0">
                          <a:solidFill>
                            <a:schemeClr val="tx1"/>
                          </a:solidFill>
                          <a:latin typeface="Almarai" pitchFamily="2" charset="-78"/>
                          <a:ea typeface="+mn-ea"/>
                          <a:cs typeface="Almarai" pitchFamily="2" charset="-78"/>
                        </a:rPr>
                        <a:t>قياس نسبة الربح التشغيلي للقطاع على ألا تقل عن </a:t>
                      </a:r>
                      <a:r>
                        <a:rPr lang="en-US" sz="1200" kern="1200" dirty="0">
                          <a:solidFill>
                            <a:schemeClr val="tx1"/>
                          </a:solidFill>
                          <a:latin typeface="Almarai" pitchFamily="2" charset="-78"/>
                          <a:ea typeface="+mn-ea"/>
                          <a:cs typeface="Almarai" pitchFamily="2" charset="-78"/>
                        </a:rPr>
                        <a:t>25%</a:t>
                      </a:r>
                      <a:r>
                        <a:rPr lang="ar-SA" sz="1200" kern="1200" dirty="0">
                          <a:solidFill>
                            <a:schemeClr val="tx1"/>
                          </a:solidFill>
                          <a:latin typeface="Almarai" pitchFamily="2" charset="-78"/>
                          <a:ea typeface="+mn-ea"/>
                          <a:cs typeface="Almarai" pitchFamily="2" charset="-78"/>
                        </a:rPr>
                        <a:t>.</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الربح التشغيلي</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435262490"/>
                  </a:ext>
                </a:extLst>
              </a:tr>
              <a:tr h="1262482">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kern="1200" dirty="0">
                          <a:solidFill>
                            <a:schemeClr val="tx1"/>
                          </a:solidFill>
                          <a:latin typeface="Almarai" pitchFamily="2" charset="-78"/>
                          <a:ea typeface="+mn-ea"/>
                          <a:cs typeface="Almarai" pitchFamily="2" charset="-78"/>
                        </a:rPr>
                        <a:t>• رفع مستوى جودة الخدمة والأمن والسلامة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kern="1200" dirty="0">
                          <a:solidFill>
                            <a:schemeClr val="tx1"/>
                          </a:solidFill>
                          <a:latin typeface="Almarai" pitchFamily="2" charset="-78"/>
                          <a:ea typeface="+mn-ea"/>
                          <a:cs typeface="Almarai" pitchFamily="2" charset="-78"/>
                        </a:rPr>
                        <a:t>قياس نسبة رضا عملاء الأعمال الخاصة عن طريق استبيان (لكل نهاية فصل دراسي).</a:t>
                      </a:r>
                      <a:endParaRPr lang="ar-SA" sz="1200" kern="1200" dirty="0">
                        <a:solidFill>
                          <a:schemeClr val="tx1"/>
                        </a:solidFill>
                        <a:highlight>
                          <a:srgbClr val="FFFF00"/>
                        </a:highlight>
                        <a:latin typeface="Almarai" pitchFamily="2" charset="-78"/>
                        <a:ea typeface="+mn-ea"/>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رضا عملاء الأعمال الخاصة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30068908"/>
                  </a:ext>
                </a:extLst>
              </a:tr>
            </a:tbl>
          </a:graphicData>
        </a:graphic>
      </p:graphicFrame>
      <p:pic>
        <p:nvPicPr>
          <p:cNvPr id="14" name="Picture 13" descr="A picture containing graphical user interface&#10;&#10;Description automatically generated">
            <a:extLst>
              <a:ext uri="{FF2B5EF4-FFF2-40B4-BE49-F238E27FC236}">
                <a16:creationId xmlns:a16="http://schemas.microsoft.com/office/drawing/2014/main" id="{1BBF9927-BE1B-FEB0-6B99-FB9FC5BD01C3}"/>
              </a:ext>
            </a:extLst>
          </p:cNvPr>
          <p:cNvPicPr>
            <a:picLocks noChangeAspect="1"/>
          </p:cNvPicPr>
          <p:nvPr/>
        </p:nvPicPr>
        <p:blipFill rotWithShape="1">
          <a:blip r:embed="rId3"/>
          <a:srcRect l="23677" t="39057" b="28402"/>
          <a:stretch/>
        </p:blipFill>
        <p:spPr>
          <a:xfrm>
            <a:off x="0" y="6477595"/>
            <a:ext cx="5382126" cy="380404"/>
          </a:xfrm>
          <a:prstGeom prst="rect">
            <a:avLst/>
          </a:prstGeom>
        </p:spPr>
      </p:pic>
    </p:spTree>
    <p:extLst>
      <p:ext uri="{BB962C8B-B14F-4D97-AF65-F5344CB8AC3E}">
        <p14:creationId xmlns:p14="http://schemas.microsoft.com/office/powerpoint/2010/main" val="1981943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429356F-1560-46E3-1CDD-FC8A8F4815DA}"/>
              </a:ext>
            </a:extLst>
          </p:cNvPr>
          <p:cNvSpPr/>
          <p:nvPr/>
        </p:nvSpPr>
        <p:spPr>
          <a:xfrm>
            <a:off x="5813660" y="0"/>
            <a:ext cx="6196704" cy="600164"/>
          </a:xfrm>
          <a:prstGeom prst="rect">
            <a:avLst/>
          </a:prstGeom>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endParaRPr kumimoji="0" lang="ar-SA" sz="2400" b="0" i="0" u="none" strike="noStrike" kern="1200" cap="none" spc="0" normalizeH="0" baseline="0" noProof="0" dirty="0">
              <a:ln>
                <a:noFill/>
              </a:ln>
              <a:solidFill>
                <a:srgbClr val="002959"/>
              </a:solidFill>
              <a:effectLst/>
              <a:uLnTx/>
              <a:uFillTx/>
              <a:latin typeface="Almarai Bold" pitchFamily="2" charset="-78"/>
              <a:ea typeface="+mn-ea"/>
              <a:cs typeface="Almarai Bold" pitchFamily="2" charset="-78"/>
            </a:endParaRPr>
          </a:p>
        </p:txBody>
      </p:sp>
      <p:sp>
        <p:nvSpPr>
          <p:cNvPr id="10" name="TextBox 9">
            <a:extLst>
              <a:ext uri="{FF2B5EF4-FFF2-40B4-BE49-F238E27FC236}">
                <a16:creationId xmlns:a16="http://schemas.microsoft.com/office/drawing/2014/main" id="{6F3A2033-A2A5-5898-DA02-FB1A00A91828}"/>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إدارة الأعمال الخاصة</a:t>
            </a:r>
          </a:p>
        </p:txBody>
      </p:sp>
      <p:pic>
        <p:nvPicPr>
          <p:cNvPr id="16" name="Picture 15" descr="Text&#10;&#10;Description automatically generated with medium confidence">
            <a:extLst>
              <a:ext uri="{FF2B5EF4-FFF2-40B4-BE49-F238E27FC236}">
                <a16:creationId xmlns:a16="http://schemas.microsoft.com/office/drawing/2014/main" id="{F8BDCEEA-7380-AB7D-A4C0-1E1D665427B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graphicFrame>
        <p:nvGraphicFramePr>
          <p:cNvPr id="21" name="Table 2">
            <a:extLst>
              <a:ext uri="{FF2B5EF4-FFF2-40B4-BE49-F238E27FC236}">
                <a16:creationId xmlns:a16="http://schemas.microsoft.com/office/drawing/2014/main" id="{6E726AE5-756A-9E39-3065-70EB801487B9}"/>
              </a:ext>
            </a:extLst>
          </p:cNvPr>
          <p:cNvGraphicFramePr>
            <a:graphicFrameLocks noGrp="1"/>
          </p:cNvGraphicFramePr>
          <p:nvPr>
            <p:extLst>
              <p:ext uri="{D42A27DB-BD31-4B8C-83A1-F6EECF244321}">
                <p14:modId xmlns:p14="http://schemas.microsoft.com/office/powerpoint/2010/main" val="500772366"/>
              </p:ext>
            </p:extLst>
          </p:nvPr>
        </p:nvGraphicFramePr>
        <p:xfrm>
          <a:off x="0" y="812720"/>
          <a:ext cx="12192000" cy="6045277"/>
        </p:xfrm>
        <a:graphic>
          <a:graphicData uri="http://schemas.openxmlformats.org/drawingml/2006/table">
            <a:tbl>
              <a:tblPr firstRow="1" bandRow="1">
                <a:tableStyleId>{5C22544A-7EE6-4342-B048-85BDC9FD1C3A}</a:tableStyleId>
              </a:tblPr>
              <a:tblGrid>
                <a:gridCol w="1253447">
                  <a:extLst>
                    <a:ext uri="{9D8B030D-6E8A-4147-A177-3AD203B41FA5}">
                      <a16:colId xmlns:a16="http://schemas.microsoft.com/office/drawing/2014/main" val="2055658794"/>
                    </a:ext>
                  </a:extLst>
                </a:gridCol>
                <a:gridCol w="1164288">
                  <a:extLst>
                    <a:ext uri="{9D8B030D-6E8A-4147-A177-3AD203B41FA5}">
                      <a16:colId xmlns:a16="http://schemas.microsoft.com/office/drawing/2014/main" val="3919127931"/>
                    </a:ext>
                  </a:extLst>
                </a:gridCol>
                <a:gridCol w="5982345">
                  <a:extLst>
                    <a:ext uri="{9D8B030D-6E8A-4147-A177-3AD203B41FA5}">
                      <a16:colId xmlns:a16="http://schemas.microsoft.com/office/drawing/2014/main" val="1759313315"/>
                    </a:ext>
                  </a:extLst>
                </a:gridCol>
                <a:gridCol w="2941020">
                  <a:extLst>
                    <a:ext uri="{9D8B030D-6E8A-4147-A177-3AD203B41FA5}">
                      <a16:colId xmlns:a16="http://schemas.microsoft.com/office/drawing/2014/main" val="3157918808"/>
                    </a:ext>
                  </a:extLst>
                </a:gridCol>
                <a:gridCol w="850900">
                  <a:extLst>
                    <a:ext uri="{9D8B030D-6E8A-4147-A177-3AD203B41FA5}">
                      <a16:colId xmlns:a16="http://schemas.microsoft.com/office/drawing/2014/main" val="635944514"/>
                    </a:ext>
                  </a:extLst>
                </a:gridCol>
              </a:tblGrid>
              <a:tr h="666509">
                <a:tc>
                  <a:txBody>
                    <a:bodyPr/>
                    <a:lstStyle/>
                    <a:p>
                      <a:pPr algn="ctr">
                        <a:lnSpc>
                          <a:spcPct val="150000"/>
                        </a:lnSpc>
                      </a:pPr>
                      <a:r>
                        <a:rPr lang="ar-SA" sz="1400" dirty="0">
                          <a:latin typeface="Almarai" pitchFamily="2" charset="-78"/>
                          <a:cs typeface="Almarai" pitchFamily="2" charset="-78"/>
                        </a:rPr>
                        <a:t>نوع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الهدف</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المعادلة</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الوزن</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1344692">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0">
                        <a:lnSpc>
                          <a:spcPct val="150000"/>
                        </a:lnSpc>
                      </a:pPr>
                      <a:r>
                        <a:rPr lang="en-US" sz="1200" dirty="0">
                          <a:solidFill>
                            <a:schemeClr val="tx1"/>
                          </a:solidFill>
                          <a:latin typeface="Almarai" pitchFamily="2" charset="-78"/>
                          <a:cs typeface="Almarai" pitchFamily="2" charset="-78"/>
                        </a:rPr>
                        <a:t>4</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لا يوجد معادلة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التقارير الربعية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0" fontAlgn="ctr"/>
                      <a:r>
                        <a:rPr lang="ar-SA" sz="1200" b="0" i="0" u="none" strike="noStrike" dirty="0">
                          <a:solidFill>
                            <a:schemeClr val="tx1"/>
                          </a:solidFill>
                          <a:effectLst/>
                          <a:latin typeface="Almarai" pitchFamily="2" charset="-78"/>
                          <a:cs typeface="Almarai" pitchFamily="2" charset="-78"/>
                        </a:rPr>
                        <a:t>20</a:t>
                      </a:r>
                      <a:r>
                        <a:rPr lang="en-US" sz="1200" b="0" i="0" u="none" strike="noStrike" dirty="0">
                          <a:solidFill>
                            <a:schemeClr val="tx1"/>
                          </a:solidFill>
                          <a:effectLst/>
                          <a:latin typeface="Almarai" pitchFamily="2" charset="-78"/>
                          <a:cs typeface="Almarai" pitchFamily="2" charset="-78"/>
                        </a:rPr>
                        <a:t>%</a:t>
                      </a:r>
                    </a:p>
                  </a:txBody>
                  <a:tcPr marL="9525" marR="9525" marT="9525"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055332767"/>
                  </a:ext>
                </a:extLst>
              </a:tr>
              <a:tr h="1344692">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350</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لا يوجد معادلة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الحافلات المشغلة </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0" fontAlgn="ctr"/>
                      <a:r>
                        <a:rPr lang="en-US" sz="1200" b="0" i="0" u="none" strike="noStrike" dirty="0">
                          <a:solidFill>
                            <a:schemeClr val="tx1"/>
                          </a:solidFill>
                          <a:effectLst/>
                          <a:latin typeface="Almarai" pitchFamily="2" charset="-78"/>
                          <a:cs typeface="Almarai" pitchFamily="2" charset="-78"/>
                        </a:rPr>
                        <a:t>35%</a:t>
                      </a:r>
                    </a:p>
                  </a:txBody>
                  <a:tcPr marL="9525" marR="9525" marT="9525"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013659251"/>
                  </a:ext>
                </a:extLst>
              </a:tr>
              <a:tr h="1344692">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0">
                        <a:lnSpc>
                          <a:spcPct val="150000"/>
                        </a:lnSpc>
                      </a:pPr>
                      <a:r>
                        <a:rPr lang="ar-SA" sz="1200" dirty="0">
                          <a:solidFill>
                            <a:schemeClr val="tx1"/>
                          </a:solidFill>
                          <a:latin typeface="Almarai" pitchFamily="2" charset="-78"/>
                          <a:cs typeface="Almarai" pitchFamily="2" charset="-78"/>
                        </a:rPr>
                        <a:t>25</a:t>
                      </a:r>
                      <a:r>
                        <a:rPr lang="en-US" sz="1200" dirty="0">
                          <a:solidFill>
                            <a:schemeClr val="tx1"/>
                          </a:solidFill>
                          <a:latin typeface="Almarai" pitchFamily="2" charset="-78"/>
                          <a:cs typeface="Almarai" pitchFamily="2" charset="-78"/>
                        </a:rPr>
                        <a:t>%</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kern="1200" dirty="0">
                          <a:solidFill>
                            <a:schemeClr val="tx1"/>
                          </a:solidFill>
                          <a:latin typeface="Almarai" pitchFamily="2" charset="-78"/>
                          <a:ea typeface="+mn-ea"/>
                          <a:cs typeface="Almarai" pitchFamily="2" charset="-78"/>
                        </a:rPr>
                        <a:t>لا يوجد معادلة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الربح التشغيلي</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0" fontAlgn="ctr"/>
                      <a:r>
                        <a:rPr lang="ar-SA" sz="1200" b="0" i="0" u="none" strike="noStrike" dirty="0">
                          <a:solidFill>
                            <a:schemeClr val="tx1"/>
                          </a:solidFill>
                          <a:effectLst/>
                          <a:latin typeface="Almarai" pitchFamily="2" charset="-78"/>
                          <a:cs typeface="Almarai" pitchFamily="2" charset="-78"/>
                        </a:rPr>
                        <a:t>30</a:t>
                      </a:r>
                      <a:r>
                        <a:rPr lang="en-US" sz="1200" b="0" i="0" u="none" strike="noStrike" dirty="0">
                          <a:solidFill>
                            <a:schemeClr val="tx1"/>
                          </a:solidFill>
                          <a:effectLst/>
                          <a:latin typeface="Almarai" pitchFamily="2" charset="-78"/>
                          <a:cs typeface="Almarai" pitchFamily="2" charset="-78"/>
                        </a:rPr>
                        <a:t>%</a:t>
                      </a:r>
                    </a:p>
                  </a:txBody>
                  <a:tcPr marL="9525" marR="9525" marT="9525"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137803859"/>
                  </a:ext>
                </a:extLst>
              </a:tr>
              <a:tr h="1344692">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b="0" dirty="0">
                          <a:solidFill>
                            <a:schemeClr val="tx1"/>
                          </a:solidFill>
                          <a:latin typeface="Almarai" pitchFamily="2" charset="-78"/>
                          <a:cs typeface="Almarai" pitchFamily="2" charset="-78"/>
                        </a:rPr>
                        <a:t>80%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متوسط نسبة الراضين</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رضا عملاء الأعمال الخاصة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0" fontAlgn="ctr"/>
                      <a:r>
                        <a:rPr lang="en-US" sz="1200" b="0" i="0" u="none" strike="noStrike" dirty="0">
                          <a:solidFill>
                            <a:schemeClr val="tx1"/>
                          </a:solidFill>
                          <a:effectLst/>
                          <a:latin typeface="Almarai" pitchFamily="2" charset="-78"/>
                          <a:cs typeface="Almarai" pitchFamily="2" charset="-78"/>
                        </a:rPr>
                        <a:t>15%</a:t>
                      </a:r>
                    </a:p>
                  </a:txBody>
                  <a:tcPr marL="9525" marR="9525" marT="9525"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297212447"/>
                  </a:ext>
                </a:extLst>
              </a:tr>
            </a:tbl>
          </a:graphicData>
        </a:graphic>
      </p:graphicFrame>
    </p:spTree>
    <p:extLst>
      <p:ext uri="{BB962C8B-B14F-4D97-AF65-F5344CB8AC3E}">
        <p14:creationId xmlns:p14="http://schemas.microsoft.com/office/powerpoint/2010/main" val="1220374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descr="Text&#10;&#10;Description automatically generated with medium confidence">
            <a:extLst>
              <a:ext uri="{FF2B5EF4-FFF2-40B4-BE49-F238E27FC236}">
                <a16:creationId xmlns:a16="http://schemas.microsoft.com/office/drawing/2014/main" id="{4F4AF57B-9DE0-492B-9DB0-50C6A26A0F7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t="1" b="-21"/>
          <a:stretch/>
        </p:blipFill>
        <p:spPr>
          <a:xfrm>
            <a:off x="112358" y="104999"/>
            <a:ext cx="819076" cy="631548"/>
          </a:xfrm>
          <a:prstGeom prst="rect">
            <a:avLst/>
          </a:prstGeom>
        </p:spPr>
      </p:pic>
      <p:sp>
        <p:nvSpPr>
          <p:cNvPr id="4" name="TextBox 3">
            <a:extLst>
              <a:ext uri="{FF2B5EF4-FFF2-40B4-BE49-F238E27FC236}">
                <a16:creationId xmlns:a16="http://schemas.microsoft.com/office/drawing/2014/main" id="{0930EE3D-E730-38E5-4728-983FC368943E}"/>
              </a:ext>
            </a:extLst>
          </p:cNvPr>
          <p:cNvSpPr txBox="1"/>
          <p:nvPr/>
        </p:nvSpPr>
        <p:spPr>
          <a:xfrm>
            <a:off x="5901664" y="104999"/>
            <a:ext cx="6108700" cy="515526"/>
          </a:xfrm>
          <a:prstGeom prst="rect">
            <a:avLst/>
          </a:prstGeom>
          <a:noFill/>
        </p:spPr>
        <p:txBody>
          <a:bodyPr wrap="square">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إدارة الأعمال الخاصة</a:t>
            </a:r>
          </a:p>
        </p:txBody>
      </p:sp>
      <p:graphicFrame>
        <p:nvGraphicFramePr>
          <p:cNvPr id="15" name="Table 14">
            <a:extLst>
              <a:ext uri="{FF2B5EF4-FFF2-40B4-BE49-F238E27FC236}">
                <a16:creationId xmlns:a16="http://schemas.microsoft.com/office/drawing/2014/main" id="{7CD979C5-50BD-4F22-6ABB-D3E63659D409}"/>
              </a:ext>
            </a:extLst>
          </p:cNvPr>
          <p:cNvGraphicFramePr>
            <a:graphicFrameLocks noGrp="1"/>
          </p:cNvGraphicFramePr>
          <p:nvPr>
            <p:extLst>
              <p:ext uri="{D42A27DB-BD31-4B8C-83A1-F6EECF244321}">
                <p14:modId xmlns:p14="http://schemas.microsoft.com/office/powerpoint/2010/main" val="1350110195"/>
              </p:ext>
            </p:extLst>
          </p:nvPr>
        </p:nvGraphicFramePr>
        <p:xfrm>
          <a:off x="-12701" y="850900"/>
          <a:ext cx="12192001" cy="6007100"/>
        </p:xfrm>
        <a:graphic>
          <a:graphicData uri="http://schemas.openxmlformats.org/drawingml/2006/table">
            <a:tbl>
              <a:tblPr firstRow="1" lastRow="1" bandRow="1">
                <a:tableStyleId>{BC89EF96-8CEA-46FF-86C4-4CE0E7609802}</a:tableStyleId>
              </a:tblPr>
              <a:tblGrid>
                <a:gridCol w="3772242">
                  <a:extLst>
                    <a:ext uri="{9D8B030D-6E8A-4147-A177-3AD203B41FA5}">
                      <a16:colId xmlns:a16="http://schemas.microsoft.com/office/drawing/2014/main" val="3528422332"/>
                    </a:ext>
                  </a:extLst>
                </a:gridCol>
                <a:gridCol w="177459">
                  <a:extLst>
                    <a:ext uri="{9D8B030D-6E8A-4147-A177-3AD203B41FA5}">
                      <a16:colId xmlns:a16="http://schemas.microsoft.com/office/drawing/2014/main" val="1643805782"/>
                    </a:ext>
                  </a:extLst>
                </a:gridCol>
                <a:gridCol w="834472">
                  <a:extLst>
                    <a:ext uri="{9D8B030D-6E8A-4147-A177-3AD203B41FA5}">
                      <a16:colId xmlns:a16="http://schemas.microsoft.com/office/drawing/2014/main" val="1110218642"/>
                    </a:ext>
                  </a:extLst>
                </a:gridCol>
                <a:gridCol w="727528">
                  <a:extLst>
                    <a:ext uri="{9D8B030D-6E8A-4147-A177-3AD203B41FA5}">
                      <a16:colId xmlns:a16="http://schemas.microsoft.com/office/drawing/2014/main" val="290041181"/>
                    </a:ext>
                  </a:extLst>
                </a:gridCol>
                <a:gridCol w="722284">
                  <a:extLst>
                    <a:ext uri="{9D8B030D-6E8A-4147-A177-3AD203B41FA5}">
                      <a16:colId xmlns:a16="http://schemas.microsoft.com/office/drawing/2014/main" val="986504599"/>
                    </a:ext>
                  </a:extLst>
                </a:gridCol>
                <a:gridCol w="591179">
                  <a:extLst>
                    <a:ext uri="{9D8B030D-6E8A-4147-A177-3AD203B41FA5}">
                      <a16:colId xmlns:a16="http://schemas.microsoft.com/office/drawing/2014/main" val="3691410578"/>
                    </a:ext>
                  </a:extLst>
                </a:gridCol>
                <a:gridCol w="644703">
                  <a:extLst>
                    <a:ext uri="{9D8B030D-6E8A-4147-A177-3AD203B41FA5}">
                      <a16:colId xmlns:a16="http://schemas.microsoft.com/office/drawing/2014/main" val="692657871"/>
                    </a:ext>
                  </a:extLst>
                </a:gridCol>
                <a:gridCol w="1084548">
                  <a:extLst>
                    <a:ext uri="{9D8B030D-6E8A-4147-A177-3AD203B41FA5}">
                      <a16:colId xmlns:a16="http://schemas.microsoft.com/office/drawing/2014/main" val="786455139"/>
                    </a:ext>
                  </a:extLst>
                </a:gridCol>
                <a:gridCol w="1833558">
                  <a:extLst>
                    <a:ext uri="{9D8B030D-6E8A-4147-A177-3AD203B41FA5}">
                      <a16:colId xmlns:a16="http://schemas.microsoft.com/office/drawing/2014/main" val="313549563"/>
                    </a:ext>
                  </a:extLst>
                </a:gridCol>
                <a:gridCol w="878187">
                  <a:extLst>
                    <a:ext uri="{9D8B030D-6E8A-4147-A177-3AD203B41FA5}">
                      <a16:colId xmlns:a16="http://schemas.microsoft.com/office/drawing/2014/main" val="2142733880"/>
                    </a:ext>
                  </a:extLst>
                </a:gridCol>
                <a:gridCol w="925841">
                  <a:extLst>
                    <a:ext uri="{9D8B030D-6E8A-4147-A177-3AD203B41FA5}">
                      <a16:colId xmlns:a16="http://schemas.microsoft.com/office/drawing/2014/main" val="481353969"/>
                    </a:ext>
                  </a:extLst>
                </a:gridCol>
              </a:tblGrid>
              <a:tr h="637587">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dirty="0">
                          <a:ln>
                            <a:noFill/>
                          </a:ln>
                          <a:solidFill>
                            <a:schemeClr val="bg1"/>
                          </a:solidFill>
                          <a:effectLst/>
                          <a:uLnTx/>
                          <a:uFillTx/>
                          <a:latin typeface="Almarai" pitchFamily="2" charset="-78"/>
                          <a:ea typeface="+mn-ea"/>
                          <a:cs typeface="Almarai" pitchFamily="2" charset="-78"/>
                        </a:rPr>
                        <a:t>الملاحظات</a:t>
                      </a:r>
                      <a:endParaRPr kumimoji="0" lang="en-GB" sz="1400" b="1" i="0" u="none" strike="noStrike" kern="1200" cap="none" spc="40" normalizeH="0" baseline="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النتيجة النهائية</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Q4</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Q3</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400" dirty="0">
                          <a:solidFill>
                            <a:schemeClr val="bg1"/>
                          </a:solidFill>
                          <a:latin typeface="Almarai" pitchFamily="2" charset="-78"/>
                          <a:cs typeface="Almarai" pitchFamily="2" charset="-78"/>
                        </a:rPr>
                        <a:t>Q2</a:t>
                      </a:r>
                      <a:endParaRPr sz="1400" dirty="0">
                        <a:solidFill>
                          <a:schemeClr val="bg1"/>
                        </a:solidFill>
                        <a:latin typeface="Almarai" pitchFamily="2" charset="-78"/>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US" sz="1400" b="1" i="0" u="none" strike="noStrike" kern="1200" cap="none" spc="40" normalizeH="0" baseline="0" dirty="0">
                          <a:ln>
                            <a:noFill/>
                          </a:ln>
                          <a:solidFill>
                            <a:schemeClr val="bg1"/>
                          </a:solidFill>
                          <a:effectLst/>
                          <a:uLnTx/>
                          <a:uFillTx/>
                          <a:latin typeface="Almarai" pitchFamily="2" charset="-78"/>
                          <a:ea typeface="+mn-ea"/>
                          <a:cs typeface="Almarai" pitchFamily="2" charset="-78"/>
                        </a:rPr>
                        <a:t>Q1</a:t>
                      </a:r>
                      <a:endParaRPr kumimoji="0" sz="1400" b="1" i="0" u="none" strike="noStrike" kern="1200" cap="none" spc="40" normalizeH="0" baseline="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المستهدف</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الوزن</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نوع 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506390058"/>
                  </a:ext>
                </a:extLst>
              </a:tr>
              <a:tr h="1375532">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0">
                        <a:lnSpc>
                          <a:spcPct val="150000"/>
                        </a:lnSpc>
                      </a:pPr>
                      <a:r>
                        <a:rPr lang="en-US" sz="1200" dirty="0">
                          <a:solidFill>
                            <a:schemeClr val="tx1"/>
                          </a:solidFill>
                          <a:latin typeface="Almarai" pitchFamily="2" charset="-78"/>
                          <a:cs typeface="Almarai" pitchFamily="2" charset="-78"/>
                        </a:rPr>
                        <a:t>4</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r>
                        <a:rPr lang="ar-SA" sz="1200" b="0" kern="1200" dirty="0">
                          <a:solidFill>
                            <a:schemeClr val="tx1"/>
                          </a:solidFill>
                          <a:latin typeface="Almarai" pitchFamily="2" charset="-78"/>
                          <a:ea typeface="+mn-ea"/>
                          <a:cs typeface="Almarai" pitchFamily="2" charset="-78"/>
                        </a:rPr>
                        <a:t># التقارير الربعية</a:t>
                      </a:r>
                    </a:p>
                  </a:txBody>
                  <a:tcPr marL="0" marR="9525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r>
                        <a:rPr lang="ar-SA" sz="1200" b="0" i="0" u="none" strike="noStrike" dirty="0">
                          <a:solidFill>
                            <a:schemeClr val="tx1"/>
                          </a:solidFill>
                          <a:effectLst/>
                          <a:latin typeface="Almarai" pitchFamily="2" charset="-78"/>
                          <a:cs typeface="Almarai" pitchFamily="2" charset="-78"/>
                        </a:rPr>
                        <a:t>20</a:t>
                      </a:r>
                      <a:r>
                        <a:rPr lang="en-US" sz="1200" b="0" i="0" u="none" strike="noStrike" dirty="0">
                          <a:solidFill>
                            <a:schemeClr val="tx1"/>
                          </a:solidFill>
                          <a:effectLst/>
                          <a:latin typeface="Almarai" pitchFamily="2" charset="-78"/>
                          <a:cs typeface="Almarai" pitchFamily="2" charset="-78"/>
                        </a:rPr>
                        <a:t>%</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2732480"/>
                  </a:ext>
                </a:extLst>
              </a:tr>
              <a:tr h="1331327">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kumimoji="0" lang="en-US" sz="1200" b="0" i="0" u="none" strike="noStrike" kern="1200" cap="none" spc="40" normalizeH="0" baseline="0">
                          <a:ln>
                            <a:noFill/>
                          </a:ln>
                          <a:solidFill>
                            <a:schemeClr val="tx1"/>
                          </a:solidFill>
                          <a:effectLst/>
                          <a:uLnTx/>
                          <a:uFillTx/>
                          <a:latin typeface="Almarai" pitchFamily="2" charset="-78"/>
                          <a:ea typeface="+mn-ea"/>
                          <a:cs typeface="Almarai" pitchFamily="2" charset="-78"/>
                        </a:rPr>
                        <a:t>-</a:t>
                      </a: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Q1</a:t>
                      </a: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يوجد عقود قائمة للمدارس الحالية</a:t>
                      </a:r>
                      <a:r>
                        <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 - </a:t>
                      </a: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متبقي ثلاثة أشهر على انتهاء الدراسة</a:t>
                      </a: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p>
                      <a:pPr marL="0" marR="0" lvl="0" indent="0" algn="r" defTabSz="914400" rtl="1" eaLnBrk="1" fontAlgn="b" latinLnBrk="0" hangingPunct="1">
                        <a:lnSpc>
                          <a:spcPct val="100000"/>
                        </a:lnSpc>
                        <a:spcBef>
                          <a:spcPts val="0"/>
                        </a:spcBef>
                        <a:spcAft>
                          <a:spcPts val="0"/>
                        </a:spcAft>
                        <a:buClrTx/>
                        <a:buSzTx/>
                        <a:buFontTx/>
                        <a:buNone/>
                        <a:tabLst/>
                        <a:defRPr/>
                      </a:pP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Q2</a:t>
                      </a:r>
                      <a:r>
                        <a:rPr kumimoji="0" lang="ar-SA"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 </a:t>
                      </a: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يوجد عقود قائمة للمدارس الحالية</a:t>
                      </a: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p>
                      <a:pPr marL="0" marR="0" lvl="0" indent="0" algn="r" defTabSz="914400" rtl="1" eaLnBrk="1" fontAlgn="b" latinLnBrk="0" hangingPunct="1">
                        <a:lnSpc>
                          <a:spcPct val="100000"/>
                        </a:lnSpc>
                        <a:spcBef>
                          <a:spcPts val="0"/>
                        </a:spcBef>
                        <a:spcAft>
                          <a:spcPts val="0"/>
                        </a:spcAft>
                        <a:buClrTx/>
                        <a:buSzTx/>
                        <a:buFontTx/>
                        <a:buNone/>
                        <a:tabLst/>
                        <a:defRPr/>
                      </a:pPr>
                      <a:endPar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p>
                      <a:pPr marL="0" marR="0" lvl="0" indent="0" algn="r" defTabSz="914400" rtl="0" eaLnBrk="1" fontAlgn="b" latinLnBrk="0" hangingPunct="1">
                        <a:lnSpc>
                          <a:spcPct val="100000"/>
                        </a:lnSpc>
                        <a:spcBef>
                          <a:spcPts val="0"/>
                        </a:spcBef>
                        <a:spcAft>
                          <a:spcPts val="0"/>
                        </a:spcAft>
                        <a:buClrTx/>
                        <a:buSzTx/>
                        <a:buFontTx/>
                        <a:buNone/>
                        <a:tabLst/>
                        <a:defRPr/>
                      </a:pP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209</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210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350</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r>
                        <a:rPr lang="ar-SA" sz="1200" b="0" kern="1200" dirty="0">
                          <a:solidFill>
                            <a:schemeClr val="tx1"/>
                          </a:solidFill>
                          <a:latin typeface="Almarai" pitchFamily="2" charset="-78"/>
                          <a:ea typeface="+mn-ea"/>
                          <a:cs typeface="Almarai" pitchFamily="2" charset="-78"/>
                        </a:rPr>
                        <a:t># الحافلات المشغلة </a:t>
                      </a:r>
                    </a:p>
                  </a:txBody>
                  <a:tcPr marL="0" marR="9525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r>
                        <a:rPr lang="en-US" sz="1200" b="0" i="0" u="none" strike="noStrike" dirty="0">
                          <a:solidFill>
                            <a:schemeClr val="tx1"/>
                          </a:solidFill>
                          <a:effectLst/>
                          <a:latin typeface="Almarai" pitchFamily="2" charset="-78"/>
                          <a:cs typeface="Almarai" pitchFamily="2" charset="-78"/>
                        </a:rPr>
                        <a:t>35%</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1117382"/>
                  </a:ext>
                </a:extLst>
              </a:tr>
              <a:tr h="1331327">
                <a:tc>
                  <a:txBody>
                    <a:bodyPr/>
                    <a:lstStyle/>
                    <a:p>
                      <a:pPr marL="0" marR="0" lvl="0" indent="0" algn="r" defTabSz="914400" rtl="1" eaLnBrk="1" fontAlgn="b" latinLnBrk="0" hangingPunct="1">
                        <a:lnSpc>
                          <a:spcPct val="100000"/>
                        </a:lnSpc>
                        <a:spcBef>
                          <a:spcPts val="0"/>
                        </a:spcBef>
                        <a:spcAft>
                          <a:spcPts val="0"/>
                        </a:spcAft>
                        <a:buClrTx/>
                        <a:buSzTx/>
                        <a:buFont typeface="Arial" panose="020B0604020202020204" pitchFamily="34" charset="0"/>
                        <a:buNone/>
                        <a:tabLst/>
                        <a:defRPr/>
                      </a:pPr>
                      <a:endParaRPr kumimoji="0" lang="ar-SA"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35.7%</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13.46%</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0">
                        <a:lnSpc>
                          <a:spcPct val="150000"/>
                        </a:lnSpc>
                      </a:pPr>
                      <a:r>
                        <a:rPr lang="ar-SA" sz="1200" dirty="0">
                          <a:solidFill>
                            <a:schemeClr val="tx1"/>
                          </a:solidFill>
                          <a:latin typeface="Almarai" pitchFamily="2" charset="-78"/>
                          <a:cs typeface="Almarai" pitchFamily="2" charset="-78"/>
                        </a:rPr>
                        <a:t>25</a:t>
                      </a:r>
                      <a:r>
                        <a:rPr lang="en-US" sz="1200" dirty="0">
                          <a:solidFill>
                            <a:schemeClr val="tx1"/>
                          </a:solidFill>
                          <a:latin typeface="Almarai" pitchFamily="2" charset="-78"/>
                          <a:cs typeface="Almarai" pitchFamily="2" charset="-78"/>
                        </a:rPr>
                        <a: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 الربح التشغيلي</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r>
                        <a:rPr lang="ar-SA" sz="1200" b="0" i="0" u="none" strike="noStrike" dirty="0">
                          <a:solidFill>
                            <a:schemeClr val="tx1"/>
                          </a:solidFill>
                          <a:effectLst/>
                          <a:latin typeface="Almarai" pitchFamily="2" charset="-78"/>
                          <a:cs typeface="Almarai" pitchFamily="2" charset="-78"/>
                        </a:rPr>
                        <a:t>30</a:t>
                      </a:r>
                      <a:r>
                        <a:rPr lang="en-US" sz="1200" b="0" i="0" u="none" strike="noStrike" dirty="0">
                          <a:solidFill>
                            <a:schemeClr val="tx1"/>
                          </a:solidFill>
                          <a:effectLst/>
                          <a:latin typeface="Almarai" pitchFamily="2" charset="-78"/>
                          <a:cs typeface="Almarai" pitchFamily="2" charset="-78"/>
                        </a:rPr>
                        <a:t>%</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سنوي</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0818292"/>
                  </a:ext>
                </a:extLst>
              </a:tr>
              <a:tr h="1331327">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a:t>
                      </a:r>
                      <a:r>
                        <a:rPr lang="ar-SA" sz="1200" b="0" i="0" u="none" strike="noStrike" kern="1200" dirty="0">
                          <a:solidFill>
                            <a:schemeClr val="tx1"/>
                          </a:solidFill>
                          <a:effectLst/>
                          <a:latin typeface="Almarai" pitchFamily="2" charset="-78"/>
                          <a:ea typeface="+mn-ea"/>
                          <a:cs typeface="Almarai" pitchFamily="2" charset="-78"/>
                        </a:rPr>
                        <a:t>98</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81%</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b="0" dirty="0">
                          <a:solidFill>
                            <a:schemeClr val="tx1"/>
                          </a:solidFill>
                          <a:latin typeface="Almarai" pitchFamily="2" charset="-78"/>
                          <a:cs typeface="Almarai" pitchFamily="2" charset="-78"/>
                        </a:rPr>
                        <a:t>80%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 رضا عملاء الأعمال الخاصة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r>
                        <a:rPr lang="en-US" sz="1200" b="0" i="0" u="none" strike="noStrike" dirty="0">
                          <a:solidFill>
                            <a:schemeClr val="tx1"/>
                          </a:solidFill>
                          <a:effectLst/>
                          <a:latin typeface="Almarai" pitchFamily="2" charset="-78"/>
                          <a:cs typeface="Almarai" pitchFamily="2" charset="-78"/>
                        </a:rPr>
                        <a:t>15%</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سنوي</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0065364"/>
                  </a:ext>
                </a:extLst>
              </a:tr>
            </a:tbl>
          </a:graphicData>
        </a:graphic>
      </p:graphicFrame>
    </p:spTree>
    <p:extLst>
      <p:ext uri="{BB962C8B-B14F-4D97-AF65-F5344CB8AC3E}">
        <p14:creationId xmlns:p14="http://schemas.microsoft.com/office/powerpoint/2010/main" val="4011593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B57B034-C7F8-9A2D-80B8-BBAE67037DAB}"/>
              </a:ext>
            </a:extLst>
          </p:cNvPr>
          <p:cNvSpPr/>
          <p:nvPr/>
        </p:nvSpPr>
        <p:spPr>
          <a:xfrm>
            <a:off x="5813660" y="0"/>
            <a:ext cx="6196704" cy="600164"/>
          </a:xfrm>
          <a:prstGeom prst="rect">
            <a:avLst/>
          </a:prstGeom>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endParaRPr kumimoji="0" lang="ar-SA" sz="2400" b="0" i="0" u="none" strike="noStrike" kern="1200" cap="none" spc="0" normalizeH="0" baseline="0" noProof="0" dirty="0">
              <a:ln>
                <a:noFill/>
              </a:ln>
              <a:solidFill>
                <a:srgbClr val="002959"/>
              </a:solidFill>
              <a:effectLst/>
              <a:uLnTx/>
              <a:uFillTx/>
              <a:latin typeface="Almarai Bold" pitchFamily="2" charset="-78"/>
              <a:ea typeface="+mn-ea"/>
              <a:cs typeface="Almarai Bold" pitchFamily="2" charset="-78"/>
            </a:endParaRPr>
          </a:p>
        </p:txBody>
      </p:sp>
      <p:pic>
        <p:nvPicPr>
          <p:cNvPr id="6" name="Picture 5" descr="A picture containing graphical user interface&#10;&#10;Description automatically generated">
            <a:extLst>
              <a:ext uri="{FF2B5EF4-FFF2-40B4-BE49-F238E27FC236}">
                <a16:creationId xmlns:a16="http://schemas.microsoft.com/office/drawing/2014/main" id="{A9D9C6AB-F7D7-D856-9EB7-A85E8A0EEC71}"/>
              </a:ext>
            </a:extLst>
          </p:cNvPr>
          <p:cNvPicPr>
            <a:picLocks noChangeAspect="1"/>
          </p:cNvPicPr>
          <p:nvPr/>
        </p:nvPicPr>
        <p:blipFill rotWithShape="1">
          <a:blip r:embed="rId2"/>
          <a:srcRect l="23677" t="39057" b="28402"/>
          <a:stretch/>
        </p:blipFill>
        <p:spPr>
          <a:xfrm>
            <a:off x="0" y="6477595"/>
            <a:ext cx="5382126" cy="380404"/>
          </a:xfrm>
          <a:prstGeom prst="rect">
            <a:avLst/>
          </a:prstGeom>
        </p:spPr>
      </p:pic>
      <p:graphicFrame>
        <p:nvGraphicFramePr>
          <p:cNvPr id="15" name="Table 2">
            <a:extLst>
              <a:ext uri="{FF2B5EF4-FFF2-40B4-BE49-F238E27FC236}">
                <a16:creationId xmlns:a16="http://schemas.microsoft.com/office/drawing/2014/main" id="{4D91B2E5-381B-D677-ABC2-6AD765456EFA}"/>
              </a:ext>
            </a:extLst>
          </p:cNvPr>
          <p:cNvGraphicFramePr>
            <a:graphicFrameLocks noGrp="1"/>
          </p:cNvGraphicFramePr>
          <p:nvPr/>
        </p:nvGraphicFramePr>
        <p:xfrm>
          <a:off x="1" y="1040398"/>
          <a:ext cx="12191999" cy="5242945"/>
        </p:xfrm>
        <a:graphic>
          <a:graphicData uri="http://schemas.openxmlformats.org/drawingml/2006/table">
            <a:tbl>
              <a:tblPr firstRow="1" bandRow="1">
                <a:tableStyleId>{5C22544A-7EE6-4342-B048-85BDC9FD1C3A}</a:tableStyleId>
              </a:tblPr>
              <a:tblGrid>
                <a:gridCol w="3378199">
                  <a:extLst>
                    <a:ext uri="{9D8B030D-6E8A-4147-A177-3AD203B41FA5}">
                      <a16:colId xmlns:a16="http://schemas.microsoft.com/office/drawing/2014/main" val="276634163"/>
                    </a:ext>
                  </a:extLst>
                </a:gridCol>
                <a:gridCol w="5787651">
                  <a:extLst>
                    <a:ext uri="{9D8B030D-6E8A-4147-A177-3AD203B41FA5}">
                      <a16:colId xmlns:a16="http://schemas.microsoft.com/office/drawing/2014/main" val="1759313315"/>
                    </a:ext>
                  </a:extLst>
                </a:gridCol>
                <a:gridCol w="3026149">
                  <a:extLst>
                    <a:ext uri="{9D8B030D-6E8A-4147-A177-3AD203B41FA5}">
                      <a16:colId xmlns:a16="http://schemas.microsoft.com/office/drawing/2014/main" val="3157918808"/>
                    </a:ext>
                  </a:extLst>
                </a:gridCol>
              </a:tblGrid>
              <a:tr h="551424">
                <a:tc>
                  <a:txBody>
                    <a:bodyPr/>
                    <a:lstStyle/>
                    <a:p>
                      <a:pPr algn="ctr">
                        <a:lnSpc>
                          <a:spcPct val="150000"/>
                        </a:lnSpc>
                      </a:pPr>
                      <a:r>
                        <a:rPr lang="ar-SA" sz="1400" dirty="0">
                          <a:latin typeface="Almarai" pitchFamily="2" charset="-78"/>
                          <a:cs typeface="Almarai" pitchFamily="2" charset="-78"/>
                        </a:rPr>
                        <a:t>الهدف التشغيلي</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شرح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718097">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تحسين سمعة الشركة وتعزيز علامتها التجارية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نسبة الطلبة المسجلين من سقف العقد</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Bold" pitchFamily="2" charset="-78"/>
                          <a:cs typeface="Almarai Bold" pitchFamily="2" charset="-78"/>
                        </a:rPr>
                        <a:t>% المسجلين من سقف العقد</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65137789"/>
                  </a:ext>
                </a:extLst>
              </a:tr>
              <a:tr h="826372">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تحسين سمعة الشركة وتعزيز علامتها التجارية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نسبة عدد الرسوم المستردة للطلاب المسجلين وغير المسكنين من إجمالي عدد المسددين غير المسكنين.</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Bold" pitchFamily="2" charset="-78"/>
                          <a:cs typeface="Almarai Bold" pitchFamily="2" charset="-78"/>
                        </a:rPr>
                        <a:t>% الرسوم المستردة للمسجلين غير المسكنين</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082658606"/>
                  </a:ext>
                </a:extLst>
              </a:tr>
              <a:tr h="489618">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رفع مستوى جودة الخدمة والأمن والسلامة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قياس عدد الحوادث </a:t>
                      </a: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يساوي (1%) أو أقل لكل 100 ألف رحلة </a:t>
                      </a:r>
                      <a:r>
                        <a:rPr lang="ar-SA" sz="1200" b="0" dirty="0">
                          <a:solidFill>
                            <a:schemeClr val="tx1"/>
                          </a:solidFill>
                          <a:latin typeface="Almarai" pitchFamily="2" charset="-78"/>
                          <a:cs typeface="Almarai" pitchFamily="2" charset="-78"/>
                        </a:rPr>
                        <a:t>التي تسبب فيها السائق (بوجود الطلبة) بشكل ربعي للسائقين أثناء تقديم الخدمة</a:t>
                      </a: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en-US" sz="1200" b="0" dirty="0">
                          <a:solidFill>
                            <a:schemeClr val="tx1"/>
                          </a:solidFill>
                          <a:latin typeface="Almarai" pitchFamily="2" charset="-78"/>
                          <a:cs typeface="Almarai" pitchFamily="2" charset="-78"/>
                        </a:rPr>
                        <a:t>%</a:t>
                      </a:r>
                      <a:r>
                        <a:rPr lang="ar-SA" sz="1200" b="0" dirty="0">
                          <a:solidFill>
                            <a:schemeClr val="tx1"/>
                          </a:solidFill>
                          <a:latin typeface="Almarai" pitchFamily="2" charset="-78"/>
                          <a:cs typeface="Almarai" pitchFamily="2" charset="-78"/>
                        </a:rPr>
                        <a:t> الحوادث</a:t>
                      </a:r>
                      <a:endParaRPr lang="en-US" sz="1200" b="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016508191"/>
                  </a:ext>
                </a:extLst>
              </a:tr>
              <a:tr h="459095">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رفع مستوى جودة الخدمة والأمن والسلامة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نسبة السائقين المدربين من إجمالي عدد السائقين. </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Bold" pitchFamily="2" charset="-78"/>
                          <a:cs typeface="Almarai Bold" pitchFamily="2" charset="-78"/>
                        </a:rPr>
                        <a:t>% السائقين المدربين </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722397247"/>
                  </a:ext>
                </a:extLst>
              </a:tr>
              <a:tr h="811409">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رفع مستوى جودة الخدمة والأمن والسلامة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المدة الزمنية لإصدار تقارير الأداء وتسليم نتائج مؤشرات الأداء للمتعهدين بعد تسليم تقارير الأداء ب7 أيام عمل.</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Bold" pitchFamily="2" charset="-78"/>
                          <a:cs typeface="Almarai Bold" pitchFamily="2" charset="-78"/>
                        </a:rPr>
                        <a:t>% مؤشرات أداء المتعهدين المسلّمة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648518063"/>
                  </a:ext>
                </a:extLst>
              </a:tr>
              <a:tr h="811409">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تحسين سمعة الشركة وتعزيز علامتها التجارية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حساب عدد الشكاوى المغلقة خلال (7 أيام عمل) لمركز الاتصال من إجمالي عدد الشكاوى الواردة (جميع شكاوى الشركة).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Bold" pitchFamily="2" charset="-78"/>
                          <a:cs typeface="Almarai Bold" pitchFamily="2" charset="-78"/>
                        </a:rPr>
                        <a:t>% الشكاوى المغلقة في الوقت المحدد</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4097210969"/>
                  </a:ext>
                </a:extLst>
              </a:tr>
              <a:tr h="459095">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•تحسين سمعة الشركة وتعزيز علامتها التجارية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معدل مستوى رضا المستفيدين عن مركز الاتصال عن طريق استبيان</a:t>
                      </a:r>
                      <a:r>
                        <a:rPr lang="en-US" sz="1200" dirty="0">
                          <a:solidFill>
                            <a:schemeClr val="tx1"/>
                          </a:solidFill>
                          <a:latin typeface="Almarai" pitchFamily="2" charset="-78"/>
                          <a:cs typeface="Almarai" pitchFamily="2" charset="-78"/>
                        </a:rPr>
                        <a:t> </a:t>
                      </a:r>
                      <a:endParaRPr lang="ar-SA" sz="1200" dirty="0">
                        <a:solidFill>
                          <a:schemeClr val="tx1"/>
                        </a:solidFill>
                        <a:highlight>
                          <a:srgbClr val="FFFF00"/>
                        </a:highlight>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Bold" pitchFamily="2" charset="-78"/>
                          <a:cs typeface="Almarai Bold" pitchFamily="2" charset="-78"/>
                        </a:rPr>
                        <a:t>% رضا المستفيدين عن مركز الاتصال</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925514391"/>
                  </a:ext>
                </a:extLst>
              </a:tr>
            </a:tbl>
          </a:graphicData>
        </a:graphic>
      </p:graphicFrame>
      <p:pic>
        <p:nvPicPr>
          <p:cNvPr id="13" name="Picture 12" descr="Text&#10;&#10;Description automatically generated with medium confidence">
            <a:extLst>
              <a:ext uri="{FF2B5EF4-FFF2-40B4-BE49-F238E27FC236}">
                <a16:creationId xmlns:a16="http://schemas.microsoft.com/office/drawing/2014/main" id="{7917E9AE-9EB1-E12F-E8B5-3035ECED43E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sp>
        <p:nvSpPr>
          <p:cNvPr id="14" name="TextBox 13">
            <a:extLst>
              <a:ext uri="{FF2B5EF4-FFF2-40B4-BE49-F238E27FC236}">
                <a16:creationId xmlns:a16="http://schemas.microsoft.com/office/drawing/2014/main" id="{DB695D6B-DDE5-8CF9-D2E9-8ED02B37A3A3}"/>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التخطيط والأداء</a:t>
            </a:r>
          </a:p>
        </p:txBody>
      </p:sp>
    </p:spTree>
    <p:extLst>
      <p:ext uri="{BB962C8B-B14F-4D97-AF65-F5344CB8AC3E}">
        <p14:creationId xmlns:p14="http://schemas.microsoft.com/office/powerpoint/2010/main" val="931739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ext&#10;&#10;Description automatically generated with medium confidence">
            <a:extLst>
              <a:ext uri="{FF2B5EF4-FFF2-40B4-BE49-F238E27FC236}">
                <a16:creationId xmlns:a16="http://schemas.microsoft.com/office/drawing/2014/main" id="{C3433488-8A76-4D88-AE36-4FF3665D36F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sp>
        <p:nvSpPr>
          <p:cNvPr id="9" name="TextBox 8">
            <a:extLst>
              <a:ext uri="{FF2B5EF4-FFF2-40B4-BE49-F238E27FC236}">
                <a16:creationId xmlns:a16="http://schemas.microsoft.com/office/drawing/2014/main" id="{92E50EFC-5E21-D367-DA9B-1F60910A0E2B}"/>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التخطيط والأداء</a:t>
            </a:r>
          </a:p>
        </p:txBody>
      </p:sp>
      <p:graphicFrame>
        <p:nvGraphicFramePr>
          <p:cNvPr id="29" name="Table 2">
            <a:extLst>
              <a:ext uri="{FF2B5EF4-FFF2-40B4-BE49-F238E27FC236}">
                <a16:creationId xmlns:a16="http://schemas.microsoft.com/office/drawing/2014/main" id="{8BEA9DE8-329C-9B4A-782B-0E0C2AFB4597}"/>
              </a:ext>
            </a:extLst>
          </p:cNvPr>
          <p:cNvGraphicFramePr>
            <a:graphicFrameLocks noGrp="1"/>
          </p:cNvGraphicFramePr>
          <p:nvPr>
            <p:extLst>
              <p:ext uri="{D42A27DB-BD31-4B8C-83A1-F6EECF244321}">
                <p14:modId xmlns:p14="http://schemas.microsoft.com/office/powerpoint/2010/main" val="3231972008"/>
              </p:ext>
            </p:extLst>
          </p:nvPr>
        </p:nvGraphicFramePr>
        <p:xfrm>
          <a:off x="0" y="1094750"/>
          <a:ext cx="12191999" cy="5763248"/>
        </p:xfrm>
        <a:graphic>
          <a:graphicData uri="http://schemas.openxmlformats.org/drawingml/2006/table">
            <a:tbl>
              <a:tblPr firstRow="1" bandRow="1">
                <a:tableStyleId>{5C22544A-7EE6-4342-B048-85BDC9FD1C3A}</a:tableStyleId>
              </a:tblPr>
              <a:tblGrid>
                <a:gridCol w="1253447">
                  <a:extLst>
                    <a:ext uri="{9D8B030D-6E8A-4147-A177-3AD203B41FA5}">
                      <a16:colId xmlns:a16="http://schemas.microsoft.com/office/drawing/2014/main" val="2055658794"/>
                    </a:ext>
                  </a:extLst>
                </a:gridCol>
                <a:gridCol w="854323">
                  <a:extLst>
                    <a:ext uri="{9D8B030D-6E8A-4147-A177-3AD203B41FA5}">
                      <a16:colId xmlns:a16="http://schemas.microsoft.com/office/drawing/2014/main" val="3919127931"/>
                    </a:ext>
                  </a:extLst>
                </a:gridCol>
                <a:gridCol w="5847084">
                  <a:extLst>
                    <a:ext uri="{9D8B030D-6E8A-4147-A177-3AD203B41FA5}">
                      <a16:colId xmlns:a16="http://schemas.microsoft.com/office/drawing/2014/main" val="1759313315"/>
                    </a:ext>
                  </a:extLst>
                </a:gridCol>
                <a:gridCol w="3386245">
                  <a:extLst>
                    <a:ext uri="{9D8B030D-6E8A-4147-A177-3AD203B41FA5}">
                      <a16:colId xmlns:a16="http://schemas.microsoft.com/office/drawing/2014/main" val="3157918808"/>
                    </a:ext>
                  </a:extLst>
                </a:gridCol>
                <a:gridCol w="850900">
                  <a:extLst>
                    <a:ext uri="{9D8B030D-6E8A-4147-A177-3AD203B41FA5}">
                      <a16:colId xmlns:a16="http://schemas.microsoft.com/office/drawing/2014/main" val="635944514"/>
                    </a:ext>
                  </a:extLst>
                </a:gridCol>
              </a:tblGrid>
              <a:tr h="626492">
                <a:tc>
                  <a:txBody>
                    <a:bodyPr/>
                    <a:lstStyle/>
                    <a:p>
                      <a:pPr algn="ctr">
                        <a:lnSpc>
                          <a:spcPct val="150000"/>
                        </a:lnSpc>
                      </a:pPr>
                      <a:r>
                        <a:rPr lang="ar-SA" sz="1400" dirty="0">
                          <a:latin typeface="Almarai" pitchFamily="2" charset="-78"/>
                          <a:cs typeface="Almarai" pitchFamily="2" charset="-78"/>
                        </a:rPr>
                        <a:t>نوع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الهدف</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المعادلة</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الوزن</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665595">
                <a:tc>
                  <a:txBody>
                    <a:bodyPr/>
                    <a:lstStyle/>
                    <a:p>
                      <a:pPr algn="ctr" rtl="1">
                        <a:lnSpc>
                          <a:spcPct val="150000"/>
                        </a:lnSpc>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solidFill>
                            <a:schemeClr val="tx1"/>
                          </a:solidFill>
                          <a:latin typeface="Almarai" pitchFamily="2" charset="-78"/>
                          <a:cs typeface="Almarai" pitchFamily="2" charset="-78"/>
                        </a:rPr>
                        <a:t>90%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المسجلين / إجمالي سقف العقد)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Bold" pitchFamily="2" charset="-78"/>
                          <a:cs typeface="Almarai Bold" pitchFamily="2" charset="-78"/>
                        </a:rPr>
                        <a:t>% المسجلين من سقف العقد</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30%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935710478"/>
                  </a:ext>
                </a:extLst>
              </a:tr>
              <a:tr h="1048261">
                <a:tc>
                  <a:txBody>
                    <a:bodyPr/>
                    <a:lstStyle/>
                    <a:p>
                      <a:pPr algn="ctr" rtl="1">
                        <a:lnSpc>
                          <a:spcPct val="150000"/>
                        </a:lnSpc>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solidFill>
                            <a:schemeClr val="tx1"/>
                          </a:solidFill>
                          <a:latin typeface="Almarai" pitchFamily="2" charset="-78"/>
                          <a:cs typeface="Almarai" pitchFamily="2" charset="-78"/>
                        </a:rPr>
                        <a:t>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الرسوم المستردة للطلاب المسجلين غير المسكنين / عدد إجمالي الطلبة المسددين غير المسكنين)*100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الرسوم المستردة للمسجلين غير المسكنين</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082658606"/>
                  </a:ext>
                </a:extLst>
              </a:tr>
              <a:tr h="665595">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1" dirty="0">
                          <a:solidFill>
                            <a:schemeClr val="tx1"/>
                          </a:solidFill>
                          <a:latin typeface="Almarai" pitchFamily="2" charset="-78"/>
                          <a:cs typeface="Almarai" pitchFamily="2" charset="-78"/>
                        </a:rPr>
                        <a:t>ربعي</a:t>
                      </a:r>
                      <a:endParaRPr lang="en-US" sz="1200" b="1"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1%</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عدد الرحلات/ 100,000)  ثم (عدد الحوادث/ الناتج) عدد الحوادث لكل 100 ألف رحلة  ( يساوي أو أقل من 1%) </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en-US" sz="1200" b="0" dirty="0">
                          <a:solidFill>
                            <a:schemeClr val="tx1"/>
                          </a:solidFill>
                          <a:latin typeface="Almarai" pitchFamily="2" charset="-78"/>
                          <a:cs typeface="Almarai" pitchFamily="2" charset="-78"/>
                        </a:rPr>
                        <a:t>%</a:t>
                      </a:r>
                      <a:r>
                        <a:rPr lang="ar-SA" sz="1200" b="0" dirty="0">
                          <a:solidFill>
                            <a:schemeClr val="tx1"/>
                          </a:solidFill>
                          <a:latin typeface="Almarai" pitchFamily="2" charset="-78"/>
                          <a:cs typeface="Almarai" pitchFamily="2" charset="-78"/>
                        </a:rPr>
                        <a:t> الحوادث</a:t>
                      </a:r>
                      <a:endParaRPr lang="en-US" sz="1200" b="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175398007"/>
                  </a:ext>
                </a:extLst>
              </a:tr>
              <a:tr h="679562">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95%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(عدد السائقين المدربين / إجمالي عدد السائقين على رأس العمل)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السائقين المدربين</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016508191"/>
                  </a:ext>
                </a:extLst>
              </a:tr>
              <a:tr h="665595">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النتائج المسلمة بالوقت المحدد / إجمالي عدد النتائج المسلمة خلال الربع)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مؤشرات أداء المتعهدين المسلّمة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569007360"/>
                  </a:ext>
                </a:extLst>
              </a:tr>
              <a:tr h="665595">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90%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الشكاوى المغلقة بالوقت المحدد / إجمالي عدد الشكاوى)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الشكاوى المغلقة في الوقت المحدد</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439730819"/>
                  </a:ext>
                </a:extLst>
              </a:tr>
              <a:tr h="746553">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90%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الراضين عن الخدمة / إجمالي عدد الأسئلة)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رضا المستفيدين عن مركز الاتصال</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90921736"/>
                  </a:ext>
                </a:extLst>
              </a:tr>
            </a:tbl>
          </a:graphicData>
        </a:graphic>
      </p:graphicFrame>
    </p:spTree>
    <p:extLst>
      <p:ext uri="{BB962C8B-B14F-4D97-AF65-F5344CB8AC3E}">
        <p14:creationId xmlns:p14="http://schemas.microsoft.com/office/powerpoint/2010/main" val="3843059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789BD45-5C08-4000-8B10-38CE89618E2B}"/>
              </a:ext>
            </a:extLst>
          </p:cNvPr>
          <p:cNvGraphicFramePr>
            <a:graphicFrameLocks noGrp="1"/>
          </p:cNvGraphicFramePr>
          <p:nvPr>
            <p:extLst>
              <p:ext uri="{D42A27DB-BD31-4B8C-83A1-F6EECF244321}">
                <p14:modId xmlns:p14="http://schemas.microsoft.com/office/powerpoint/2010/main" val="1503004306"/>
              </p:ext>
            </p:extLst>
          </p:nvPr>
        </p:nvGraphicFramePr>
        <p:xfrm>
          <a:off x="0" y="1023042"/>
          <a:ext cx="12192000" cy="5834960"/>
        </p:xfrm>
        <a:graphic>
          <a:graphicData uri="http://schemas.openxmlformats.org/drawingml/2006/table">
            <a:tbl>
              <a:tblPr firstRow="1" lastRow="1" bandRow="1">
                <a:tableStyleId>{BC89EF96-8CEA-46FF-86C4-4CE0E7609802}</a:tableStyleId>
              </a:tblPr>
              <a:tblGrid>
                <a:gridCol w="2647069">
                  <a:extLst>
                    <a:ext uri="{9D8B030D-6E8A-4147-A177-3AD203B41FA5}">
                      <a16:colId xmlns:a16="http://schemas.microsoft.com/office/drawing/2014/main" val="3528422332"/>
                    </a:ext>
                  </a:extLst>
                </a:gridCol>
                <a:gridCol w="119028">
                  <a:extLst>
                    <a:ext uri="{9D8B030D-6E8A-4147-A177-3AD203B41FA5}">
                      <a16:colId xmlns:a16="http://schemas.microsoft.com/office/drawing/2014/main" val="2863068307"/>
                    </a:ext>
                  </a:extLst>
                </a:gridCol>
                <a:gridCol w="1081950">
                  <a:extLst>
                    <a:ext uri="{9D8B030D-6E8A-4147-A177-3AD203B41FA5}">
                      <a16:colId xmlns:a16="http://schemas.microsoft.com/office/drawing/2014/main" val="4073806362"/>
                    </a:ext>
                  </a:extLst>
                </a:gridCol>
                <a:gridCol w="119028">
                  <a:extLst>
                    <a:ext uri="{9D8B030D-6E8A-4147-A177-3AD203B41FA5}">
                      <a16:colId xmlns:a16="http://schemas.microsoft.com/office/drawing/2014/main" val="3479291155"/>
                    </a:ext>
                  </a:extLst>
                </a:gridCol>
                <a:gridCol w="577849">
                  <a:extLst>
                    <a:ext uri="{9D8B030D-6E8A-4147-A177-3AD203B41FA5}">
                      <a16:colId xmlns:a16="http://schemas.microsoft.com/office/drawing/2014/main" val="290041181"/>
                    </a:ext>
                  </a:extLst>
                </a:gridCol>
                <a:gridCol w="119028">
                  <a:extLst>
                    <a:ext uri="{9D8B030D-6E8A-4147-A177-3AD203B41FA5}">
                      <a16:colId xmlns:a16="http://schemas.microsoft.com/office/drawing/2014/main" val="161761129"/>
                    </a:ext>
                  </a:extLst>
                </a:gridCol>
                <a:gridCol w="584069">
                  <a:extLst>
                    <a:ext uri="{9D8B030D-6E8A-4147-A177-3AD203B41FA5}">
                      <a16:colId xmlns:a16="http://schemas.microsoft.com/office/drawing/2014/main" val="986504599"/>
                    </a:ext>
                  </a:extLst>
                </a:gridCol>
                <a:gridCol w="119028">
                  <a:extLst>
                    <a:ext uri="{9D8B030D-6E8A-4147-A177-3AD203B41FA5}">
                      <a16:colId xmlns:a16="http://schemas.microsoft.com/office/drawing/2014/main" val="3251801465"/>
                    </a:ext>
                  </a:extLst>
                </a:gridCol>
                <a:gridCol w="489705">
                  <a:extLst>
                    <a:ext uri="{9D8B030D-6E8A-4147-A177-3AD203B41FA5}">
                      <a16:colId xmlns:a16="http://schemas.microsoft.com/office/drawing/2014/main" val="3691410578"/>
                    </a:ext>
                  </a:extLst>
                </a:gridCol>
                <a:gridCol w="119028">
                  <a:extLst>
                    <a:ext uri="{9D8B030D-6E8A-4147-A177-3AD203B41FA5}">
                      <a16:colId xmlns:a16="http://schemas.microsoft.com/office/drawing/2014/main" val="1135390264"/>
                    </a:ext>
                  </a:extLst>
                </a:gridCol>
                <a:gridCol w="526599">
                  <a:extLst>
                    <a:ext uri="{9D8B030D-6E8A-4147-A177-3AD203B41FA5}">
                      <a16:colId xmlns:a16="http://schemas.microsoft.com/office/drawing/2014/main" val="692657871"/>
                    </a:ext>
                  </a:extLst>
                </a:gridCol>
                <a:gridCol w="1111583">
                  <a:extLst>
                    <a:ext uri="{9D8B030D-6E8A-4147-A177-3AD203B41FA5}">
                      <a16:colId xmlns:a16="http://schemas.microsoft.com/office/drawing/2014/main" val="786455139"/>
                    </a:ext>
                  </a:extLst>
                </a:gridCol>
                <a:gridCol w="2809529">
                  <a:extLst>
                    <a:ext uri="{9D8B030D-6E8A-4147-A177-3AD203B41FA5}">
                      <a16:colId xmlns:a16="http://schemas.microsoft.com/office/drawing/2014/main" val="313549563"/>
                    </a:ext>
                  </a:extLst>
                </a:gridCol>
                <a:gridCol w="766590">
                  <a:extLst>
                    <a:ext uri="{9D8B030D-6E8A-4147-A177-3AD203B41FA5}">
                      <a16:colId xmlns:a16="http://schemas.microsoft.com/office/drawing/2014/main" val="2142733880"/>
                    </a:ext>
                  </a:extLst>
                </a:gridCol>
                <a:gridCol w="1001917">
                  <a:extLst>
                    <a:ext uri="{9D8B030D-6E8A-4147-A177-3AD203B41FA5}">
                      <a16:colId xmlns:a16="http://schemas.microsoft.com/office/drawing/2014/main" val="481353969"/>
                    </a:ext>
                  </a:extLst>
                </a:gridCol>
              </a:tblGrid>
              <a:tr h="567242">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dirty="0">
                          <a:ln>
                            <a:noFill/>
                          </a:ln>
                          <a:solidFill>
                            <a:schemeClr val="bg1"/>
                          </a:solidFill>
                          <a:effectLst/>
                          <a:uLnTx/>
                          <a:uFillTx/>
                          <a:latin typeface="Almarai" pitchFamily="2" charset="-78"/>
                          <a:ea typeface="+mn-ea"/>
                          <a:cs typeface="Almarai" pitchFamily="2" charset="-78"/>
                        </a:rPr>
                        <a:t>الملاحظات</a:t>
                      </a:r>
                      <a:endParaRPr kumimoji="0" lang="en-GB" sz="1400" b="1" i="0" u="none" strike="noStrike" kern="1200" cap="none" spc="40" normalizeH="0" baseline="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النتيجة النهائية</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Q4</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Q3</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r>
                        <a:rPr lang="en-US" sz="1400" dirty="0">
                          <a:solidFill>
                            <a:schemeClr val="bg1"/>
                          </a:solidFill>
                          <a:latin typeface="Almarai" pitchFamily="2" charset="-78"/>
                          <a:cs typeface="Almarai" pitchFamily="2" charset="-78"/>
                        </a:rPr>
                        <a:t>Q2</a:t>
                      </a:r>
                      <a:endParaRPr sz="1400" dirty="0">
                        <a:solidFill>
                          <a:schemeClr val="bg1"/>
                        </a:solidFill>
                        <a:latin typeface="Almarai" pitchFamily="2" charset="-78"/>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Q1</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المستهدف</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الوزن</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نوع 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506390058"/>
                  </a:ext>
                </a:extLst>
              </a:tr>
              <a:tr h="912507">
                <a:tc>
                  <a:txBody>
                    <a:bodyPr/>
                    <a:lstStyle/>
                    <a:p>
                      <a:pPr marL="0" marR="0" lvl="0" indent="0" algn="justLow" defTabSz="914400" rtl="1"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Almarai" pitchFamily="2" charset="-78"/>
                          <a:ea typeface="+mn-ea"/>
                          <a:cs typeface="Almarai" pitchFamily="2" charset="-78"/>
                        </a:rPr>
                        <a:t> -</a:t>
                      </a:r>
                      <a:r>
                        <a:rPr lang="en-US" sz="1100" b="1" kern="1200" dirty="0">
                          <a:solidFill>
                            <a:schemeClr val="tx1"/>
                          </a:solidFill>
                          <a:latin typeface="Almarai" pitchFamily="2" charset="-78"/>
                          <a:ea typeface="+mn-ea"/>
                          <a:cs typeface="Almarai" pitchFamily="2" charset="-78"/>
                        </a:rPr>
                        <a:t>Q2+Q1</a:t>
                      </a:r>
                      <a:r>
                        <a:rPr lang="ar-SA" sz="1100" b="0" kern="1200" dirty="0">
                          <a:solidFill>
                            <a:schemeClr val="tx1"/>
                          </a:solidFill>
                          <a:latin typeface="Almarai" pitchFamily="2" charset="-78"/>
                          <a:ea typeface="+mn-ea"/>
                          <a:cs typeface="Almarai" pitchFamily="2" charset="-78"/>
                        </a:rPr>
                        <a:t>تم استهداف اعداد المسجلين بناءً على السعة </a:t>
                      </a:r>
                      <a:r>
                        <a:rPr lang="ar-SA" sz="1100" b="0" kern="1200" dirty="0" err="1">
                          <a:solidFill>
                            <a:schemeClr val="tx1"/>
                          </a:solidFill>
                          <a:latin typeface="Almarai" pitchFamily="2" charset="-78"/>
                          <a:ea typeface="+mn-ea"/>
                          <a:cs typeface="Almarai" pitchFamily="2" charset="-78"/>
                        </a:rPr>
                        <a:t>الإركابية</a:t>
                      </a:r>
                      <a:r>
                        <a:rPr lang="ar-SA" sz="1100" b="0" kern="1200" dirty="0">
                          <a:solidFill>
                            <a:schemeClr val="tx1"/>
                          </a:solidFill>
                          <a:latin typeface="Almarai" pitchFamily="2" charset="-78"/>
                          <a:ea typeface="+mn-ea"/>
                          <a:cs typeface="Almarai" pitchFamily="2" charset="-78"/>
                        </a:rPr>
                        <a:t> للحافلات المتاحة للخدمة قبل بداية العام الدراسي.</a:t>
                      </a:r>
                    </a:p>
                    <a:p>
                      <a:pPr marL="0" marR="0" lvl="0" indent="0" algn="justLow" defTabSz="914400" rtl="1" eaLnBrk="1" fontAlgn="b" latinLnBrk="0" hangingPunct="1">
                        <a:lnSpc>
                          <a:spcPct val="100000"/>
                        </a:lnSpc>
                        <a:spcBef>
                          <a:spcPts val="0"/>
                        </a:spcBef>
                        <a:spcAft>
                          <a:spcPts val="0"/>
                        </a:spcAft>
                        <a:buClrTx/>
                        <a:buSzTx/>
                        <a:buFontTx/>
                        <a:buNone/>
                        <a:tabLst/>
                        <a:defRPr/>
                      </a:pPr>
                      <a:r>
                        <a:rPr lang="ar-SA" sz="1100" b="0" kern="1200" dirty="0">
                          <a:solidFill>
                            <a:schemeClr val="tx1"/>
                          </a:solidFill>
                          <a:latin typeface="Almarai" pitchFamily="2" charset="-78"/>
                          <a:ea typeface="+mn-ea"/>
                          <a:cs typeface="Almarai" pitchFamily="2" charset="-78"/>
                        </a:rPr>
                        <a:t>بالإضافة الى وجود عزوف عن الخدمة بسبب الجودة المقدمة.</a:t>
                      </a:r>
                      <a:endParaRPr lang="en-US" sz="1100" b="0" kern="1200" dirty="0">
                        <a:solidFill>
                          <a:schemeClr val="tx1"/>
                        </a:solidFill>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85%</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85%</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en-US" sz="1200" b="0" dirty="0">
                          <a:solidFill>
                            <a:schemeClr val="tx1"/>
                          </a:solidFill>
                          <a:latin typeface="Almarai" pitchFamily="2" charset="-78"/>
                          <a:cs typeface="Almarai" pitchFamily="2" charset="-78"/>
                        </a:rPr>
                        <a:t>90%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dirty="0">
                          <a:solidFill>
                            <a:schemeClr val="tx1"/>
                          </a:solidFill>
                          <a:latin typeface="Almarai" pitchFamily="2" charset="-78"/>
                          <a:cs typeface="Almarai" pitchFamily="2" charset="-78"/>
                        </a:rPr>
                        <a:t>% المسجلين من سقف العقد</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b="0" dirty="0">
                          <a:solidFill>
                            <a:schemeClr val="tx1"/>
                          </a:solidFill>
                          <a:latin typeface="Almarai" pitchFamily="2" charset="-78"/>
                          <a:cs typeface="Almarai" pitchFamily="2" charset="-78"/>
                        </a:rPr>
                        <a:t>30%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lnSpc>
                          <a:spcPct val="150000"/>
                        </a:lnSpc>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345933"/>
                  </a:ext>
                </a:extLst>
              </a:tr>
              <a:tr h="812839">
                <a:tc>
                  <a:txBody>
                    <a:bodyPr/>
                    <a:lstStyle/>
                    <a:p>
                      <a:pPr marL="0" marR="0" lvl="0" indent="0" algn="justLow" defTabSz="914400" rtl="1" eaLnBrk="1" fontAlgn="b" latinLnBrk="0" hangingPunct="1">
                        <a:lnSpc>
                          <a:spcPct val="100000"/>
                        </a:lnSpc>
                        <a:spcBef>
                          <a:spcPts val="0"/>
                        </a:spcBef>
                        <a:spcAft>
                          <a:spcPts val="0"/>
                        </a:spcAft>
                        <a:buClrTx/>
                        <a:buSzTx/>
                        <a:buFontTx/>
                        <a:buNone/>
                        <a:tabLst/>
                        <a:defRPr/>
                      </a:pPr>
                      <a:r>
                        <a:rPr kumimoji="0" lang="en-US" sz="1100" b="0" i="0" u="none" strike="noStrike" kern="1200" cap="none" spc="40" normalizeH="0" baseline="0" dirty="0">
                          <a:ln>
                            <a:noFill/>
                          </a:ln>
                          <a:solidFill>
                            <a:schemeClr val="tx1"/>
                          </a:solidFill>
                          <a:effectLst/>
                          <a:uLnTx/>
                          <a:uFillTx/>
                          <a:latin typeface="Almarai" pitchFamily="2" charset="-78"/>
                          <a:ea typeface="+mn-ea"/>
                          <a:cs typeface="Almarai" pitchFamily="2" charset="-78"/>
                        </a:rPr>
                        <a:t> -</a:t>
                      </a:r>
                      <a:r>
                        <a:rPr kumimoji="0" lang="en-US" sz="1100" b="1" i="0" u="none" strike="noStrike" kern="1200" cap="none" spc="40" normalizeH="0" baseline="0" dirty="0">
                          <a:ln>
                            <a:noFill/>
                          </a:ln>
                          <a:solidFill>
                            <a:schemeClr val="tx1"/>
                          </a:solidFill>
                          <a:effectLst/>
                          <a:uLnTx/>
                          <a:uFillTx/>
                          <a:latin typeface="Almarai" pitchFamily="2" charset="-78"/>
                          <a:ea typeface="+mn-ea"/>
                          <a:cs typeface="Almarai" pitchFamily="2" charset="-78"/>
                        </a:rPr>
                        <a:t>Q1</a:t>
                      </a:r>
                      <a:r>
                        <a:rPr kumimoji="0" lang="ar-SA" sz="1100" b="0" i="0" u="none" strike="noStrike" kern="1200" cap="none" spc="40" normalizeH="0" baseline="0" dirty="0">
                          <a:ln>
                            <a:noFill/>
                          </a:ln>
                          <a:solidFill>
                            <a:schemeClr val="tx1"/>
                          </a:solidFill>
                          <a:effectLst/>
                          <a:uLnTx/>
                          <a:uFillTx/>
                          <a:latin typeface="Almarai" pitchFamily="2" charset="-78"/>
                          <a:ea typeface="+mn-ea"/>
                          <a:cs typeface="Almarai" pitchFamily="2" charset="-78"/>
                        </a:rPr>
                        <a:t>النسبة تمثل الربع الأول بحيث يتم استكمال المستهدف قبل نهاية العام الدراسي </a:t>
                      </a:r>
                      <a:r>
                        <a:rPr kumimoji="0" lang="en-US" sz="1100" b="0" i="0" u="none" strike="noStrike" kern="1200" cap="none" spc="40" normalizeH="0" baseline="0" dirty="0">
                          <a:ln>
                            <a:noFill/>
                          </a:ln>
                          <a:solidFill>
                            <a:schemeClr val="tx1"/>
                          </a:solidFill>
                          <a:effectLst/>
                          <a:uLnTx/>
                          <a:uFillTx/>
                          <a:latin typeface="Almarai" pitchFamily="2" charset="-78"/>
                          <a:ea typeface="+mn-ea"/>
                          <a:cs typeface="Almarai" pitchFamily="2" charset="-78"/>
                        </a:rPr>
                        <a:t>Q2</a:t>
                      </a:r>
                      <a:r>
                        <a:rPr kumimoji="0" lang="ar-SA" sz="1100" b="0" i="0" u="none" strike="noStrike" kern="1200" cap="none" spc="40" normalizeH="0" baseline="0" dirty="0">
                          <a:ln>
                            <a:noFill/>
                          </a:ln>
                          <a:solidFill>
                            <a:schemeClr val="tx1"/>
                          </a:solidFill>
                          <a:effectLst/>
                          <a:uLnTx/>
                          <a:uFillTx/>
                          <a:latin typeface="Almarai" pitchFamily="2" charset="-78"/>
                          <a:ea typeface="+mn-ea"/>
                          <a:cs typeface="Almarai" pitchFamily="2" charset="-78"/>
                        </a:rPr>
                        <a:t> حسب الإجراءات المتبعة.</a:t>
                      </a: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100</a:t>
                      </a:r>
                      <a:r>
                        <a:rPr lang="en-US" sz="1200" b="0" i="0" u="none" strike="noStrike" kern="1200" dirty="0">
                          <a:solidFill>
                            <a:schemeClr val="tx1"/>
                          </a:solidFill>
                          <a:effectLst/>
                          <a:latin typeface="Almarai" pitchFamily="2" charset="-78"/>
                          <a:ea typeface="+mn-ea"/>
                          <a:cs typeface="Almarai" pitchFamily="2" charset="-78"/>
                        </a:rPr>
                        <a:t>%</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89</a:t>
                      </a:r>
                      <a:r>
                        <a:rPr lang="en-US" sz="1200" b="0" i="0" u="none" strike="noStrike" kern="1200" dirty="0">
                          <a:solidFill>
                            <a:schemeClr val="tx1"/>
                          </a:solidFill>
                          <a:effectLst/>
                          <a:latin typeface="Almarai" pitchFamily="2" charset="-78"/>
                          <a:ea typeface="+mn-ea"/>
                          <a:cs typeface="Almarai" pitchFamily="2" charset="-78"/>
                        </a:rPr>
                        <a:t>%</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en-US" sz="1200" b="0" dirty="0">
                          <a:solidFill>
                            <a:schemeClr val="tx1"/>
                          </a:solidFill>
                          <a:latin typeface="Almarai" pitchFamily="2" charset="-78"/>
                          <a:cs typeface="Almarai" pitchFamily="2" charset="-78"/>
                        </a:rPr>
                        <a:t>100%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b="0" dirty="0">
                          <a:solidFill>
                            <a:schemeClr val="tx1"/>
                          </a:solidFill>
                          <a:latin typeface="Almarai" pitchFamily="2" charset="-78"/>
                          <a:cs typeface="Almarai" pitchFamily="2" charset="-78"/>
                        </a:rPr>
                        <a:t>% الرسوم المستردة للمسجلين غير المسكنين</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b="0" dirty="0">
                          <a:solidFill>
                            <a:schemeClr val="tx1"/>
                          </a:solidFill>
                          <a:latin typeface="Almarai" pitchFamily="2" charset="-78"/>
                          <a:cs typeface="Almarai" pitchFamily="2" charset="-78"/>
                        </a:rPr>
                        <a:t>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2732480"/>
                  </a:ext>
                </a:extLst>
              </a:tr>
              <a:tr h="700007">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kumimoji="0" lang="en-US" sz="11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rgbClr val="92D05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0.87</a:t>
                      </a: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mj-lt"/>
                        <a:buNone/>
                        <a:tabLst/>
                        <a:defRPr/>
                      </a:pPr>
                      <a:r>
                        <a:rPr lang="ar-SA" sz="1200" b="0" i="0" u="none" strike="noStrike" kern="1200" dirty="0">
                          <a:solidFill>
                            <a:schemeClr val="tx1"/>
                          </a:solidFill>
                          <a:effectLst/>
                          <a:latin typeface="Almarai" pitchFamily="2" charset="-78"/>
                          <a:ea typeface="+mn-ea"/>
                          <a:cs typeface="Almarai" pitchFamily="2" charset="-78"/>
                        </a:rPr>
                        <a:t>0</a:t>
                      </a:r>
                      <a:r>
                        <a:rPr lang="en-US" sz="1200" b="0" i="0" u="none" strike="noStrike" kern="1200" dirty="0">
                          <a:solidFill>
                            <a:schemeClr val="tx1"/>
                          </a:solidFill>
                          <a:effectLst/>
                          <a:latin typeface="Almarai" pitchFamily="2" charset="-78"/>
                          <a:ea typeface="+mn-ea"/>
                          <a:cs typeface="Almarai" pitchFamily="2" charset="-78"/>
                        </a:rPr>
                        <a:t>.92%</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b="0" dirty="0">
                          <a:solidFill>
                            <a:schemeClr val="tx1"/>
                          </a:solidFill>
                          <a:latin typeface="Almarai" pitchFamily="2" charset="-78"/>
                          <a:cs typeface="Almarai" pitchFamily="2" charset="-78"/>
                        </a:rPr>
                        <a:t>1%</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en-US" sz="1200" b="0" dirty="0">
                          <a:solidFill>
                            <a:schemeClr val="tx1"/>
                          </a:solidFill>
                          <a:latin typeface="Almarai" pitchFamily="2" charset="-78"/>
                          <a:cs typeface="Almarai" pitchFamily="2" charset="-78"/>
                        </a:rPr>
                        <a:t>%</a:t>
                      </a:r>
                      <a:r>
                        <a:rPr lang="ar-SA" sz="1200" b="0" dirty="0">
                          <a:solidFill>
                            <a:schemeClr val="tx1"/>
                          </a:solidFill>
                          <a:latin typeface="Almarai" pitchFamily="2" charset="-78"/>
                          <a:cs typeface="Almarai" pitchFamily="2" charset="-78"/>
                        </a:rPr>
                        <a:t> الحوادث</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b="0" dirty="0">
                          <a:solidFill>
                            <a:schemeClr val="tx1"/>
                          </a:solidFill>
                          <a:latin typeface="Almarai" pitchFamily="2" charset="-78"/>
                          <a:cs typeface="Almarai" pitchFamily="2" charset="-78"/>
                        </a:rPr>
                        <a:t>15%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1" dirty="0">
                          <a:solidFill>
                            <a:schemeClr val="tx1"/>
                          </a:solidFill>
                          <a:latin typeface="Almarai" pitchFamily="2" charset="-78"/>
                          <a:cs typeface="Almarai" pitchFamily="2" charset="-78"/>
                        </a:rPr>
                        <a:t>ربعي</a:t>
                      </a:r>
                      <a:endParaRPr lang="en-US" sz="1200" b="1"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1117382"/>
                  </a:ext>
                </a:extLst>
              </a:tr>
              <a:tr h="742344">
                <a:tc>
                  <a:txBody>
                    <a:bodyPr/>
                    <a:lstStyle/>
                    <a:p>
                      <a:pPr marL="0" marR="0" lvl="0" indent="0" algn="r" defTabSz="914400" rtl="1" eaLnBrk="1" fontAlgn="b"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a:t>
                      </a:r>
                      <a:r>
                        <a:rPr lang="en-US" sz="1100" b="1" kern="1200" dirty="0">
                          <a:solidFill>
                            <a:schemeClr val="tx1"/>
                          </a:solidFill>
                          <a:latin typeface="Almarai" pitchFamily="2" charset="-78"/>
                          <a:ea typeface="+mn-ea"/>
                          <a:cs typeface="Almarai" pitchFamily="2" charset="-78"/>
                        </a:rPr>
                        <a:t>Q2+Q1</a:t>
                      </a:r>
                      <a:r>
                        <a:rPr kumimoji="0" lang="ar-SA" sz="11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النسب المشار لها هي للربع الأول</a:t>
                      </a:r>
                      <a:r>
                        <a:rPr kumimoji="0" lang="en-US" sz="11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a:t>
                      </a:r>
                      <a:r>
                        <a:rPr kumimoji="0" lang="ar-SA" sz="11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والثاني فقط، كما أن احتساب المؤشر لنسبة التدريب تراكمية حتى نهاية </a:t>
                      </a:r>
                      <a:r>
                        <a:rPr kumimoji="0" lang="en-US" sz="11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Q4</a:t>
                      </a:r>
                      <a:r>
                        <a:rPr kumimoji="0" lang="ar-SA" sz="11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لسنة 2025.</a:t>
                      </a: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90%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87%</a:t>
                      </a: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b="0" dirty="0">
                          <a:solidFill>
                            <a:schemeClr val="tx1"/>
                          </a:solidFill>
                          <a:latin typeface="Almarai" pitchFamily="2" charset="-78"/>
                          <a:cs typeface="Almarai" pitchFamily="2" charset="-78"/>
                        </a:rPr>
                        <a:t>95%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b="0" dirty="0">
                          <a:solidFill>
                            <a:schemeClr val="tx1"/>
                          </a:solidFill>
                          <a:latin typeface="Almarai" pitchFamily="2" charset="-78"/>
                          <a:cs typeface="Almarai" pitchFamily="2" charset="-78"/>
                        </a:rPr>
                        <a:t>% السائقين المدربين</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b="0" dirty="0">
                          <a:solidFill>
                            <a:schemeClr val="tx1"/>
                          </a:solidFill>
                          <a:latin typeface="Almarai" pitchFamily="2" charset="-78"/>
                          <a:cs typeface="Almarai" pitchFamily="2" charset="-78"/>
                        </a:rPr>
                        <a:t>15%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0818292"/>
                  </a:ext>
                </a:extLst>
              </a:tr>
              <a:tr h="700007">
                <a:tc>
                  <a:txBody>
                    <a:bodyPr/>
                    <a:lstStyle/>
                    <a:p>
                      <a:pPr marL="0" marR="0" lvl="0" indent="0" algn="justLow" defTabSz="914400" rtl="1" eaLnBrk="1" fontAlgn="b" latinLnBrk="0" hangingPunct="1">
                        <a:lnSpc>
                          <a:spcPct val="100000"/>
                        </a:lnSpc>
                        <a:spcBef>
                          <a:spcPts val="0"/>
                        </a:spcBef>
                        <a:spcAft>
                          <a:spcPts val="0"/>
                        </a:spcAft>
                        <a:buClrTx/>
                        <a:buSzTx/>
                        <a:buFontTx/>
                        <a:buNone/>
                        <a:tabLst/>
                        <a:defRPr/>
                      </a:pPr>
                      <a:endParaRPr kumimoji="0" lang="ar-SA" sz="11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100</a:t>
                      </a:r>
                      <a:r>
                        <a:rPr lang="en-US" sz="1200" b="0" i="0" u="none" strike="noStrike" kern="1200" dirty="0">
                          <a:solidFill>
                            <a:schemeClr val="tx1"/>
                          </a:solidFill>
                          <a:effectLst/>
                          <a:latin typeface="Almarai" pitchFamily="2" charset="-78"/>
                          <a:ea typeface="+mn-ea"/>
                          <a:cs typeface="Almarai" pitchFamily="2" charset="-78"/>
                        </a:rPr>
                        <a:t>%</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100%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b="0" dirty="0">
                          <a:solidFill>
                            <a:schemeClr val="tx1"/>
                          </a:solidFill>
                          <a:latin typeface="Almarai" pitchFamily="2" charset="-78"/>
                          <a:cs typeface="Almarai" pitchFamily="2" charset="-78"/>
                        </a:rPr>
                        <a:t>100%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b="0" dirty="0">
                          <a:solidFill>
                            <a:schemeClr val="tx1"/>
                          </a:solidFill>
                          <a:latin typeface="Almarai" pitchFamily="2" charset="-78"/>
                          <a:cs typeface="Almarai" pitchFamily="2" charset="-78"/>
                        </a:rPr>
                        <a:t>% مؤشرات أداء المتعهدين المسلّمة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b="0" dirty="0">
                          <a:solidFill>
                            <a:schemeClr val="tx1"/>
                          </a:solidFill>
                          <a:latin typeface="Almarai" pitchFamily="2" charset="-78"/>
                          <a:cs typeface="Almarai" pitchFamily="2" charset="-78"/>
                        </a:rPr>
                        <a:t>15%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0065364"/>
                  </a:ext>
                </a:extLst>
              </a:tr>
              <a:tr h="700007">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endParaRPr kumimoji="0" lang="en-GB" sz="11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200" b="0" dirty="0">
                        <a:solidFill>
                          <a:schemeClr val="tx1"/>
                        </a:solidFill>
                        <a:latin typeface="Almarai" pitchFamily="2" charset="-78"/>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200" b="0" dirty="0">
                        <a:solidFill>
                          <a:schemeClr val="tx1"/>
                        </a:solidFill>
                        <a:latin typeface="Almarai" pitchFamily="2" charset="-78"/>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98%</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%96</a:t>
                      </a: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200" b="0" dirty="0">
                          <a:solidFill>
                            <a:schemeClr val="tx1"/>
                          </a:solidFill>
                          <a:latin typeface="Almarai" pitchFamily="2" charset="-78"/>
                          <a:cs typeface="Almarai" pitchFamily="2" charset="-78"/>
                        </a:rPr>
                        <a:t>90%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b="0" dirty="0">
                          <a:solidFill>
                            <a:schemeClr val="tx1"/>
                          </a:solidFill>
                          <a:latin typeface="Almarai" pitchFamily="2" charset="-78"/>
                          <a:cs typeface="Almarai" pitchFamily="2" charset="-78"/>
                        </a:rPr>
                        <a:t>% الشكاوى المغلقة في الوقت المحدد</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b="0" dirty="0">
                          <a:solidFill>
                            <a:schemeClr val="tx1"/>
                          </a:solidFill>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21032384"/>
                  </a:ext>
                </a:extLst>
              </a:tr>
              <a:tr h="700007">
                <a:tc>
                  <a:txBody>
                    <a:bodyPr/>
                    <a:lstStyle/>
                    <a:p>
                      <a:pPr marL="0" marR="0" lvl="0" indent="0" algn="justLow" defTabSz="914400" rtl="1" eaLnBrk="1" fontAlgn="b" latinLnBrk="0" hangingPunct="1">
                        <a:lnSpc>
                          <a:spcPct val="100000"/>
                        </a:lnSpc>
                        <a:spcBef>
                          <a:spcPts val="0"/>
                        </a:spcBef>
                        <a:spcAft>
                          <a:spcPts val="0"/>
                        </a:spcAft>
                        <a:buClrTx/>
                        <a:buSzTx/>
                        <a:buFontTx/>
                        <a:buNone/>
                        <a:tabLst/>
                        <a:defRPr/>
                      </a:pPr>
                      <a:r>
                        <a:rPr kumimoji="0" lang="en-US" sz="11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a:t>
                      </a:r>
                      <a:r>
                        <a:rPr lang="en-US" sz="1100" b="1" kern="1200" dirty="0">
                          <a:solidFill>
                            <a:schemeClr val="tx1"/>
                          </a:solidFill>
                          <a:latin typeface="Almarai" pitchFamily="2" charset="-78"/>
                          <a:ea typeface="+mn-ea"/>
                          <a:cs typeface="Almarai" pitchFamily="2" charset="-78"/>
                        </a:rPr>
                        <a:t>Q2+Q1</a:t>
                      </a:r>
                      <a:r>
                        <a:rPr kumimoji="0" lang="ar-SA" sz="11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بسبب كثرة الشكاوى والتي تعكس رضا المستفيدين عن المركز في ظل انخفاض جودة الخدمة </a:t>
                      </a:r>
                      <a:endParaRPr kumimoji="0" lang="en-GB" sz="11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0" marR="0" lvl="1"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200" b="0" i="0" u="none" strike="noStrike" kern="1200" dirty="0">
                        <a:solidFill>
                          <a:schemeClr val="tx1"/>
                        </a:solidFill>
                        <a:effectLst/>
                        <a:latin typeface="Almarai" pitchFamily="2" charset="-78"/>
                        <a:ea typeface="+mn-ea"/>
                        <a:cs typeface="Almarai" pitchFamily="2" charset="-78"/>
                      </a:endParaRPr>
                    </a:p>
                  </a:txBody>
                  <a:tcPr marL="7620" marR="7620" marT="7620" marB="0" anchor="b">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0" marR="0" lvl="1"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200" b="0" i="0" u="none" strike="noStrike" kern="1200" dirty="0">
                        <a:solidFill>
                          <a:schemeClr val="tx1"/>
                        </a:solidFill>
                        <a:effectLst/>
                        <a:latin typeface="Almarai" pitchFamily="2" charset="-78"/>
                        <a:ea typeface="+mn-ea"/>
                        <a:cs typeface="Almarai" pitchFamily="2" charset="-78"/>
                      </a:endParaRPr>
                    </a:p>
                  </a:txBody>
                  <a:tcPr marL="7620" marR="7620" marT="7620" marB="0" anchor="b">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87%</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%80</a:t>
                      </a: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200" b="0" dirty="0">
                          <a:solidFill>
                            <a:schemeClr val="tx1"/>
                          </a:solidFill>
                          <a:latin typeface="Almarai" pitchFamily="2" charset="-78"/>
                          <a:cs typeface="Almarai" pitchFamily="2" charset="-78"/>
                        </a:rPr>
                        <a:t>90%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b="0" dirty="0">
                          <a:solidFill>
                            <a:schemeClr val="tx1"/>
                          </a:solidFill>
                          <a:latin typeface="Almarai" pitchFamily="2" charset="-78"/>
                          <a:cs typeface="Almarai" pitchFamily="2" charset="-78"/>
                        </a:rPr>
                        <a:t>% رضا المستفيدين عن مركز الاتصال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b="0" dirty="0">
                          <a:solidFill>
                            <a:schemeClr val="tx1"/>
                          </a:solidFill>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سنوي</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73618700"/>
                  </a:ext>
                </a:extLst>
              </a:tr>
            </a:tbl>
          </a:graphicData>
        </a:graphic>
      </p:graphicFrame>
      <p:pic>
        <p:nvPicPr>
          <p:cNvPr id="26" name="Picture 25" descr="Text&#10;&#10;Description automatically generated with medium confidence">
            <a:extLst>
              <a:ext uri="{FF2B5EF4-FFF2-40B4-BE49-F238E27FC236}">
                <a16:creationId xmlns:a16="http://schemas.microsoft.com/office/drawing/2014/main" id="{4F4AF57B-9DE0-492B-9DB0-50C6A26A0F7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t="1" b="-21"/>
          <a:stretch/>
        </p:blipFill>
        <p:spPr>
          <a:xfrm>
            <a:off x="112358" y="84607"/>
            <a:ext cx="819076" cy="631548"/>
          </a:xfrm>
          <a:prstGeom prst="rect">
            <a:avLst/>
          </a:prstGeom>
        </p:spPr>
      </p:pic>
      <p:sp>
        <p:nvSpPr>
          <p:cNvPr id="10" name="Rectangle 9">
            <a:extLst>
              <a:ext uri="{FF2B5EF4-FFF2-40B4-BE49-F238E27FC236}">
                <a16:creationId xmlns:a16="http://schemas.microsoft.com/office/drawing/2014/main" id="{4D4FFFC4-E065-64A4-2E89-31676DB5159D}"/>
              </a:ext>
            </a:extLst>
          </p:cNvPr>
          <p:cNvSpPr/>
          <p:nvPr/>
        </p:nvSpPr>
        <p:spPr>
          <a:xfrm>
            <a:off x="5702157" y="136902"/>
            <a:ext cx="6396620" cy="509050"/>
          </a:xfrm>
          <a:prstGeom prst="rect">
            <a:avLst/>
          </a:prstGeom>
        </p:spPr>
        <p:txBody>
          <a:bodyPr wrap="square" anchor="ctr">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التخطيط والأداء</a:t>
            </a:r>
          </a:p>
        </p:txBody>
      </p:sp>
    </p:spTree>
    <p:extLst>
      <p:ext uri="{BB962C8B-B14F-4D97-AF65-F5344CB8AC3E}">
        <p14:creationId xmlns:p14="http://schemas.microsoft.com/office/powerpoint/2010/main" val="3477754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B57B034-C7F8-9A2D-80B8-BBAE67037DAB}"/>
              </a:ext>
            </a:extLst>
          </p:cNvPr>
          <p:cNvSpPr/>
          <p:nvPr/>
        </p:nvSpPr>
        <p:spPr>
          <a:xfrm>
            <a:off x="5813660" y="0"/>
            <a:ext cx="6196704" cy="600164"/>
          </a:xfrm>
          <a:prstGeom prst="rect">
            <a:avLst/>
          </a:prstGeom>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endParaRPr kumimoji="0" lang="ar-SA" sz="2400" b="0" i="0" u="none" strike="noStrike" kern="1200" cap="none" spc="0" normalizeH="0" baseline="0" noProof="0" dirty="0">
              <a:ln>
                <a:noFill/>
              </a:ln>
              <a:solidFill>
                <a:srgbClr val="002959"/>
              </a:solidFill>
              <a:effectLst/>
              <a:uLnTx/>
              <a:uFillTx/>
              <a:latin typeface="Almarai Bold" pitchFamily="2" charset="-78"/>
              <a:ea typeface="+mn-ea"/>
              <a:cs typeface="Almarai Bold" pitchFamily="2" charset="-78"/>
            </a:endParaRPr>
          </a:p>
        </p:txBody>
      </p:sp>
      <p:pic>
        <p:nvPicPr>
          <p:cNvPr id="3" name="Picture 2" descr="Text&#10;&#10;Description automatically generated with medium confidence">
            <a:extLst>
              <a:ext uri="{FF2B5EF4-FFF2-40B4-BE49-F238E27FC236}">
                <a16:creationId xmlns:a16="http://schemas.microsoft.com/office/drawing/2014/main" id="{1FB5C98F-B640-9D79-A9C7-A292B25010E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sp>
        <p:nvSpPr>
          <p:cNvPr id="6" name="TextBox 5">
            <a:extLst>
              <a:ext uri="{FF2B5EF4-FFF2-40B4-BE49-F238E27FC236}">
                <a16:creationId xmlns:a16="http://schemas.microsoft.com/office/drawing/2014/main" id="{A089FDAB-A02B-DE4B-6CC1-8686EF76E1B8}"/>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التشغيل</a:t>
            </a:r>
          </a:p>
        </p:txBody>
      </p:sp>
      <p:graphicFrame>
        <p:nvGraphicFramePr>
          <p:cNvPr id="16" name="Table 2">
            <a:extLst>
              <a:ext uri="{FF2B5EF4-FFF2-40B4-BE49-F238E27FC236}">
                <a16:creationId xmlns:a16="http://schemas.microsoft.com/office/drawing/2014/main" id="{1E4FCB29-3777-5B99-A0EC-B06E4B48F4D0}"/>
              </a:ext>
            </a:extLst>
          </p:cNvPr>
          <p:cNvGraphicFramePr>
            <a:graphicFrameLocks noGrp="1"/>
          </p:cNvGraphicFramePr>
          <p:nvPr>
            <p:extLst>
              <p:ext uri="{D42A27DB-BD31-4B8C-83A1-F6EECF244321}">
                <p14:modId xmlns:p14="http://schemas.microsoft.com/office/powerpoint/2010/main" val="3479367676"/>
              </p:ext>
            </p:extLst>
          </p:nvPr>
        </p:nvGraphicFramePr>
        <p:xfrm>
          <a:off x="0" y="976331"/>
          <a:ext cx="12192000" cy="5373346"/>
        </p:xfrm>
        <a:graphic>
          <a:graphicData uri="http://schemas.openxmlformats.org/drawingml/2006/table">
            <a:tbl>
              <a:tblPr firstRow="1" bandRow="1">
                <a:tableStyleId>{5C22544A-7EE6-4342-B048-85BDC9FD1C3A}</a:tableStyleId>
              </a:tblPr>
              <a:tblGrid>
                <a:gridCol w="3378198">
                  <a:extLst>
                    <a:ext uri="{9D8B030D-6E8A-4147-A177-3AD203B41FA5}">
                      <a16:colId xmlns:a16="http://schemas.microsoft.com/office/drawing/2014/main" val="276634163"/>
                    </a:ext>
                  </a:extLst>
                </a:gridCol>
                <a:gridCol w="6319902">
                  <a:extLst>
                    <a:ext uri="{9D8B030D-6E8A-4147-A177-3AD203B41FA5}">
                      <a16:colId xmlns:a16="http://schemas.microsoft.com/office/drawing/2014/main" val="1759313315"/>
                    </a:ext>
                  </a:extLst>
                </a:gridCol>
                <a:gridCol w="2493900">
                  <a:extLst>
                    <a:ext uri="{9D8B030D-6E8A-4147-A177-3AD203B41FA5}">
                      <a16:colId xmlns:a16="http://schemas.microsoft.com/office/drawing/2014/main" val="3157918808"/>
                    </a:ext>
                  </a:extLst>
                </a:gridCol>
              </a:tblGrid>
              <a:tr h="546094">
                <a:tc>
                  <a:txBody>
                    <a:bodyPr/>
                    <a:lstStyle/>
                    <a:p>
                      <a:pPr algn="ctr">
                        <a:lnSpc>
                          <a:spcPct val="150000"/>
                        </a:lnSpc>
                      </a:pPr>
                      <a:r>
                        <a:rPr lang="ar-SA" sz="1400" dirty="0">
                          <a:latin typeface="Almarai" pitchFamily="2" charset="-78"/>
                          <a:cs typeface="Almarai" pitchFamily="2" charset="-78"/>
                        </a:rPr>
                        <a:t>الهدف التشغيلي</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شرح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654914">
                <a:tc>
                  <a:txBody>
                    <a:bodyPr/>
                    <a:lstStyle/>
                    <a:p>
                      <a:pPr algn="r" rtl="1">
                        <a:lnSpc>
                          <a:spcPct val="150000"/>
                        </a:lnSpc>
                      </a:pPr>
                      <a:r>
                        <a:rPr lang="ar-SA" sz="1200" dirty="0">
                          <a:latin typeface="Almarai" pitchFamily="2" charset="-78"/>
                          <a:cs typeface="Almarai" pitchFamily="2" charset="-78"/>
                        </a:rPr>
                        <a:t>•  رفع مستوى جودة الخدمة والأمن والسلامة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قياس نسبة جاهزية الأسطول في فترة إجازة الصيف حسب بيانات الطلبة المشمولين في الخدمة.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فحص الأسطول للعام الدراسي</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935710478"/>
                  </a:ext>
                </a:extLst>
              </a:tr>
              <a:tr h="647977">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 رفع مستوى جودة الخدمة والأمن والسلامة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قياس نسبة فحص الأسطول العامل في الميدان (بشكل دوري).</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فحص الاسطول الدوري</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416536511"/>
                  </a:ext>
                </a:extLst>
              </a:tr>
              <a:tr h="647977">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 </a:t>
                      </a:r>
                      <a:r>
                        <a:rPr lang="ar-SA" sz="1200" kern="1200" noProof="0" dirty="0">
                          <a:solidFill>
                            <a:schemeClr val="dk1"/>
                          </a:solidFill>
                          <a:latin typeface="Almarai" pitchFamily="2" charset="-78"/>
                          <a:ea typeface="+mn-ea"/>
                          <a:cs typeface="Almarai" pitchFamily="2" charset="-78"/>
                        </a:rPr>
                        <a:t>زيادة الربحية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قياس نسبة عدد المسكنين من المشمولين.</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المسكنين من المشمولين</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082658606"/>
                  </a:ext>
                </a:extLst>
              </a:tr>
              <a:tr h="682548">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 تحسين سمعة الشركة وتعزيز علامتها التجارية</a:t>
                      </a:r>
                    </a:p>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 رفع مستوى جودة الخدمة والأمن والسلامة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قياس نسبة التزام الحافلات بالتالي: أجهزة تتبع، كروت تشغيل،  فحص دوري، تأمين مركبة.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الالتزام في اشتراطات العقد</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465475891"/>
                  </a:ext>
                </a:extLst>
              </a:tr>
              <a:tr h="695135">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 تحسين سمعة الشركة وتعزيز علامتها التجارية</a:t>
                      </a:r>
                    </a:p>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 رفع مستوى جودة الخدمة والأمن والسلامة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قياس معالجة المتعهد للملاحظات المرصودة على الهوية المدرسية والأمن والسلامة.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معالجة ملاحظات الهوية المدرسية والأمن والسلامة</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428079717"/>
                  </a:ext>
                </a:extLst>
              </a:tr>
              <a:tr h="695135">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 تحسين سمعة الشركة وتعزيز علامتها التجارية</a:t>
                      </a:r>
                    </a:p>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 رفع مستوى جودة الخدمة والأمن والسلامة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قياس معالجة المتعهد للملاحظات المرصودة بشكل آلي الناتجة عن العمليات التشغيلية.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معالجة ملاحظات جودة الخدمة والسائق</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277952312"/>
                  </a:ext>
                </a:extLst>
              </a:tr>
              <a:tr h="803566">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  تطبيق وتحسين جودة العمليات الداخلية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البيانات التي يتم توفيرها من قبل المتعهد من سائق وحافلة لإجمالي الطلبة المسكنين في نظام نور (التعليم العام والتربية الخاصة)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اكتمال البيانات التشغيلية</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569007360"/>
                  </a:ext>
                </a:extLst>
              </a:tr>
            </a:tbl>
          </a:graphicData>
        </a:graphic>
      </p:graphicFrame>
      <p:pic>
        <p:nvPicPr>
          <p:cNvPr id="7" name="Picture 6" descr="A picture containing graphical user interface&#10;&#10;Description automatically generated">
            <a:extLst>
              <a:ext uri="{FF2B5EF4-FFF2-40B4-BE49-F238E27FC236}">
                <a16:creationId xmlns:a16="http://schemas.microsoft.com/office/drawing/2014/main" id="{DAFD3A82-22B8-634A-8F5A-CAFD92C0CE34}"/>
              </a:ext>
            </a:extLst>
          </p:cNvPr>
          <p:cNvPicPr>
            <a:picLocks noChangeAspect="1"/>
          </p:cNvPicPr>
          <p:nvPr/>
        </p:nvPicPr>
        <p:blipFill rotWithShape="1">
          <a:blip r:embed="rId4"/>
          <a:srcRect l="23677" t="39057" b="28402"/>
          <a:stretch/>
        </p:blipFill>
        <p:spPr>
          <a:xfrm>
            <a:off x="0" y="6477595"/>
            <a:ext cx="5382126" cy="380404"/>
          </a:xfrm>
          <a:prstGeom prst="rect">
            <a:avLst/>
          </a:prstGeom>
        </p:spPr>
      </p:pic>
    </p:spTree>
    <p:extLst>
      <p:ext uri="{BB962C8B-B14F-4D97-AF65-F5344CB8AC3E}">
        <p14:creationId xmlns:p14="http://schemas.microsoft.com/office/powerpoint/2010/main" val="4034296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429356F-1560-46E3-1CDD-FC8A8F4815DA}"/>
              </a:ext>
            </a:extLst>
          </p:cNvPr>
          <p:cNvSpPr/>
          <p:nvPr/>
        </p:nvSpPr>
        <p:spPr>
          <a:xfrm>
            <a:off x="5813660" y="0"/>
            <a:ext cx="6196704" cy="600164"/>
          </a:xfrm>
          <a:prstGeom prst="rect">
            <a:avLst/>
          </a:prstGeom>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endParaRPr kumimoji="0" lang="ar-SA" sz="2400" b="0" i="0" u="none" strike="noStrike" kern="1200" cap="none" spc="0" normalizeH="0" baseline="0" noProof="0" dirty="0">
              <a:ln>
                <a:noFill/>
              </a:ln>
              <a:solidFill>
                <a:srgbClr val="002959"/>
              </a:solidFill>
              <a:effectLst/>
              <a:uLnTx/>
              <a:uFillTx/>
              <a:latin typeface="Almarai Bold" pitchFamily="2" charset="-78"/>
              <a:ea typeface="+mn-ea"/>
              <a:cs typeface="Almarai Bold" pitchFamily="2" charset="-78"/>
            </a:endParaRPr>
          </a:p>
        </p:txBody>
      </p:sp>
      <p:pic>
        <p:nvPicPr>
          <p:cNvPr id="10" name="Picture 9" descr="Text&#10;&#10;Description automatically generated with medium confidence">
            <a:extLst>
              <a:ext uri="{FF2B5EF4-FFF2-40B4-BE49-F238E27FC236}">
                <a16:creationId xmlns:a16="http://schemas.microsoft.com/office/drawing/2014/main" id="{5CFBB82B-129A-8449-64F4-031FF7E6ABB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sp>
        <p:nvSpPr>
          <p:cNvPr id="16" name="TextBox 15">
            <a:extLst>
              <a:ext uri="{FF2B5EF4-FFF2-40B4-BE49-F238E27FC236}">
                <a16:creationId xmlns:a16="http://schemas.microsoft.com/office/drawing/2014/main" id="{ED349417-C519-31E8-25BA-98EF5572F98D}"/>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التشغيل</a:t>
            </a:r>
          </a:p>
        </p:txBody>
      </p:sp>
      <p:graphicFrame>
        <p:nvGraphicFramePr>
          <p:cNvPr id="19" name="Table 2">
            <a:extLst>
              <a:ext uri="{FF2B5EF4-FFF2-40B4-BE49-F238E27FC236}">
                <a16:creationId xmlns:a16="http://schemas.microsoft.com/office/drawing/2014/main" id="{6140A994-14D7-7A33-3D66-A1AAC9C59083}"/>
              </a:ext>
            </a:extLst>
          </p:cNvPr>
          <p:cNvGraphicFramePr>
            <a:graphicFrameLocks noGrp="1"/>
          </p:cNvGraphicFramePr>
          <p:nvPr>
            <p:extLst>
              <p:ext uri="{D42A27DB-BD31-4B8C-83A1-F6EECF244321}">
                <p14:modId xmlns:p14="http://schemas.microsoft.com/office/powerpoint/2010/main" val="1530262444"/>
              </p:ext>
            </p:extLst>
          </p:nvPr>
        </p:nvGraphicFramePr>
        <p:xfrm>
          <a:off x="0" y="914776"/>
          <a:ext cx="12191999" cy="5943224"/>
        </p:xfrm>
        <a:graphic>
          <a:graphicData uri="http://schemas.openxmlformats.org/drawingml/2006/table">
            <a:tbl>
              <a:tblPr firstRow="1" bandRow="1">
                <a:tableStyleId>{5C22544A-7EE6-4342-B048-85BDC9FD1C3A}</a:tableStyleId>
              </a:tblPr>
              <a:tblGrid>
                <a:gridCol w="1253447">
                  <a:extLst>
                    <a:ext uri="{9D8B030D-6E8A-4147-A177-3AD203B41FA5}">
                      <a16:colId xmlns:a16="http://schemas.microsoft.com/office/drawing/2014/main" val="2055658794"/>
                    </a:ext>
                  </a:extLst>
                </a:gridCol>
                <a:gridCol w="1164288">
                  <a:extLst>
                    <a:ext uri="{9D8B030D-6E8A-4147-A177-3AD203B41FA5}">
                      <a16:colId xmlns:a16="http://schemas.microsoft.com/office/drawing/2014/main" val="3919127931"/>
                    </a:ext>
                  </a:extLst>
                </a:gridCol>
                <a:gridCol w="5894518">
                  <a:extLst>
                    <a:ext uri="{9D8B030D-6E8A-4147-A177-3AD203B41FA5}">
                      <a16:colId xmlns:a16="http://schemas.microsoft.com/office/drawing/2014/main" val="1759313315"/>
                    </a:ext>
                  </a:extLst>
                </a:gridCol>
                <a:gridCol w="3028846">
                  <a:extLst>
                    <a:ext uri="{9D8B030D-6E8A-4147-A177-3AD203B41FA5}">
                      <a16:colId xmlns:a16="http://schemas.microsoft.com/office/drawing/2014/main" val="3157918808"/>
                    </a:ext>
                  </a:extLst>
                </a:gridCol>
                <a:gridCol w="850900">
                  <a:extLst>
                    <a:ext uri="{9D8B030D-6E8A-4147-A177-3AD203B41FA5}">
                      <a16:colId xmlns:a16="http://schemas.microsoft.com/office/drawing/2014/main" val="635944514"/>
                    </a:ext>
                  </a:extLst>
                </a:gridCol>
              </a:tblGrid>
              <a:tr h="501573">
                <a:tc>
                  <a:txBody>
                    <a:bodyPr/>
                    <a:lstStyle/>
                    <a:p>
                      <a:pPr algn="ctr">
                        <a:lnSpc>
                          <a:spcPct val="150000"/>
                        </a:lnSpc>
                      </a:pPr>
                      <a:r>
                        <a:rPr lang="ar-SA" sz="1400" dirty="0">
                          <a:latin typeface="Almarai" pitchFamily="2" charset="-78"/>
                          <a:cs typeface="Almarai" pitchFamily="2" charset="-78"/>
                        </a:rPr>
                        <a:t>نوع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الهدف</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المعادلة</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الوزن</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724755">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سنوي</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latin typeface="Almarai" pitchFamily="2" charset="-78"/>
                          <a:cs typeface="Almarai" pitchFamily="2" charset="-78"/>
                        </a:rPr>
                        <a:t>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(عدد الأسطول الذي تم فحصه / إجمالي عدد الأسطول)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فحص الأسطول للعام الدراسي</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082658606"/>
                  </a:ext>
                </a:extLst>
              </a:tr>
              <a:tr h="724755">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سنوي</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latin typeface="Almarai" pitchFamily="2" charset="-78"/>
                          <a:cs typeface="Almarai" pitchFamily="2" charset="-78"/>
                        </a:rPr>
                        <a:t>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(عدد الأسطول الذي تم فحصه / إجمالي عدد الأسطول)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فحص الاسطول الدوري</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055332767"/>
                  </a:ext>
                </a:extLst>
              </a:tr>
              <a:tr h="724755">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سنوي</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latin typeface="Almarai" pitchFamily="2" charset="-78"/>
                          <a:cs typeface="Almarai" pitchFamily="2" charset="-78"/>
                        </a:rPr>
                        <a:t>90%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(عدد الطلبة المسكنين/ إجمالي الطلبة المشمولين)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المسكنين من المشمولين</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20%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840552229"/>
                  </a:ext>
                </a:extLst>
              </a:tr>
              <a:tr h="724755">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سنوي</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latin typeface="Almarai" pitchFamily="2" charset="-78"/>
                          <a:cs typeface="Almarai" pitchFamily="2" charset="-78"/>
                        </a:rPr>
                        <a:t>90%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متوسط ( أجهزة تتبع، كروت تشغيل،  فحص دوري، تأمين مركبة ) </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الالتزام في اشتراطات العقد</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124657159"/>
                  </a:ext>
                </a:extLst>
              </a:tr>
              <a:tr h="863263">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سنوي</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latin typeface="Almarai" pitchFamily="2" charset="-78"/>
                          <a:cs typeface="Almarai" pitchFamily="2" charset="-78"/>
                        </a:rPr>
                        <a:t>80%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(عدد الملاحظات المعالجة / إجمالي عدد الملاحظات)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معالجة ملاحظات الهوية المدرسية والأمن والسلامة</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013659251"/>
                  </a:ext>
                </a:extLst>
              </a:tr>
              <a:tr h="724755">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سنوي</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latin typeface="Almarai" pitchFamily="2" charset="-78"/>
                          <a:cs typeface="Almarai" pitchFamily="2" charset="-78"/>
                        </a:rPr>
                        <a:t>75%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(عدد الملاحظات المعالجة / إجمالي عدد الملاحظات)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معالجة ملاحظات جودة الخدمة والسائق</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363749354"/>
                  </a:ext>
                </a:extLst>
              </a:tr>
              <a:tr h="954613">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سنوي</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latin typeface="Almarai" pitchFamily="2" charset="-78"/>
                          <a:cs typeface="Almarai" pitchFamily="2" charset="-78"/>
                        </a:rPr>
                        <a:t>97%</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(إجمالي الطلبة المسكنين من المتعهد/ إجمالي الطلبة المسكنين في نظام نور)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اكتمال البيانات التشغيلية</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016508191"/>
                  </a:ext>
                </a:extLst>
              </a:tr>
            </a:tbl>
          </a:graphicData>
        </a:graphic>
      </p:graphicFrame>
    </p:spTree>
    <p:extLst>
      <p:ext uri="{BB962C8B-B14F-4D97-AF65-F5344CB8AC3E}">
        <p14:creationId xmlns:p14="http://schemas.microsoft.com/office/powerpoint/2010/main" val="41989200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789BD45-5C08-4000-8B10-38CE89618E2B}"/>
              </a:ext>
            </a:extLst>
          </p:cNvPr>
          <p:cNvGraphicFramePr>
            <a:graphicFrameLocks noGrp="1"/>
          </p:cNvGraphicFramePr>
          <p:nvPr>
            <p:extLst>
              <p:ext uri="{D42A27DB-BD31-4B8C-83A1-F6EECF244321}">
                <p14:modId xmlns:p14="http://schemas.microsoft.com/office/powerpoint/2010/main" val="3229004192"/>
              </p:ext>
            </p:extLst>
          </p:nvPr>
        </p:nvGraphicFramePr>
        <p:xfrm>
          <a:off x="-1" y="753506"/>
          <a:ext cx="12192001" cy="6118033"/>
        </p:xfrm>
        <a:graphic>
          <a:graphicData uri="http://schemas.openxmlformats.org/drawingml/2006/table">
            <a:tbl>
              <a:tblPr firstRow="1" lastRow="1" bandRow="1">
                <a:tableStyleId>{BC89EF96-8CEA-46FF-86C4-4CE0E7609802}</a:tableStyleId>
              </a:tblPr>
              <a:tblGrid>
                <a:gridCol w="3283866">
                  <a:extLst>
                    <a:ext uri="{9D8B030D-6E8A-4147-A177-3AD203B41FA5}">
                      <a16:colId xmlns:a16="http://schemas.microsoft.com/office/drawing/2014/main" val="3528422332"/>
                    </a:ext>
                  </a:extLst>
                </a:gridCol>
                <a:gridCol w="126179">
                  <a:extLst>
                    <a:ext uri="{9D8B030D-6E8A-4147-A177-3AD203B41FA5}">
                      <a16:colId xmlns:a16="http://schemas.microsoft.com/office/drawing/2014/main" val="2962864571"/>
                    </a:ext>
                  </a:extLst>
                </a:gridCol>
                <a:gridCol w="1107635">
                  <a:extLst>
                    <a:ext uri="{9D8B030D-6E8A-4147-A177-3AD203B41FA5}">
                      <a16:colId xmlns:a16="http://schemas.microsoft.com/office/drawing/2014/main" val="3363102281"/>
                    </a:ext>
                  </a:extLst>
                </a:gridCol>
                <a:gridCol w="703688">
                  <a:extLst>
                    <a:ext uri="{9D8B030D-6E8A-4147-A177-3AD203B41FA5}">
                      <a16:colId xmlns:a16="http://schemas.microsoft.com/office/drawing/2014/main" val="290041181"/>
                    </a:ext>
                  </a:extLst>
                </a:gridCol>
                <a:gridCol w="724671">
                  <a:extLst>
                    <a:ext uri="{9D8B030D-6E8A-4147-A177-3AD203B41FA5}">
                      <a16:colId xmlns:a16="http://schemas.microsoft.com/office/drawing/2014/main" val="986504599"/>
                    </a:ext>
                  </a:extLst>
                </a:gridCol>
                <a:gridCol w="612611">
                  <a:extLst>
                    <a:ext uri="{9D8B030D-6E8A-4147-A177-3AD203B41FA5}">
                      <a16:colId xmlns:a16="http://schemas.microsoft.com/office/drawing/2014/main" val="3691410578"/>
                    </a:ext>
                  </a:extLst>
                </a:gridCol>
                <a:gridCol w="586721">
                  <a:extLst>
                    <a:ext uri="{9D8B030D-6E8A-4147-A177-3AD203B41FA5}">
                      <a16:colId xmlns:a16="http://schemas.microsoft.com/office/drawing/2014/main" val="692657871"/>
                    </a:ext>
                  </a:extLst>
                </a:gridCol>
                <a:gridCol w="1175751">
                  <a:extLst>
                    <a:ext uri="{9D8B030D-6E8A-4147-A177-3AD203B41FA5}">
                      <a16:colId xmlns:a16="http://schemas.microsoft.com/office/drawing/2014/main" val="786455139"/>
                    </a:ext>
                  </a:extLst>
                </a:gridCol>
                <a:gridCol w="2235220">
                  <a:extLst>
                    <a:ext uri="{9D8B030D-6E8A-4147-A177-3AD203B41FA5}">
                      <a16:colId xmlns:a16="http://schemas.microsoft.com/office/drawing/2014/main" val="313549563"/>
                    </a:ext>
                  </a:extLst>
                </a:gridCol>
                <a:gridCol w="654520">
                  <a:extLst>
                    <a:ext uri="{9D8B030D-6E8A-4147-A177-3AD203B41FA5}">
                      <a16:colId xmlns:a16="http://schemas.microsoft.com/office/drawing/2014/main" val="2142733880"/>
                    </a:ext>
                  </a:extLst>
                </a:gridCol>
                <a:gridCol w="981139">
                  <a:extLst>
                    <a:ext uri="{9D8B030D-6E8A-4147-A177-3AD203B41FA5}">
                      <a16:colId xmlns:a16="http://schemas.microsoft.com/office/drawing/2014/main" val="481353969"/>
                    </a:ext>
                  </a:extLst>
                </a:gridCol>
              </a:tblGrid>
              <a:tr h="608502">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dirty="0">
                          <a:ln>
                            <a:noFill/>
                          </a:ln>
                          <a:solidFill>
                            <a:schemeClr val="bg1"/>
                          </a:solidFill>
                          <a:effectLst/>
                          <a:uLnTx/>
                          <a:uFillTx/>
                          <a:latin typeface="Almarai" pitchFamily="2" charset="-78"/>
                          <a:ea typeface="+mn-ea"/>
                          <a:cs typeface="Almarai" pitchFamily="2" charset="-78"/>
                        </a:rPr>
                        <a:t>الملاحظات</a:t>
                      </a:r>
                      <a:endParaRPr kumimoji="0" lang="en-GB" sz="1400" b="1" i="0" u="none" strike="noStrike" kern="1200" cap="none" spc="40" normalizeH="0" baseline="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النتيجة النهائية</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Q4</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Q3</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400" dirty="0">
                          <a:solidFill>
                            <a:schemeClr val="bg1"/>
                          </a:solidFill>
                          <a:latin typeface="Almarai" pitchFamily="2" charset="-78"/>
                          <a:cs typeface="Almarai" pitchFamily="2" charset="-78"/>
                        </a:rPr>
                        <a:t>Q2</a:t>
                      </a:r>
                      <a:endParaRPr sz="1400" dirty="0">
                        <a:solidFill>
                          <a:schemeClr val="bg1"/>
                        </a:solidFill>
                        <a:latin typeface="Almarai" pitchFamily="2" charset="-78"/>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US" sz="1400" b="1" i="0" u="none" strike="noStrike" kern="1200" cap="none" spc="40" normalizeH="0" baseline="0" dirty="0">
                          <a:ln>
                            <a:noFill/>
                          </a:ln>
                          <a:solidFill>
                            <a:schemeClr val="bg1"/>
                          </a:solidFill>
                          <a:effectLst/>
                          <a:uLnTx/>
                          <a:uFillTx/>
                          <a:latin typeface="Almarai" pitchFamily="2" charset="-78"/>
                          <a:ea typeface="+mn-ea"/>
                          <a:cs typeface="Almarai" pitchFamily="2" charset="-78"/>
                        </a:rPr>
                        <a:t>Q1</a:t>
                      </a:r>
                      <a:endParaRPr kumimoji="0" sz="1400" b="1" i="0" u="none" strike="noStrike" kern="1200" cap="none" spc="40" normalizeH="0" baseline="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المستهدف</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الوزن</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نوع 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506390058"/>
                  </a:ext>
                </a:extLst>
              </a:tr>
              <a:tr h="850073">
                <a:tc>
                  <a:txBody>
                    <a:bodyPr/>
                    <a:lstStyle/>
                    <a:p>
                      <a:pPr marL="0" marR="0" lvl="0" indent="0" algn="r" defTabSz="914400" rtl="1" eaLnBrk="1" fontAlgn="b" latinLnBrk="0" hangingPunct="1">
                        <a:lnSpc>
                          <a:spcPct val="150000"/>
                        </a:lnSpc>
                        <a:spcBef>
                          <a:spcPts val="0"/>
                        </a:spcBef>
                        <a:spcAft>
                          <a:spcPts val="0"/>
                        </a:spcAft>
                        <a:buClrTx/>
                        <a:buSzTx/>
                        <a:buFontTx/>
                        <a:buNone/>
                        <a:tabLst/>
                        <a:defRPr/>
                      </a:pPr>
                      <a:r>
                        <a:rPr lang="en-US" sz="1200" b="1" kern="1200" dirty="0">
                          <a:solidFill>
                            <a:schemeClr val="tx1"/>
                          </a:solidFill>
                          <a:latin typeface="Almarai" pitchFamily="2" charset="-78"/>
                          <a:ea typeface="+mn-ea"/>
                          <a:cs typeface="Almarai" pitchFamily="2" charset="-78"/>
                        </a:rPr>
                        <a:t>Q1+Q2</a:t>
                      </a:r>
                      <a:r>
                        <a:rPr lang="ar-SA" sz="1200" b="0" kern="1200" dirty="0">
                          <a:solidFill>
                            <a:schemeClr val="tx1"/>
                          </a:solidFill>
                          <a:latin typeface="Almarai" pitchFamily="2" charset="-78"/>
                          <a:ea typeface="+mn-ea"/>
                          <a:cs typeface="Almarai" pitchFamily="2" charset="-78"/>
                        </a:rPr>
                        <a:t>-حالياً لا يوجد فحص الاسطول للاستعداد ويتم ذلك قبل بداية العام الدراسي وسيكون ان شاء الله بشهر ( 7 &amp; 8 ) </a:t>
                      </a: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rgbClr val="000000"/>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200" b="0" kern="1200" dirty="0">
                          <a:solidFill>
                            <a:schemeClr val="tx1"/>
                          </a:solidFill>
                          <a:latin typeface="Almarai" pitchFamily="2" charset="-78"/>
                          <a:ea typeface="+mn-ea"/>
                          <a:cs typeface="Almarai" pitchFamily="2" charset="-78"/>
                        </a:rPr>
                        <a:t>0%</a:t>
                      </a: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200" b="0" kern="1200" dirty="0">
                          <a:solidFill>
                            <a:schemeClr val="tx1"/>
                          </a:solidFill>
                          <a:latin typeface="Almarai" pitchFamily="2" charset="-78"/>
                          <a:ea typeface="+mn-ea"/>
                          <a:cs typeface="Almarai" pitchFamily="2" charset="-78"/>
                        </a:rPr>
                        <a:t>0%</a:t>
                      </a: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lvl="0" algn="ctr" defTabSz="914400" rtl="1" eaLnBrk="1" latinLnBrk="0" hangingPunct="1">
                        <a:lnSpc>
                          <a:spcPct val="150000"/>
                        </a:lnSpc>
                      </a:pPr>
                      <a:r>
                        <a:rPr lang="en-US" sz="1200" b="0" kern="1200" dirty="0">
                          <a:solidFill>
                            <a:schemeClr val="tx1"/>
                          </a:solidFill>
                          <a:latin typeface="Almarai" pitchFamily="2" charset="-78"/>
                          <a:ea typeface="+mn-ea"/>
                          <a:cs typeface="Almarai" pitchFamily="2" charset="-78"/>
                        </a:rPr>
                        <a:t>100%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r" defTabSz="914400" rtl="1" eaLnBrk="1" latinLnBrk="0" hangingPunct="1">
                        <a:lnSpc>
                          <a:spcPct val="150000"/>
                        </a:lnSpc>
                      </a:pPr>
                      <a:r>
                        <a:rPr lang="ar-SA" sz="1200" b="0" kern="1200" dirty="0">
                          <a:solidFill>
                            <a:schemeClr val="tx1"/>
                          </a:solidFill>
                          <a:latin typeface="Almarai" pitchFamily="2" charset="-78"/>
                          <a:ea typeface="+mn-ea"/>
                          <a:cs typeface="Almarai" pitchFamily="2" charset="-78"/>
                        </a:rPr>
                        <a:t>% فحص الأسطول للعام الدراسي</a:t>
                      </a:r>
                      <a:endParaRPr lang="en-US" sz="1200" b="0" kern="1200" dirty="0">
                        <a:solidFill>
                          <a:schemeClr val="tx1"/>
                        </a:solidFill>
                        <a:latin typeface="Almarai" pitchFamily="2" charset="-78"/>
                        <a:ea typeface="+mn-ea"/>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400" rtl="1" eaLnBrk="1" latinLnBrk="0" hangingPunct="1">
                        <a:lnSpc>
                          <a:spcPct val="150000"/>
                        </a:lnSpc>
                      </a:pPr>
                      <a:r>
                        <a:rPr lang="en-US" sz="1200" b="0" kern="1200" dirty="0">
                          <a:solidFill>
                            <a:schemeClr val="tx1"/>
                          </a:solidFill>
                          <a:latin typeface="Almarai" pitchFamily="2" charset="-78"/>
                          <a:ea typeface="+mn-ea"/>
                          <a:cs typeface="Almarai" pitchFamily="2" charset="-78"/>
                        </a:rPr>
                        <a:t>15%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400" rtl="1" eaLnBrk="1" latinLnBrk="0" hangingPunct="1">
                        <a:lnSpc>
                          <a:spcPct val="150000"/>
                        </a:lnSpc>
                      </a:pPr>
                      <a:r>
                        <a:rPr lang="ar-SA" sz="1200" b="0" kern="1200" dirty="0">
                          <a:solidFill>
                            <a:schemeClr val="tx1"/>
                          </a:solidFill>
                          <a:latin typeface="Almarai" pitchFamily="2" charset="-78"/>
                          <a:ea typeface="+mn-ea"/>
                          <a:cs typeface="Almarai" pitchFamily="2" charset="-78"/>
                        </a:rPr>
                        <a:t>سنوي</a:t>
                      </a:r>
                      <a:endParaRPr lang="en-US" sz="1200" b="0" kern="1200" dirty="0">
                        <a:solidFill>
                          <a:schemeClr val="tx1"/>
                        </a:solidFill>
                        <a:latin typeface="Almarai" pitchFamily="2" charset="-78"/>
                        <a:ea typeface="+mn-ea"/>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345933"/>
                  </a:ext>
                </a:extLst>
              </a:tr>
              <a:tr h="1384036">
                <a:tc>
                  <a:txBody>
                    <a:bodyPr/>
                    <a:lstStyle/>
                    <a:p>
                      <a:pPr marL="0" marR="0" lvl="0" indent="0" algn="r" defTabSz="914400" rtl="1" eaLnBrk="1" fontAlgn="b" latinLnBrk="0" hangingPunct="1">
                        <a:lnSpc>
                          <a:spcPct val="150000"/>
                        </a:lnSpc>
                        <a:spcBef>
                          <a:spcPts val="0"/>
                        </a:spcBef>
                        <a:spcAft>
                          <a:spcPts val="0"/>
                        </a:spcAft>
                        <a:buClrTx/>
                        <a:buSzTx/>
                        <a:buFontTx/>
                        <a:buNone/>
                        <a:tabLst/>
                        <a:defRPr/>
                      </a:pPr>
                      <a:r>
                        <a:rPr lang="en-US" sz="1200" b="1" kern="1200" dirty="0">
                          <a:solidFill>
                            <a:schemeClr val="tx1"/>
                          </a:solidFill>
                          <a:latin typeface="Almarai" pitchFamily="2" charset="-78"/>
                          <a:ea typeface="+mn-ea"/>
                          <a:cs typeface="Almarai" pitchFamily="2" charset="-78"/>
                        </a:rPr>
                        <a:t>Q1</a:t>
                      </a:r>
                      <a:r>
                        <a:rPr lang="ar-SA" sz="1200" b="0" kern="1200" dirty="0">
                          <a:solidFill>
                            <a:schemeClr val="tx1"/>
                          </a:solidFill>
                          <a:latin typeface="Almarai" pitchFamily="2" charset="-78"/>
                          <a:ea typeface="+mn-ea"/>
                          <a:cs typeface="Almarai" pitchFamily="2" charset="-78"/>
                        </a:rPr>
                        <a:t>-النسبة تمثل فقط نتائج الربع الأول للعام 2025 م وما تم خلال العام الدراسي الحالي 1446 هـ تمثل 155% حتى تاريخه</a:t>
                      </a:r>
                      <a:endParaRPr lang="en-US" sz="1200" b="0" kern="1200" dirty="0">
                        <a:solidFill>
                          <a:schemeClr val="tx1"/>
                        </a:solidFill>
                        <a:latin typeface="Almarai" pitchFamily="2" charset="-78"/>
                        <a:ea typeface="+mn-ea"/>
                        <a:cs typeface="Almarai" pitchFamily="2" charset="-78"/>
                      </a:endParaRPr>
                    </a:p>
                    <a:p>
                      <a:pPr marL="0" marR="0" lvl="0" indent="0" algn="r" defTabSz="914400" rtl="1" eaLnBrk="1" fontAlgn="b" latinLnBrk="0" hangingPunct="1">
                        <a:lnSpc>
                          <a:spcPct val="150000"/>
                        </a:lnSpc>
                        <a:spcBef>
                          <a:spcPts val="0"/>
                        </a:spcBef>
                        <a:spcAft>
                          <a:spcPts val="0"/>
                        </a:spcAft>
                        <a:buClrTx/>
                        <a:buSzTx/>
                        <a:buFontTx/>
                        <a:buNone/>
                        <a:tabLst/>
                        <a:defRPr/>
                      </a:pPr>
                      <a:r>
                        <a:rPr lang="en-US" sz="1200" b="1" kern="1200" dirty="0">
                          <a:solidFill>
                            <a:schemeClr val="tx1"/>
                          </a:solidFill>
                          <a:latin typeface="Almarai" pitchFamily="2" charset="-78"/>
                          <a:ea typeface="+mn-ea"/>
                          <a:cs typeface="Almarai" pitchFamily="2" charset="-78"/>
                        </a:rPr>
                        <a:t>Q2</a:t>
                      </a:r>
                      <a:r>
                        <a:rPr kumimoji="0" lang="ar-SA" sz="1200" b="0" i="0" u="none" strike="noStrike" kern="1200" cap="none" spc="4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rPr>
                        <a:t>:النسبة للربع الثاني فقط حيث تم فحص 14,380 من اجمالي الاسطول 20,736</a:t>
                      </a:r>
                    </a:p>
                    <a:p>
                      <a:pPr marL="0" marR="0" lvl="0" indent="0" algn="r" defTabSz="914400" rtl="1" eaLnBrk="1" fontAlgn="b" latinLnBrk="0" hangingPunct="1">
                        <a:lnSpc>
                          <a:spcPct val="150000"/>
                        </a:lnSpc>
                        <a:spcBef>
                          <a:spcPts val="0"/>
                        </a:spcBef>
                        <a:spcAft>
                          <a:spcPts val="0"/>
                        </a:spcAft>
                        <a:buClrTx/>
                        <a:buSzTx/>
                        <a:buFontTx/>
                        <a:buNone/>
                        <a:tabLst/>
                        <a:defRPr/>
                      </a:pPr>
                      <a:r>
                        <a:rPr lang="ar-SA" sz="1200" b="1" kern="1200" dirty="0">
                          <a:solidFill>
                            <a:srgbClr val="00B050"/>
                          </a:solidFill>
                          <a:latin typeface="Sakkal Majalla" panose="02000000000000000000" pitchFamily="2" charset="-78"/>
                          <a:ea typeface="+mn-ea"/>
                          <a:cs typeface="Sakkal Majalla" panose="02000000000000000000" pitchFamily="2" charset="-78"/>
                        </a:rPr>
                        <a:t>وما تم فحصه خلال الربع الأول والثاني يمثل نسبة </a:t>
                      </a:r>
                      <a:r>
                        <a:rPr lang="en-US" sz="1200" b="1" kern="1200" dirty="0">
                          <a:solidFill>
                            <a:srgbClr val="00B050"/>
                          </a:solidFill>
                          <a:latin typeface="Sakkal Majalla" panose="02000000000000000000" pitchFamily="2" charset="-78"/>
                          <a:ea typeface="+mn-ea"/>
                          <a:cs typeface="Sakkal Majalla" panose="02000000000000000000" pitchFamily="2" charset="-78"/>
                        </a:rPr>
                        <a:t>155%</a:t>
                      </a: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rgbClr val="000000"/>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200" b="0" kern="1200" dirty="0">
                          <a:solidFill>
                            <a:schemeClr val="tx1"/>
                          </a:solidFill>
                          <a:latin typeface="Almarai" pitchFamily="2" charset="-78"/>
                          <a:ea typeface="+mn-ea"/>
                          <a:cs typeface="Almarai" pitchFamily="2" charset="-78"/>
                        </a:rPr>
                        <a:t>69%</a:t>
                      </a: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200" b="0" kern="1200" dirty="0">
                          <a:solidFill>
                            <a:schemeClr val="tx1"/>
                          </a:solidFill>
                          <a:latin typeface="Almarai" pitchFamily="2" charset="-78"/>
                          <a:ea typeface="+mn-ea"/>
                          <a:cs typeface="Almarai" pitchFamily="2" charset="-78"/>
                        </a:rPr>
                        <a:t>64%</a:t>
                      </a: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lvl="0" algn="ctr" defTabSz="914400" rtl="1" eaLnBrk="1" latinLnBrk="0" hangingPunct="1">
                        <a:lnSpc>
                          <a:spcPct val="150000"/>
                        </a:lnSpc>
                      </a:pPr>
                      <a:r>
                        <a:rPr lang="en-US" sz="1200" b="0" kern="1200" dirty="0">
                          <a:solidFill>
                            <a:schemeClr val="tx1"/>
                          </a:solidFill>
                          <a:latin typeface="Almarai" pitchFamily="2" charset="-78"/>
                          <a:ea typeface="+mn-ea"/>
                          <a:cs typeface="Almarai" pitchFamily="2" charset="-78"/>
                        </a:rPr>
                        <a:t>100%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r" defTabSz="914400" rtl="1" eaLnBrk="1" latinLnBrk="0" hangingPunct="1">
                        <a:lnSpc>
                          <a:spcPct val="150000"/>
                        </a:lnSpc>
                      </a:pPr>
                      <a:r>
                        <a:rPr lang="ar-SA" sz="1200" b="0" kern="1200" dirty="0">
                          <a:solidFill>
                            <a:schemeClr val="tx1"/>
                          </a:solidFill>
                          <a:latin typeface="Almarai" pitchFamily="2" charset="-78"/>
                          <a:ea typeface="+mn-ea"/>
                          <a:cs typeface="Almarai" pitchFamily="2" charset="-78"/>
                        </a:rPr>
                        <a:t>% فحص الاسطول الدوري</a:t>
                      </a:r>
                      <a:endParaRPr lang="en-US" sz="1200" b="0" kern="1200" dirty="0">
                        <a:solidFill>
                          <a:schemeClr val="tx1"/>
                        </a:solidFill>
                        <a:latin typeface="Almarai" pitchFamily="2" charset="-78"/>
                        <a:ea typeface="+mn-ea"/>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400" rtl="1" eaLnBrk="1" latinLnBrk="0" hangingPunct="1">
                        <a:lnSpc>
                          <a:spcPct val="150000"/>
                        </a:lnSpc>
                      </a:pPr>
                      <a:r>
                        <a:rPr lang="en-US" sz="1200" b="0" kern="1200" dirty="0">
                          <a:solidFill>
                            <a:schemeClr val="tx1"/>
                          </a:solidFill>
                          <a:latin typeface="Almarai" pitchFamily="2" charset="-78"/>
                          <a:ea typeface="+mn-ea"/>
                          <a:cs typeface="Almarai" pitchFamily="2" charset="-78"/>
                        </a:rPr>
                        <a:t>15%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kern="1200" dirty="0">
                          <a:solidFill>
                            <a:schemeClr val="tx1"/>
                          </a:solidFill>
                          <a:latin typeface="Almarai" pitchFamily="2" charset="-78"/>
                          <a:ea typeface="+mn-ea"/>
                          <a:cs typeface="Almarai" pitchFamily="2" charset="-78"/>
                        </a:rPr>
                        <a:t>سنوي</a:t>
                      </a:r>
                      <a:endParaRPr lang="en-US" sz="1200" b="0" kern="1200" dirty="0">
                        <a:solidFill>
                          <a:schemeClr val="tx1"/>
                        </a:solidFill>
                        <a:latin typeface="Almarai" pitchFamily="2" charset="-78"/>
                        <a:ea typeface="+mn-ea"/>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2732480"/>
                  </a:ext>
                </a:extLst>
              </a:tr>
              <a:tr h="338705">
                <a:tc>
                  <a:txBody>
                    <a:bodyPr/>
                    <a:lstStyle/>
                    <a:p>
                      <a:pPr marL="0" marR="0" lvl="0" indent="0" algn="r" defTabSz="914400" rtl="1" eaLnBrk="1" fontAlgn="b" latinLnBrk="0" hangingPunct="1">
                        <a:lnSpc>
                          <a:spcPct val="150000"/>
                        </a:lnSpc>
                        <a:spcBef>
                          <a:spcPts val="0"/>
                        </a:spcBef>
                        <a:spcAft>
                          <a:spcPts val="0"/>
                        </a:spcAft>
                        <a:buClrTx/>
                        <a:buSzTx/>
                        <a:buFontTx/>
                        <a:buNone/>
                        <a:tabLst/>
                        <a:defRPr/>
                      </a:pPr>
                      <a:endParaRPr lang="en-US" sz="1200" b="0" kern="1200" dirty="0">
                        <a:solidFill>
                          <a:schemeClr val="tx1"/>
                        </a:solidFill>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a:solidFill>
                          <a:srgbClr val="000000"/>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200" b="0" kern="1200" dirty="0">
                          <a:solidFill>
                            <a:schemeClr val="tx1"/>
                          </a:solidFill>
                          <a:latin typeface="Almarai" pitchFamily="2" charset="-78"/>
                          <a:ea typeface="+mn-ea"/>
                          <a:cs typeface="Almarai" pitchFamily="2" charset="-78"/>
                        </a:rPr>
                        <a:t>100%</a:t>
                      </a: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r>
                        <a:rPr lang="ar-SA" sz="1200" b="0" kern="1200" dirty="0">
                          <a:solidFill>
                            <a:schemeClr val="tx1"/>
                          </a:solidFill>
                          <a:latin typeface="Almarai" pitchFamily="2" charset="-78"/>
                          <a:ea typeface="+mn-ea"/>
                          <a:cs typeface="Almarai" pitchFamily="2" charset="-78"/>
                        </a:rPr>
                        <a:t>%</a:t>
                      </a:r>
                      <a:r>
                        <a:rPr lang="en-US" sz="1200" b="0" kern="1200" dirty="0">
                          <a:solidFill>
                            <a:schemeClr val="tx1"/>
                          </a:solidFill>
                          <a:latin typeface="Almarai" pitchFamily="2" charset="-78"/>
                          <a:ea typeface="+mn-ea"/>
                          <a:cs typeface="Almarai" pitchFamily="2" charset="-78"/>
                        </a:rPr>
                        <a:t>99</a:t>
                      </a: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lvl="0" algn="ctr" defTabSz="914400" rtl="1" eaLnBrk="1" latinLnBrk="0" hangingPunct="1">
                        <a:lnSpc>
                          <a:spcPct val="150000"/>
                        </a:lnSpc>
                      </a:pPr>
                      <a:r>
                        <a:rPr lang="en-US" sz="1200" b="0" kern="1200" dirty="0">
                          <a:solidFill>
                            <a:schemeClr val="tx1"/>
                          </a:solidFill>
                          <a:latin typeface="Almarai" pitchFamily="2" charset="-78"/>
                          <a:ea typeface="+mn-ea"/>
                          <a:cs typeface="Almarai" pitchFamily="2" charset="-78"/>
                        </a:rPr>
                        <a:t>90%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r" defTabSz="914400" rtl="1" eaLnBrk="1" latinLnBrk="0" hangingPunct="1">
                        <a:lnSpc>
                          <a:spcPct val="150000"/>
                        </a:lnSpc>
                      </a:pPr>
                      <a:r>
                        <a:rPr lang="ar-SA" sz="1200" b="0" kern="1200" dirty="0">
                          <a:solidFill>
                            <a:schemeClr val="tx1"/>
                          </a:solidFill>
                          <a:latin typeface="Almarai" pitchFamily="2" charset="-78"/>
                          <a:ea typeface="+mn-ea"/>
                          <a:cs typeface="Almarai" pitchFamily="2" charset="-78"/>
                        </a:rPr>
                        <a:t>% المسكنين من المشمولين</a:t>
                      </a:r>
                      <a:endParaRPr lang="en-US" sz="1200" b="0" kern="1200" dirty="0">
                        <a:solidFill>
                          <a:schemeClr val="tx1"/>
                        </a:solidFill>
                        <a:latin typeface="Almarai" pitchFamily="2" charset="-78"/>
                        <a:ea typeface="+mn-ea"/>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400" rtl="1" eaLnBrk="1" latinLnBrk="0" hangingPunct="1">
                        <a:lnSpc>
                          <a:spcPct val="150000"/>
                        </a:lnSpc>
                      </a:pPr>
                      <a:r>
                        <a:rPr lang="en-US" sz="1200" b="0" kern="1200" dirty="0">
                          <a:solidFill>
                            <a:schemeClr val="tx1"/>
                          </a:solidFill>
                          <a:latin typeface="Almarai" pitchFamily="2" charset="-78"/>
                          <a:ea typeface="+mn-ea"/>
                          <a:cs typeface="Almarai" pitchFamily="2" charset="-78"/>
                        </a:rPr>
                        <a:t>20%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kern="1200" dirty="0">
                          <a:solidFill>
                            <a:schemeClr val="tx1"/>
                          </a:solidFill>
                          <a:latin typeface="Almarai" pitchFamily="2" charset="-78"/>
                          <a:ea typeface="+mn-ea"/>
                          <a:cs typeface="Almarai" pitchFamily="2" charset="-78"/>
                        </a:rPr>
                        <a:t>سنوي</a:t>
                      </a:r>
                      <a:endParaRPr lang="en-US" sz="1200" b="0" kern="1200" dirty="0">
                        <a:solidFill>
                          <a:schemeClr val="tx1"/>
                        </a:solidFill>
                        <a:latin typeface="Almarai" pitchFamily="2" charset="-78"/>
                        <a:ea typeface="+mn-ea"/>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1117382"/>
                  </a:ext>
                </a:extLst>
              </a:tr>
              <a:tr h="1346878">
                <a:tc>
                  <a:txBody>
                    <a:bodyPr/>
                    <a:lstStyle/>
                    <a:p>
                      <a:pPr marL="0" marR="0" lvl="0" indent="0" algn="r" defTabSz="914400" rtl="1" eaLnBrk="1" fontAlgn="b" latinLnBrk="0" hangingPunct="1">
                        <a:lnSpc>
                          <a:spcPct val="150000"/>
                        </a:lnSpc>
                        <a:spcBef>
                          <a:spcPts val="0"/>
                        </a:spcBef>
                        <a:spcAft>
                          <a:spcPts val="0"/>
                        </a:spcAft>
                        <a:buClrTx/>
                        <a:buSzTx/>
                        <a:buFont typeface="Arial" panose="020B0604020202020204" pitchFamily="34" charset="0"/>
                        <a:buNone/>
                        <a:tabLst/>
                        <a:defRPr/>
                      </a:pPr>
                      <a:endParaRPr lang="en-US" sz="1200" b="0" kern="1200" noProof="0" dirty="0">
                        <a:solidFill>
                          <a:schemeClr val="tx1"/>
                        </a:solidFill>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rgbClr val="000000"/>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200" b="0" kern="1200" dirty="0">
                          <a:solidFill>
                            <a:schemeClr val="tx1"/>
                          </a:solidFill>
                          <a:latin typeface="Almarai" pitchFamily="2" charset="-78"/>
                          <a:ea typeface="+mn-ea"/>
                          <a:cs typeface="Almarai" pitchFamily="2" charset="-78"/>
                        </a:rPr>
                        <a:t>92%</a:t>
                      </a: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r>
                        <a:rPr lang="ar-SA" sz="1200" b="0" kern="1200" dirty="0">
                          <a:solidFill>
                            <a:schemeClr val="tx1"/>
                          </a:solidFill>
                          <a:latin typeface="Almarai" pitchFamily="2" charset="-78"/>
                          <a:ea typeface="+mn-ea"/>
                          <a:cs typeface="Almarai" pitchFamily="2" charset="-78"/>
                        </a:rPr>
                        <a:t>%</a:t>
                      </a:r>
                      <a:r>
                        <a:rPr lang="en-US" sz="1200" b="0" kern="1200" dirty="0">
                          <a:solidFill>
                            <a:schemeClr val="tx1"/>
                          </a:solidFill>
                          <a:latin typeface="Almarai" pitchFamily="2" charset="-78"/>
                          <a:ea typeface="+mn-ea"/>
                          <a:cs typeface="Almarai" pitchFamily="2" charset="-78"/>
                        </a:rPr>
                        <a:t>95</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lvl="0" algn="ctr" defTabSz="914400" rtl="1" eaLnBrk="1" latinLnBrk="0" hangingPunct="1">
                        <a:lnSpc>
                          <a:spcPct val="150000"/>
                        </a:lnSpc>
                      </a:pPr>
                      <a:r>
                        <a:rPr lang="en-US" sz="1200" b="0" kern="1200" dirty="0">
                          <a:solidFill>
                            <a:schemeClr val="tx1"/>
                          </a:solidFill>
                          <a:latin typeface="Almarai" pitchFamily="2" charset="-78"/>
                          <a:ea typeface="+mn-ea"/>
                          <a:cs typeface="Almarai" pitchFamily="2" charset="-78"/>
                        </a:rPr>
                        <a:t>90%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r" defTabSz="914400" rtl="1" eaLnBrk="1" latinLnBrk="0" hangingPunct="1">
                        <a:lnSpc>
                          <a:spcPct val="150000"/>
                        </a:lnSpc>
                      </a:pPr>
                      <a:r>
                        <a:rPr lang="ar-SA" sz="1200" b="0" kern="1200" dirty="0">
                          <a:solidFill>
                            <a:schemeClr val="tx1"/>
                          </a:solidFill>
                          <a:latin typeface="Almarai" pitchFamily="2" charset="-78"/>
                          <a:ea typeface="+mn-ea"/>
                          <a:cs typeface="Almarai" pitchFamily="2" charset="-78"/>
                        </a:rPr>
                        <a:t>% الالتزام في اشتراطات العقد</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400" rtl="1" eaLnBrk="1" latinLnBrk="0" hangingPunct="1">
                        <a:lnSpc>
                          <a:spcPct val="150000"/>
                        </a:lnSpc>
                      </a:pPr>
                      <a:r>
                        <a:rPr lang="en-US" sz="1200" b="0" kern="1200" dirty="0">
                          <a:solidFill>
                            <a:schemeClr val="tx1"/>
                          </a:solidFill>
                          <a:latin typeface="Almarai" pitchFamily="2" charset="-78"/>
                          <a:ea typeface="+mn-ea"/>
                          <a:cs typeface="Almarai" pitchFamily="2" charset="-78"/>
                        </a:rPr>
                        <a:t>15%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kern="1200" dirty="0">
                          <a:solidFill>
                            <a:schemeClr val="tx1"/>
                          </a:solidFill>
                          <a:latin typeface="Almarai" pitchFamily="2" charset="-78"/>
                          <a:ea typeface="+mn-ea"/>
                          <a:cs typeface="Almarai" pitchFamily="2" charset="-78"/>
                        </a:rPr>
                        <a:t>سنوي</a:t>
                      </a:r>
                      <a:endParaRPr lang="en-US" sz="1200" b="0" kern="1200" dirty="0">
                        <a:solidFill>
                          <a:schemeClr val="tx1"/>
                        </a:solidFill>
                        <a:latin typeface="Almarai" pitchFamily="2" charset="-78"/>
                        <a:ea typeface="+mn-ea"/>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0818292"/>
                  </a:ext>
                </a:extLst>
              </a:tr>
              <a:tr h="618797">
                <a:tc>
                  <a:txBody>
                    <a:bodyPr/>
                    <a:lstStyle/>
                    <a:p>
                      <a:pPr marL="0" marR="0" lvl="0" indent="0" algn="r" defTabSz="914400" rtl="1" eaLnBrk="1" fontAlgn="b" latinLnBrk="0" hangingPunct="1">
                        <a:lnSpc>
                          <a:spcPct val="150000"/>
                        </a:lnSpc>
                        <a:spcBef>
                          <a:spcPts val="0"/>
                        </a:spcBef>
                        <a:spcAft>
                          <a:spcPts val="0"/>
                        </a:spcAft>
                        <a:buClrTx/>
                        <a:buSzTx/>
                        <a:buFont typeface="Arial" panose="020B0604020202020204" pitchFamily="34" charset="0"/>
                        <a:buNone/>
                        <a:tabLst/>
                        <a:defRPr/>
                      </a:pPr>
                      <a:endParaRPr lang="ar-SA" sz="1200" b="0" kern="1200" noProof="0" dirty="0">
                        <a:solidFill>
                          <a:schemeClr val="tx1"/>
                        </a:solidFill>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a:solidFill>
                          <a:srgbClr val="000000"/>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200" b="0" kern="1200" dirty="0">
                          <a:solidFill>
                            <a:schemeClr val="tx1"/>
                          </a:solidFill>
                          <a:latin typeface="Almarai" pitchFamily="2" charset="-78"/>
                          <a:ea typeface="+mn-ea"/>
                          <a:cs typeface="Almarai" pitchFamily="2" charset="-78"/>
                        </a:rPr>
                        <a:t>91%</a:t>
                      </a: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200" b="0" kern="1200" dirty="0">
                          <a:solidFill>
                            <a:schemeClr val="tx1"/>
                          </a:solidFill>
                          <a:latin typeface="Almarai" pitchFamily="2" charset="-78"/>
                          <a:ea typeface="+mn-ea"/>
                          <a:cs typeface="Almarai" pitchFamily="2" charset="-78"/>
                        </a:rPr>
                        <a:t>88%</a:t>
                      </a: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b="0" kern="1200" dirty="0">
                          <a:solidFill>
                            <a:schemeClr val="tx1"/>
                          </a:solidFill>
                          <a:latin typeface="Almarai" pitchFamily="2" charset="-78"/>
                          <a:ea typeface="+mn-ea"/>
                          <a:cs typeface="Almarai" pitchFamily="2" charset="-78"/>
                        </a:rPr>
                        <a:t>80%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r" defTabSz="914400" rtl="1" eaLnBrk="1" latinLnBrk="0" hangingPunct="1">
                        <a:lnSpc>
                          <a:spcPct val="150000"/>
                        </a:lnSpc>
                      </a:pPr>
                      <a:r>
                        <a:rPr lang="ar-SA" sz="1200" b="0" kern="1200" dirty="0">
                          <a:solidFill>
                            <a:schemeClr val="tx1"/>
                          </a:solidFill>
                          <a:latin typeface="Almarai" pitchFamily="2" charset="-78"/>
                          <a:ea typeface="+mn-ea"/>
                          <a:cs typeface="Almarai" pitchFamily="2" charset="-78"/>
                        </a:rPr>
                        <a:t>% معالجة ملاحظات الهوية المدرسية والأمن والسلامة</a:t>
                      </a:r>
                      <a:endParaRPr lang="en-US" sz="1200" b="0" kern="1200" dirty="0">
                        <a:solidFill>
                          <a:schemeClr val="tx1"/>
                        </a:solidFill>
                        <a:latin typeface="Almarai" pitchFamily="2" charset="-78"/>
                        <a:ea typeface="+mn-ea"/>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400" rtl="1" eaLnBrk="1" latinLnBrk="0" hangingPunct="1">
                        <a:lnSpc>
                          <a:spcPct val="150000"/>
                        </a:lnSpc>
                      </a:pPr>
                      <a:r>
                        <a:rPr lang="en-US" sz="1200" b="0" kern="1200" dirty="0">
                          <a:solidFill>
                            <a:schemeClr val="tx1"/>
                          </a:solidFill>
                          <a:latin typeface="Almarai" pitchFamily="2" charset="-78"/>
                          <a:ea typeface="+mn-ea"/>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kern="1200" dirty="0">
                          <a:solidFill>
                            <a:schemeClr val="tx1"/>
                          </a:solidFill>
                          <a:latin typeface="Almarai" pitchFamily="2" charset="-78"/>
                          <a:ea typeface="+mn-ea"/>
                          <a:cs typeface="Almarai" pitchFamily="2" charset="-78"/>
                        </a:rPr>
                        <a:t>سنوي</a:t>
                      </a:r>
                      <a:endParaRPr lang="en-US" sz="1200" b="0" kern="1200" dirty="0">
                        <a:solidFill>
                          <a:schemeClr val="tx1"/>
                        </a:solidFill>
                        <a:latin typeface="Almarai" pitchFamily="2" charset="-78"/>
                        <a:ea typeface="+mn-ea"/>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0065364"/>
                  </a:ext>
                </a:extLst>
              </a:tr>
              <a:tr h="618797">
                <a:tc>
                  <a:txBody>
                    <a:bodyPr/>
                    <a:lstStyle/>
                    <a:p>
                      <a:pPr marL="0" marR="0" lvl="0" indent="0" algn="r" defTabSz="914400" rtl="1" eaLnBrk="1" fontAlgn="b" latinLnBrk="0" hangingPunct="1">
                        <a:lnSpc>
                          <a:spcPct val="150000"/>
                        </a:lnSpc>
                        <a:spcBef>
                          <a:spcPts val="0"/>
                        </a:spcBef>
                        <a:spcAft>
                          <a:spcPts val="0"/>
                        </a:spcAft>
                        <a:buClrTx/>
                        <a:buSzTx/>
                        <a:buFont typeface="Arial" panose="020B0604020202020204" pitchFamily="34" charset="0"/>
                        <a:buNone/>
                        <a:tabLst/>
                        <a:defRPr/>
                      </a:pPr>
                      <a:endParaRPr lang="ar-SA" sz="1200" b="0" kern="1200" noProof="0" dirty="0">
                        <a:solidFill>
                          <a:schemeClr val="tx1"/>
                        </a:solidFill>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rgbClr val="000000"/>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200" b="0" kern="1200" dirty="0">
                          <a:solidFill>
                            <a:schemeClr val="tx1"/>
                          </a:solidFill>
                          <a:latin typeface="Almarai" pitchFamily="2" charset="-78"/>
                          <a:ea typeface="+mn-ea"/>
                          <a:cs typeface="Almarai" pitchFamily="2" charset="-78"/>
                        </a:rPr>
                        <a:t>73%</a:t>
                      </a: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200" b="0" kern="1200" dirty="0">
                          <a:solidFill>
                            <a:schemeClr val="tx1"/>
                          </a:solidFill>
                          <a:latin typeface="Almarai" pitchFamily="2" charset="-78"/>
                          <a:ea typeface="+mn-ea"/>
                          <a:cs typeface="Almarai" pitchFamily="2" charset="-78"/>
                        </a:rPr>
                        <a:t>74%</a:t>
                      </a: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b="0" kern="1200" dirty="0">
                          <a:solidFill>
                            <a:schemeClr val="tx1"/>
                          </a:solidFill>
                          <a:latin typeface="Almarai" pitchFamily="2" charset="-78"/>
                          <a:ea typeface="+mn-ea"/>
                          <a:cs typeface="Almarai" pitchFamily="2" charset="-78"/>
                        </a:rPr>
                        <a:t>75%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r" defTabSz="914400" rtl="1" eaLnBrk="1" latinLnBrk="0" hangingPunct="1">
                        <a:lnSpc>
                          <a:spcPct val="150000"/>
                        </a:lnSpc>
                      </a:pPr>
                      <a:r>
                        <a:rPr lang="ar-SA" sz="1200" b="0" kern="1200" dirty="0">
                          <a:solidFill>
                            <a:schemeClr val="tx1"/>
                          </a:solidFill>
                          <a:latin typeface="Almarai" pitchFamily="2" charset="-78"/>
                          <a:ea typeface="+mn-ea"/>
                          <a:cs typeface="Almarai" pitchFamily="2" charset="-78"/>
                        </a:rPr>
                        <a:t>% معالجة ملاحظات جودة الخدمة والسائق</a:t>
                      </a:r>
                      <a:endParaRPr lang="en-US" sz="1200" b="0" kern="1200" dirty="0">
                        <a:solidFill>
                          <a:schemeClr val="tx1"/>
                        </a:solidFill>
                        <a:latin typeface="Almarai" pitchFamily="2" charset="-78"/>
                        <a:ea typeface="+mn-ea"/>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400" rtl="1" eaLnBrk="1" latinLnBrk="0" hangingPunct="1">
                        <a:lnSpc>
                          <a:spcPct val="150000"/>
                        </a:lnSpc>
                      </a:pPr>
                      <a:r>
                        <a:rPr lang="en-US" sz="1200" b="0" kern="1200" dirty="0">
                          <a:solidFill>
                            <a:schemeClr val="tx1"/>
                          </a:solidFill>
                          <a:latin typeface="Almarai" pitchFamily="2" charset="-78"/>
                          <a:ea typeface="+mn-ea"/>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kern="1200" dirty="0">
                          <a:solidFill>
                            <a:schemeClr val="tx1"/>
                          </a:solidFill>
                          <a:latin typeface="Almarai" pitchFamily="2" charset="-78"/>
                          <a:ea typeface="+mn-ea"/>
                          <a:cs typeface="Almarai" pitchFamily="2" charset="-78"/>
                        </a:rPr>
                        <a:t>سنوي</a:t>
                      </a:r>
                      <a:endParaRPr lang="en-US" sz="1200" b="0" kern="1200" dirty="0">
                        <a:solidFill>
                          <a:schemeClr val="tx1"/>
                        </a:solidFill>
                        <a:latin typeface="Almarai" pitchFamily="2" charset="-78"/>
                        <a:ea typeface="+mn-ea"/>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21032384"/>
                  </a:ext>
                </a:extLst>
              </a:tr>
              <a:tr h="338705">
                <a:tc>
                  <a:txBody>
                    <a:bodyPr/>
                    <a:lstStyle/>
                    <a:p>
                      <a:pPr marL="0" marR="0" lvl="0" indent="0" algn="r" defTabSz="914400" rtl="1" eaLnBrk="1" fontAlgn="b" latinLnBrk="0" hangingPunct="1">
                        <a:lnSpc>
                          <a:spcPct val="150000"/>
                        </a:lnSpc>
                        <a:spcBef>
                          <a:spcPts val="0"/>
                        </a:spcBef>
                        <a:spcAft>
                          <a:spcPts val="0"/>
                        </a:spcAft>
                        <a:buClrTx/>
                        <a:buSzTx/>
                        <a:buFontTx/>
                        <a:buNone/>
                        <a:tabLst/>
                        <a:defRPr/>
                      </a:pPr>
                      <a:endParaRPr lang="ar-SA" sz="1200" b="0" kern="1200" noProof="0" dirty="0">
                        <a:solidFill>
                          <a:schemeClr val="tx1"/>
                        </a:solidFill>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rgbClr val="000000"/>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200" b="0" kern="1200" dirty="0">
                          <a:solidFill>
                            <a:schemeClr val="tx1"/>
                          </a:solidFill>
                          <a:latin typeface="Almarai" pitchFamily="2" charset="-78"/>
                          <a:ea typeface="+mn-ea"/>
                          <a:cs typeface="Almarai" pitchFamily="2" charset="-78"/>
                        </a:rPr>
                        <a:t>99%</a:t>
                      </a: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kern="1200" dirty="0">
                          <a:solidFill>
                            <a:schemeClr val="tx1"/>
                          </a:solidFill>
                          <a:latin typeface="Almarai" pitchFamily="2" charset="-78"/>
                          <a:ea typeface="+mn-ea"/>
                          <a:cs typeface="Almarai" pitchFamily="2" charset="-78"/>
                        </a:rPr>
                        <a:t>%</a:t>
                      </a:r>
                      <a:r>
                        <a:rPr lang="en-US" sz="1200" b="0" kern="1200" dirty="0">
                          <a:solidFill>
                            <a:schemeClr val="tx1"/>
                          </a:solidFill>
                          <a:latin typeface="Almarai" pitchFamily="2" charset="-78"/>
                          <a:ea typeface="+mn-ea"/>
                          <a:cs typeface="Almarai" pitchFamily="2" charset="-78"/>
                        </a:rPr>
                        <a:t>99</a:t>
                      </a: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b="0" kern="1200" dirty="0">
                          <a:solidFill>
                            <a:schemeClr val="tx1"/>
                          </a:solidFill>
                          <a:latin typeface="Almarai" pitchFamily="2" charset="-78"/>
                          <a:ea typeface="+mn-ea"/>
                          <a:cs typeface="Almarai" pitchFamily="2" charset="-78"/>
                        </a:rPr>
                        <a:t>97%</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r" defTabSz="914400" rtl="1" eaLnBrk="1" latinLnBrk="0" hangingPunct="1">
                        <a:lnSpc>
                          <a:spcPct val="150000"/>
                        </a:lnSpc>
                      </a:pPr>
                      <a:r>
                        <a:rPr lang="ar-SA" sz="1200" b="0" kern="1200" dirty="0">
                          <a:solidFill>
                            <a:schemeClr val="tx1"/>
                          </a:solidFill>
                          <a:latin typeface="Almarai" pitchFamily="2" charset="-78"/>
                          <a:ea typeface="+mn-ea"/>
                          <a:cs typeface="Almarai" pitchFamily="2" charset="-78"/>
                        </a:rPr>
                        <a:t>% اكتمال البيانات التشغيلية</a:t>
                      </a:r>
                      <a:endParaRPr lang="en-US" sz="1200" b="0" kern="1200" dirty="0">
                        <a:solidFill>
                          <a:schemeClr val="tx1"/>
                        </a:solidFill>
                        <a:latin typeface="Almarai" pitchFamily="2" charset="-78"/>
                        <a:ea typeface="+mn-ea"/>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400" rtl="1" eaLnBrk="1" latinLnBrk="0" hangingPunct="1">
                        <a:lnSpc>
                          <a:spcPct val="150000"/>
                        </a:lnSpc>
                      </a:pPr>
                      <a:r>
                        <a:rPr lang="en-US" sz="1200" b="0" kern="1200" dirty="0">
                          <a:solidFill>
                            <a:schemeClr val="tx1"/>
                          </a:solidFill>
                          <a:latin typeface="Almarai" pitchFamily="2" charset="-78"/>
                          <a:ea typeface="+mn-ea"/>
                          <a:cs typeface="Almarai" pitchFamily="2" charset="-78"/>
                        </a:rPr>
                        <a:t>15%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kern="1200" dirty="0">
                          <a:solidFill>
                            <a:schemeClr val="tx1"/>
                          </a:solidFill>
                          <a:latin typeface="Almarai" pitchFamily="2" charset="-78"/>
                          <a:ea typeface="+mn-ea"/>
                          <a:cs typeface="Almarai" pitchFamily="2" charset="-78"/>
                        </a:rPr>
                        <a:t>سنوي</a:t>
                      </a:r>
                      <a:endParaRPr lang="en-US" sz="1200" b="0" kern="1200" dirty="0">
                        <a:solidFill>
                          <a:schemeClr val="tx1"/>
                        </a:solidFill>
                        <a:latin typeface="Almarai" pitchFamily="2" charset="-78"/>
                        <a:ea typeface="+mn-ea"/>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73618700"/>
                  </a:ext>
                </a:extLst>
              </a:tr>
            </a:tbl>
          </a:graphicData>
        </a:graphic>
      </p:graphicFrame>
      <p:pic>
        <p:nvPicPr>
          <p:cNvPr id="26" name="Picture 25" descr="Text&#10;&#10;Description automatically generated with medium confidence">
            <a:extLst>
              <a:ext uri="{FF2B5EF4-FFF2-40B4-BE49-F238E27FC236}">
                <a16:creationId xmlns:a16="http://schemas.microsoft.com/office/drawing/2014/main" id="{4F4AF57B-9DE0-492B-9DB0-50C6A26A0F7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t="1" b="-21"/>
          <a:stretch/>
        </p:blipFill>
        <p:spPr>
          <a:xfrm>
            <a:off x="112358" y="84607"/>
            <a:ext cx="819076" cy="631548"/>
          </a:xfrm>
          <a:prstGeom prst="rect">
            <a:avLst/>
          </a:prstGeom>
        </p:spPr>
      </p:pic>
      <p:sp>
        <p:nvSpPr>
          <p:cNvPr id="10" name="Rectangle 9">
            <a:extLst>
              <a:ext uri="{FF2B5EF4-FFF2-40B4-BE49-F238E27FC236}">
                <a16:creationId xmlns:a16="http://schemas.microsoft.com/office/drawing/2014/main" id="{4D4FFFC4-E065-64A4-2E89-31676DB5159D}"/>
              </a:ext>
            </a:extLst>
          </p:cNvPr>
          <p:cNvSpPr/>
          <p:nvPr/>
        </p:nvSpPr>
        <p:spPr>
          <a:xfrm>
            <a:off x="5683022" y="0"/>
            <a:ext cx="6396620" cy="509050"/>
          </a:xfrm>
          <a:prstGeom prst="rect">
            <a:avLst/>
          </a:prstGeom>
        </p:spPr>
        <p:txBody>
          <a:bodyPr wrap="square" anchor="ctr">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lang="ar-SA" sz="1969" b="1" dirty="0">
                <a:solidFill>
                  <a:srgbClr val="002959"/>
                </a:solidFill>
                <a:latin typeface="Almarai" pitchFamily="2" charset="-78"/>
                <a:cs typeface="Almarai" pitchFamily="2" charset="-78"/>
              </a:rPr>
              <a:t>مؤشرات قطاع التشغيل</a:t>
            </a:r>
          </a:p>
        </p:txBody>
      </p:sp>
    </p:spTree>
    <p:extLst>
      <p:ext uri="{BB962C8B-B14F-4D97-AF65-F5344CB8AC3E}">
        <p14:creationId xmlns:p14="http://schemas.microsoft.com/office/powerpoint/2010/main" val="3662586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ext&#10;&#10;Description automatically generated with medium confidence">
            <a:extLst>
              <a:ext uri="{FF2B5EF4-FFF2-40B4-BE49-F238E27FC236}">
                <a16:creationId xmlns:a16="http://schemas.microsoft.com/office/drawing/2014/main" id="{87A8918F-EA79-E18E-FA01-A5562204136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sp>
        <p:nvSpPr>
          <p:cNvPr id="8" name="TextBox 7">
            <a:extLst>
              <a:ext uri="{FF2B5EF4-FFF2-40B4-BE49-F238E27FC236}">
                <a16:creationId xmlns:a16="http://schemas.microsoft.com/office/drawing/2014/main" id="{C5B3C195-A79D-2849-3639-64585DEBC01F}"/>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العقود والمشتريات</a:t>
            </a:r>
          </a:p>
        </p:txBody>
      </p:sp>
      <p:graphicFrame>
        <p:nvGraphicFramePr>
          <p:cNvPr id="12" name="Table 2">
            <a:extLst>
              <a:ext uri="{FF2B5EF4-FFF2-40B4-BE49-F238E27FC236}">
                <a16:creationId xmlns:a16="http://schemas.microsoft.com/office/drawing/2014/main" id="{1E4FCB29-3777-5B99-A0EC-B06E4B48F4D0}"/>
              </a:ext>
            </a:extLst>
          </p:cNvPr>
          <p:cNvGraphicFramePr>
            <a:graphicFrameLocks noGrp="1"/>
          </p:cNvGraphicFramePr>
          <p:nvPr>
            <p:extLst>
              <p:ext uri="{D42A27DB-BD31-4B8C-83A1-F6EECF244321}">
                <p14:modId xmlns:p14="http://schemas.microsoft.com/office/powerpoint/2010/main" val="3095743353"/>
              </p:ext>
            </p:extLst>
          </p:nvPr>
        </p:nvGraphicFramePr>
        <p:xfrm>
          <a:off x="18107" y="886616"/>
          <a:ext cx="12173893" cy="5414597"/>
        </p:xfrm>
        <a:graphic>
          <a:graphicData uri="http://schemas.openxmlformats.org/drawingml/2006/table">
            <a:tbl>
              <a:tblPr firstRow="1" bandRow="1">
                <a:tableStyleId>{5C22544A-7EE6-4342-B048-85BDC9FD1C3A}</a:tableStyleId>
              </a:tblPr>
              <a:tblGrid>
                <a:gridCol w="3360093">
                  <a:extLst>
                    <a:ext uri="{9D8B030D-6E8A-4147-A177-3AD203B41FA5}">
                      <a16:colId xmlns:a16="http://schemas.microsoft.com/office/drawing/2014/main" val="276634163"/>
                    </a:ext>
                  </a:extLst>
                </a:gridCol>
                <a:gridCol w="5431774">
                  <a:extLst>
                    <a:ext uri="{9D8B030D-6E8A-4147-A177-3AD203B41FA5}">
                      <a16:colId xmlns:a16="http://schemas.microsoft.com/office/drawing/2014/main" val="1759313315"/>
                    </a:ext>
                  </a:extLst>
                </a:gridCol>
                <a:gridCol w="3382026">
                  <a:extLst>
                    <a:ext uri="{9D8B030D-6E8A-4147-A177-3AD203B41FA5}">
                      <a16:colId xmlns:a16="http://schemas.microsoft.com/office/drawing/2014/main" val="3157918808"/>
                    </a:ext>
                  </a:extLst>
                </a:gridCol>
              </a:tblGrid>
              <a:tr h="644515">
                <a:tc>
                  <a:txBody>
                    <a:bodyPr/>
                    <a:lstStyle/>
                    <a:p>
                      <a:pPr algn="ctr">
                        <a:lnSpc>
                          <a:spcPct val="150000"/>
                        </a:lnSpc>
                      </a:pPr>
                      <a:r>
                        <a:rPr lang="ar-SA" sz="1400" dirty="0">
                          <a:latin typeface="Almarai" pitchFamily="2" charset="-78"/>
                          <a:cs typeface="Almarai" pitchFamily="2" charset="-78"/>
                        </a:rPr>
                        <a:t>الهدف التشغيلي</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شرح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679903">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تعزيز التنوع والتنافسية في سلسلة التوريد </a:t>
                      </a:r>
                      <a:r>
                        <a:rPr lang="ar-SA" sz="1200" kern="1200" dirty="0">
                          <a:solidFill>
                            <a:schemeClr val="tx1"/>
                          </a:solidFill>
                          <a:latin typeface="Almarai" pitchFamily="2" charset="-78"/>
                          <a:ea typeface="+mn-ea"/>
                          <a:cs typeface="Almarai" pitchFamily="2" charset="-78"/>
                        </a:rPr>
                        <a:t>لضمان استدامتها</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نسبة اعداد الموردين الجدد والمضافين إلى قائمة الموردين من السنة الماضية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زيادة نسبة اعداد الموردين</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082658606"/>
                  </a:ext>
                </a:extLst>
              </a:tr>
              <a:tr h="690664">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دعم المنتجات والخدمات المحلية لتعزيز الاقتصاد المحلي.</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نسبة عدد الشركات السعودية من إجمالي أوامر الشراء الصادرة والعقود والموقعة (يتضمن المتعهدين)</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المحتوى المحلي من أوامر المشتريات والعقود </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016508191"/>
                  </a:ext>
                </a:extLst>
              </a:tr>
              <a:tr h="679903">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تنويع الموردين وتعزيز التنافسية في عملية الشراء</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مدى اعتماد الشركة على مصدر وحيد في الطرح على ألّا تتجاوز </a:t>
                      </a:r>
                      <a:r>
                        <a:rPr lang="en-US" sz="1200" dirty="0">
                          <a:solidFill>
                            <a:schemeClr val="tx1"/>
                          </a:solidFill>
                          <a:latin typeface="Almarai" pitchFamily="2" charset="-78"/>
                          <a:cs typeface="Almarai" pitchFamily="2" charset="-78"/>
                        </a:rPr>
                        <a:t>30</a:t>
                      </a:r>
                      <a:r>
                        <a:rPr lang="ar-SA" sz="1200" dirty="0">
                          <a:solidFill>
                            <a:schemeClr val="tx1"/>
                          </a:solidFill>
                          <a:latin typeface="Almarai" pitchFamily="2" charset="-78"/>
                          <a:cs typeface="Almarai" pitchFamily="2" charset="-78"/>
                        </a:rPr>
                        <a:t>% من إجمالي الأوامر والعقود</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en-US" sz="1200" dirty="0">
                          <a:solidFill>
                            <a:schemeClr val="tx1"/>
                          </a:solidFill>
                          <a:latin typeface="Almarai" pitchFamily="2" charset="-78"/>
                          <a:cs typeface="Almarai" pitchFamily="2" charset="-78"/>
                        </a:rPr>
                        <a:t>%</a:t>
                      </a:r>
                      <a:r>
                        <a:rPr lang="ar-SA" sz="1200" dirty="0">
                          <a:solidFill>
                            <a:schemeClr val="tx1"/>
                          </a:solidFill>
                          <a:latin typeface="Almarai" pitchFamily="2" charset="-78"/>
                          <a:cs typeface="Almarai" pitchFamily="2" charset="-78"/>
                        </a:rPr>
                        <a:t> طلبات الشراء مصدر وحيد</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569007360"/>
                  </a:ext>
                </a:extLst>
              </a:tr>
              <a:tr h="679903">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البحث عن عروض تنافسية في السوق وتوسيع قاعدة الموردين، واستخدام تقنيات الشراء الجماعي.</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نسبة اقل عرض مقدم ومقبول مع المزانية المعتمدة لأمر الشراء الصادر او العقد</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وفورات في عملية الشراء</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722397247"/>
                  </a:ext>
                </a:extLst>
              </a:tr>
              <a:tr h="679903">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تحسين مهارات التفاوض وتوسيع خيارات الموردين</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التفاوض على الشروط التعاقدية والكميات والاسعار المقدمة من القبل الموردين او المتعهدين</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التفاوض مع اقل عرض سعر</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925514391"/>
                  </a:ext>
                </a:extLst>
              </a:tr>
              <a:tr h="679903">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تحسين كفاءة الإجراءات وتبسيط عمليات المراجعة والموافقة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قياس الفترة التي يتم من خلالها تعميد أمر الشراء (15 يوم عمل) باستثناء فترة التقييم الفني</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دورة أمر الشراء (الفترة الزمنية من الطرح  الى تعميد أمر  الشراء )</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691585923"/>
                  </a:ext>
                </a:extLst>
              </a:tr>
              <a:tr h="679903">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 تحسين كفاءة الإجراءات وتبسيط عمليات المراجعة والموافقة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قياس الفترة التي يتم من خلالها طرح وتوقيع العقود (25 يوم عمل)  باستثناء فترة التقييم الفني</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tc>
                  <a:txBody>
                    <a:bodyPr/>
                    <a:lstStyle/>
                    <a:p>
                      <a:pPr lvl="0" algn="r" rtl="1">
                        <a:lnSpc>
                          <a:spcPct val="150000"/>
                        </a:lnSpc>
                      </a:pPr>
                      <a:r>
                        <a:rPr lang="ar-SA" sz="1200" b="0" dirty="0">
                          <a:solidFill>
                            <a:schemeClr val="tx1"/>
                          </a:solidFill>
                          <a:latin typeface="Almarai" pitchFamily="2" charset="-78"/>
                          <a:cs typeface="Almarai" pitchFamily="2" charset="-78"/>
                        </a:rPr>
                        <a:t>% دورة العقود (</a:t>
                      </a:r>
                      <a:r>
                        <a:rPr lang="ar-SA" sz="1200" dirty="0">
                          <a:solidFill>
                            <a:schemeClr val="tx1"/>
                          </a:solidFill>
                          <a:latin typeface="Almarai" pitchFamily="2" charset="-78"/>
                          <a:cs typeface="Almarai" pitchFamily="2" charset="-78"/>
                        </a:rPr>
                        <a:t>الفترة الزمنية من الطرح  الى توقيع العقد</a:t>
                      </a:r>
                      <a:r>
                        <a:rPr lang="ar-SA" sz="1200" b="0" dirty="0">
                          <a:solidFill>
                            <a:schemeClr val="tx1"/>
                          </a:solidFill>
                          <a:latin typeface="Almarai" pitchFamily="2" charset="-78"/>
                          <a:cs typeface="Almarai" pitchFamily="2" charset="-78"/>
                        </a:rPr>
                        <a:t>)</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303538213"/>
                  </a:ext>
                </a:extLst>
              </a:tr>
            </a:tbl>
          </a:graphicData>
        </a:graphic>
      </p:graphicFrame>
      <p:pic>
        <p:nvPicPr>
          <p:cNvPr id="10" name="Picture 9" descr="A picture containing graphical user interface&#10;&#10;Description automatically generated">
            <a:extLst>
              <a:ext uri="{FF2B5EF4-FFF2-40B4-BE49-F238E27FC236}">
                <a16:creationId xmlns:a16="http://schemas.microsoft.com/office/drawing/2014/main" id="{C1C94E0A-59AA-DEA1-CA70-C47E4D6872D2}"/>
              </a:ext>
            </a:extLst>
          </p:cNvPr>
          <p:cNvPicPr>
            <a:picLocks noChangeAspect="1"/>
          </p:cNvPicPr>
          <p:nvPr/>
        </p:nvPicPr>
        <p:blipFill rotWithShape="1">
          <a:blip r:embed="rId3"/>
          <a:srcRect l="23677" t="39057" b="28402"/>
          <a:stretch/>
        </p:blipFill>
        <p:spPr>
          <a:xfrm>
            <a:off x="0" y="6477595"/>
            <a:ext cx="5382126" cy="380404"/>
          </a:xfrm>
          <a:prstGeom prst="rect">
            <a:avLst/>
          </a:prstGeom>
        </p:spPr>
      </p:pic>
    </p:spTree>
    <p:extLst>
      <p:ext uri="{BB962C8B-B14F-4D97-AF65-F5344CB8AC3E}">
        <p14:creationId xmlns:p14="http://schemas.microsoft.com/office/powerpoint/2010/main" val="1033541563"/>
      </p:ext>
    </p:extLst>
  </p:cSld>
  <p:clrMapOvr>
    <a:masterClrMapping/>
  </p:clrMapOvr>
  <mc:AlternateContent xmlns:mc="http://schemas.openxmlformats.org/markup-compatibility/2006" xmlns:p14="http://schemas.microsoft.com/office/powerpoint/2010/main">
    <mc:Choice Requires="p14">
      <p:transition spd="slow" p14:dur="2000" advTm="1472"/>
    </mc:Choice>
    <mc:Fallback xmlns="">
      <p:transition spd="slow" advTm="1472"/>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429356F-1560-46E3-1CDD-FC8A8F4815DA}"/>
              </a:ext>
            </a:extLst>
          </p:cNvPr>
          <p:cNvSpPr/>
          <p:nvPr/>
        </p:nvSpPr>
        <p:spPr>
          <a:xfrm>
            <a:off x="5813660" y="0"/>
            <a:ext cx="6196704" cy="600164"/>
          </a:xfrm>
          <a:prstGeom prst="rect">
            <a:avLst/>
          </a:prstGeom>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endParaRPr kumimoji="0" lang="ar-SA" sz="2400" b="0" i="0" u="none" strike="noStrike" kern="1200" cap="none" spc="0" normalizeH="0" baseline="0" noProof="0" dirty="0">
              <a:ln>
                <a:noFill/>
              </a:ln>
              <a:solidFill>
                <a:srgbClr val="002959"/>
              </a:solidFill>
              <a:effectLst/>
              <a:uLnTx/>
              <a:uFillTx/>
              <a:latin typeface="Almarai Bold" pitchFamily="2" charset="-78"/>
              <a:ea typeface="+mn-ea"/>
              <a:cs typeface="Almarai Bold" pitchFamily="2" charset="-78"/>
            </a:endParaRPr>
          </a:p>
        </p:txBody>
      </p:sp>
      <p:pic>
        <p:nvPicPr>
          <p:cNvPr id="16" name="Picture 15" descr="Text&#10;&#10;Description automatically generated with medium confidence">
            <a:extLst>
              <a:ext uri="{FF2B5EF4-FFF2-40B4-BE49-F238E27FC236}">
                <a16:creationId xmlns:a16="http://schemas.microsoft.com/office/drawing/2014/main" id="{0A3EEF40-FD72-E58A-9C88-467722A6CD7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sp>
        <p:nvSpPr>
          <p:cNvPr id="17" name="TextBox 16">
            <a:extLst>
              <a:ext uri="{FF2B5EF4-FFF2-40B4-BE49-F238E27FC236}">
                <a16:creationId xmlns:a16="http://schemas.microsoft.com/office/drawing/2014/main" id="{E2A06711-1B2F-5419-FD37-1730600912C9}"/>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العقود والمشتريات</a:t>
            </a:r>
          </a:p>
        </p:txBody>
      </p:sp>
      <p:graphicFrame>
        <p:nvGraphicFramePr>
          <p:cNvPr id="21" name="Table 2">
            <a:extLst>
              <a:ext uri="{FF2B5EF4-FFF2-40B4-BE49-F238E27FC236}">
                <a16:creationId xmlns:a16="http://schemas.microsoft.com/office/drawing/2014/main" id="{6E726AE5-756A-9E39-3065-70EB801487B9}"/>
              </a:ext>
            </a:extLst>
          </p:cNvPr>
          <p:cNvGraphicFramePr>
            <a:graphicFrameLocks noGrp="1"/>
          </p:cNvGraphicFramePr>
          <p:nvPr>
            <p:extLst>
              <p:ext uri="{D42A27DB-BD31-4B8C-83A1-F6EECF244321}">
                <p14:modId xmlns:p14="http://schemas.microsoft.com/office/powerpoint/2010/main" val="1504369606"/>
              </p:ext>
            </p:extLst>
          </p:nvPr>
        </p:nvGraphicFramePr>
        <p:xfrm>
          <a:off x="-10633" y="787789"/>
          <a:ext cx="12213265" cy="6070211"/>
        </p:xfrm>
        <a:graphic>
          <a:graphicData uri="http://schemas.openxmlformats.org/drawingml/2006/table">
            <a:tbl>
              <a:tblPr firstRow="1" bandRow="1">
                <a:tableStyleId>{5C22544A-7EE6-4342-B048-85BDC9FD1C3A}</a:tableStyleId>
              </a:tblPr>
              <a:tblGrid>
                <a:gridCol w="1264683">
                  <a:extLst>
                    <a:ext uri="{9D8B030D-6E8A-4147-A177-3AD203B41FA5}">
                      <a16:colId xmlns:a16="http://schemas.microsoft.com/office/drawing/2014/main" val="2055658794"/>
                    </a:ext>
                  </a:extLst>
                </a:gridCol>
                <a:gridCol w="1190541">
                  <a:extLst>
                    <a:ext uri="{9D8B030D-6E8A-4147-A177-3AD203B41FA5}">
                      <a16:colId xmlns:a16="http://schemas.microsoft.com/office/drawing/2014/main" val="3919127931"/>
                    </a:ext>
                  </a:extLst>
                </a:gridCol>
                <a:gridCol w="5156301">
                  <a:extLst>
                    <a:ext uri="{9D8B030D-6E8A-4147-A177-3AD203B41FA5}">
                      <a16:colId xmlns:a16="http://schemas.microsoft.com/office/drawing/2014/main" val="1759313315"/>
                    </a:ext>
                  </a:extLst>
                </a:gridCol>
                <a:gridCol w="3731654">
                  <a:extLst>
                    <a:ext uri="{9D8B030D-6E8A-4147-A177-3AD203B41FA5}">
                      <a16:colId xmlns:a16="http://schemas.microsoft.com/office/drawing/2014/main" val="3157918808"/>
                    </a:ext>
                  </a:extLst>
                </a:gridCol>
                <a:gridCol w="870086">
                  <a:extLst>
                    <a:ext uri="{9D8B030D-6E8A-4147-A177-3AD203B41FA5}">
                      <a16:colId xmlns:a16="http://schemas.microsoft.com/office/drawing/2014/main" val="635944514"/>
                    </a:ext>
                  </a:extLst>
                </a:gridCol>
              </a:tblGrid>
              <a:tr h="706384">
                <a:tc>
                  <a:txBody>
                    <a:bodyPr/>
                    <a:lstStyle/>
                    <a:p>
                      <a:pPr algn="ctr">
                        <a:lnSpc>
                          <a:spcPct val="150000"/>
                        </a:lnSpc>
                      </a:pPr>
                      <a:r>
                        <a:rPr lang="ar-SA" sz="1400" dirty="0">
                          <a:latin typeface="Almarai" pitchFamily="2" charset="-78"/>
                          <a:cs typeface="Almarai" pitchFamily="2" charset="-78"/>
                        </a:rPr>
                        <a:t>نوع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الهدف</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المعادلة</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الوزن</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759098">
                <a:tc>
                  <a:txBody>
                    <a:bodyPr/>
                    <a:lstStyle/>
                    <a:p>
                      <a:pPr algn="ctr" rtl="1">
                        <a:lnSpc>
                          <a:spcPct val="150000"/>
                        </a:lnSpc>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solidFill>
                            <a:schemeClr val="tx1"/>
                          </a:solidFill>
                          <a:latin typeface="Almarai" pitchFamily="2" charset="-78"/>
                          <a:cs typeface="Almarai" pitchFamily="2" charset="-78"/>
                        </a:rPr>
                        <a:t>20%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نسبة الموردين الجدد=(عدد الموردين الجدد خلال الفترة / إجمالي عدد الموردين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زيادة نسبة اعداد الموردين</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lvl="0" algn="ctr" defTabSz="914400" rtl="0" eaLnBrk="1" fontAlgn="ctr" latinLnBrk="0" hangingPunct="1">
                        <a:lnSpc>
                          <a:spcPct val="150000"/>
                        </a:lnSpc>
                      </a:pPr>
                      <a:r>
                        <a:rPr lang="en-US" sz="1200" kern="1200" dirty="0">
                          <a:solidFill>
                            <a:schemeClr val="tx1"/>
                          </a:solidFill>
                          <a:latin typeface="Almarai" pitchFamily="2" charset="-78"/>
                          <a:ea typeface="+mn-ea"/>
                          <a:cs typeface="Almarai" pitchFamily="2" charset="-78"/>
                        </a:rPr>
                        <a:t>10</a:t>
                      </a:r>
                      <a:r>
                        <a:rPr lang="ar-SA" sz="1200" kern="1200" dirty="0">
                          <a:solidFill>
                            <a:schemeClr val="tx1"/>
                          </a:solidFill>
                          <a:latin typeface="Almarai" pitchFamily="2" charset="-78"/>
                          <a:ea typeface="+mn-ea"/>
                          <a:cs typeface="Almarai" pitchFamily="2" charset="-78"/>
                        </a:rPr>
                        <a:t>%</a:t>
                      </a:r>
                      <a:endParaRPr lang="en-US" sz="1200" kern="1200" dirty="0">
                        <a:solidFill>
                          <a:schemeClr val="tx1"/>
                        </a:solidFill>
                        <a:latin typeface="Almarai" pitchFamily="2" charset="-78"/>
                        <a:ea typeface="+mn-ea"/>
                        <a:cs typeface="Almarai" pitchFamily="2" charset="-78"/>
                      </a:endParaRP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2935710478"/>
                  </a:ext>
                </a:extLst>
              </a:tr>
              <a:tr h="717971">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90%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الشركات السعودية خلال الفترة/ إجمالي عدد الموردين)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المحتوى المحلي من أوامر المشتريات والعقود </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lvl="0" algn="ctr" defTabSz="914400" rtl="0" eaLnBrk="1" fontAlgn="ctr" latinLnBrk="0" hangingPunct="1">
                        <a:lnSpc>
                          <a:spcPct val="150000"/>
                        </a:lnSpc>
                      </a:pPr>
                      <a:r>
                        <a:rPr lang="en-US" sz="1200" kern="1200" dirty="0">
                          <a:solidFill>
                            <a:schemeClr val="tx1"/>
                          </a:solidFill>
                          <a:latin typeface="Almarai" pitchFamily="2" charset="-78"/>
                          <a:ea typeface="+mn-ea"/>
                          <a:cs typeface="Almarai" pitchFamily="2" charset="-78"/>
                        </a:rPr>
                        <a:t>20</a:t>
                      </a:r>
                      <a:r>
                        <a:rPr lang="ar-SA" sz="1200" kern="1200" dirty="0">
                          <a:solidFill>
                            <a:schemeClr val="tx1"/>
                          </a:solidFill>
                          <a:latin typeface="Almarai" pitchFamily="2" charset="-78"/>
                          <a:ea typeface="+mn-ea"/>
                          <a:cs typeface="Almarai" pitchFamily="2" charset="-78"/>
                        </a:rPr>
                        <a:t>%</a:t>
                      </a:r>
                      <a:endParaRPr lang="en-US" sz="1200" kern="1200" dirty="0">
                        <a:solidFill>
                          <a:schemeClr val="tx1"/>
                        </a:solidFill>
                        <a:latin typeface="Almarai" pitchFamily="2" charset="-78"/>
                        <a:ea typeface="+mn-ea"/>
                        <a:cs typeface="Almarai" pitchFamily="2" charset="-78"/>
                      </a:endParaRP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082658606"/>
                  </a:ext>
                </a:extLst>
              </a:tr>
              <a:tr h="671692">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≤30%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(طلبات الشراء بمصدر وحيد / إجمالي أوامر الشراء والعقود) * 100 </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طلبات الشراء مصدر وحيد</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lvl="0" algn="ctr" defTabSz="914400" rtl="0" eaLnBrk="1" fontAlgn="ctr" latinLnBrk="0" hangingPunct="1">
                        <a:lnSpc>
                          <a:spcPct val="150000"/>
                        </a:lnSpc>
                      </a:pPr>
                      <a:r>
                        <a:rPr lang="en-US" sz="1200" kern="1200" dirty="0">
                          <a:solidFill>
                            <a:schemeClr val="tx1"/>
                          </a:solidFill>
                          <a:latin typeface="Almarai" pitchFamily="2" charset="-78"/>
                          <a:ea typeface="+mn-ea"/>
                          <a:cs typeface="Almarai" pitchFamily="2" charset="-78"/>
                        </a:rPr>
                        <a:t>15</a:t>
                      </a:r>
                      <a:r>
                        <a:rPr lang="ar-SA" sz="1200" kern="1200" dirty="0">
                          <a:solidFill>
                            <a:schemeClr val="tx1"/>
                          </a:solidFill>
                          <a:latin typeface="Almarai" pitchFamily="2" charset="-78"/>
                          <a:ea typeface="+mn-ea"/>
                          <a:cs typeface="Almarai" pitchFamily="2" charset="-78"/>
                        </a:rPr>
                        <a:t>%</a:t>
                      </a:r>
                      <a:endParaRPr lang="en-US" sz="1200" kern="1200" dirty="0">
                        <a:solidFill>
                          <a:schemeClr val="tx1"/>
                        </a:solidFill>
                        <a:latin typeface="Almarai" pitchFamily="2" charset="-78"/>
                        <a:ea typeface="+mn-ea"/>
                        <a:cs typeface="Almarai" pitchFamily="2" charset="-78"/>
                      </a:endParaRP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175398007"/>
                  </a:ext>
                </a:extLst>
              </a:tr>
              <a:tr h="717971">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(العروض الأولية –</a:t>
                      </a:r>
                      <a:r>
                        <a:rPr lang="en-US" sz="1200" dirty="0">
                          <a:solidFill>
                            <a:schemeClr val="tx1"/>
                          </a:solidFill>
                          <a:latin typeface="Almarai" pitchFamily="2" charset="-78"/>
                          <a:cs typeface="Almarai" pitchFamily="2" charset="-78"/>
                        </a:rPr>
                        <a:t> </a:t>
                      </a:r>
                      <a:r>
                        <a:rPr lang="ar-SA" sz="1200" dirty="0">
                          <a:solidFill>
                            <a:schemeClr val="tx1"/>
                          </a:solidFill>
                          <a:latin typeface="Almarai" pitchFamily="2" charset="-78"/>
                          <a:cs typeface="Almarai" pitchFamily="2" charset="-78"/>
                        </a:rPr>
                        <a:t>المبلغ المعتمد في المزانية لأمر الشراء والعقد/ العروض الأولية)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tc>
                  <a:txBody>
                    <a:bodyPr/>
                    <a:lstStyle/>
                    <a:p>
                      <a:pPr lvl="0" algn="r" rtl="1">
                        <a:lnSpc>
                          <a:spcPct val="150000"/>
                        </a:lnSpc>
                      </a:pPr>
                      <a:r>
                        <a:rPr lang="ar-SA" sz="1200" dirty="0">
                          <a:solidFill>
                            <a:schemeClr val="tx1"/>
                          </a:solidFill>
                          <a:latin typeface="Almarai" pitchFamily="2" charset="-78"/>
                          <a:cs typeface="Almarai" pitchFamily="2" charset="-78"/>
                        </a:rPr>
                        <a:t>% وفورات في عملية الشراء</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tc>
                  <a:txBody>
                    <a:bodyPr/>
                    <a:lstStyle/>
                    <a:p>
                      <a:pPr marL="0" lvl="0" algn="ctr" defTabSz="914400" rtl="0" eaLnBrk="1" fontAlgn="ctr" latinLnBrk="0" hangingPunct="1">
                        <a:lnSpc>
                          <a:spcPct val="150000"/>
                        </a:lnSpc>
                      </a:pPr>
                      <a:r>
                        <a:rPr lang="en-US" sz="1200" kern="1200" dirty="0">
                          <a:solidFill>
                            <a:schemeClr val="tx1"/>
                          </a:solidFill>
                          <a:latin typeface="Almarai" pitchFamily="2" charset="-78"/>
                          <a:ea typeface="+mn-ea"/>
                          <a:cs typeface="Almarai" pitchFamily="2" charset="-78"/>
                        </a:rPr>
                        <a:t>15</a:t>
                      </a:r>
                      <a:r>
                        <a:rPr lang="ar-SA" sz="1200" kern="1200" dirty="0">
                          <a:solidFill>
                            <a:schemeClr val="tx1"/>
                          </a:solidFill>
                          <a:latin typeface="Almarai" pitchFamily="2" charset="-78"/>
                          <a:ea typeface="+mn-ea"/>
                          <a:cs typeface="Almarai" pitchFamily="2" charset="-78"/>
                        </a:rPr>
                        <a:t>%</a:t>
                      </a:r>
                      <a:endParaRPr lang="en-US" sz="1200" kern="1200" dirty="0">
                        <a:solidFill>
                          <a:schemeClr val="tx1"/>
                        </a:solidFill>
                        <a:latin typeface="Almarai" pitchFamily="2" charset="-78"/>
                        <a:ea typeface="+mn-ea"/>
                        <a:cs typeface="Almarai" pitchFamily="2" charset="-78"/>
                      </a:endParaRP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013659251"/>
                  </a:ext>
                </a:extLst>
              </a:tr>
              <a:tr h="900989">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1%</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(العروض الأولية –المبالغ الموقع عليها / العروض الأولية)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التفاوض مع اقل عرض سعر</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lvl="0" algn="ctr" defTabSz="914400" rtl="0" eaLnBrk="1" fontAlgn="ctr" latinLnBrk="0" hangingPunct="1">
                        <a:lnSpc>
                          <a:spcPct val="150000"/>
                        </a:lnSpc>
                      </a:pPr>
                      <a:r>
                        <a:rPr lang="ar-SA" sz="1200" kern="1200" dirty="0">
                          <a:solidFill>
                            <a:schemeClr val="tx1"/>
                          </a:solidFill>
                          <a:latin typeface="Almarai" pitchFamily="2" charset="-78"/>
                          <a:ea typeface="+mn-ea"/>
                          <a:cs typeface="Almarai" pitchFamily="2" charset="-78"/>
                        </a:rPr>
                        <a:t>15%</a:t>
                      </a:r>
                      <a:endParaRPr lang="en-US" sz="1200" kern="1200" dirty="0">
                        <a:solidFill>
                          <a:schemeClr val="tx1"/>
                        </a:solidFill>
                        <a:latin typeface="Almarai" pitchFamily="2" charset="-78"/>
                        <a:ea typeface="+mn-ea"/>
                        <a:cs typeface="Almarai" pitchFamily="2" charset="-78"/>
                      </a:endParaRP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2016508191"/>
                  </a:ext>
                </a:extLst>
              </a:tr>
              <a:tr h="798053">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80%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الأوامر المنتهية في الوقت المحدد / إجمالي عدد الأوامر)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دورة أمر الشراء (الفترة الزمنية من الطرح  الى تعميد أمر  الشراء )</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lvl="0" algn="ctr" defTabSz="914400" rtl="0" eaLnBrk="1" fontAlgn="ctr" latinLnBrk="0" hangingPunct="1">
                        <a:lnSpc>
                          <a:spcPct val="150000"/>
                        </a:lnSpc>
                      </a:pPr>
                      <a:r>
                        <a:rPr lang="en-US" sz="1200" kern="1200" dirty="0">
                          <a:solidFill>
                            <a:schemeClr val="tx1"/>
                          </a:solidFill>
                          <a:latin typeface="Almarai" pitchFamily="2" charset="-78"/>
                          <a:ea typeface="+mn-ea"/>
                          <a:cs typeface="Almarai" pitchFamily="2" charset="-78"/>
                        </a:rPr>
                        <a:t>15</a:t>
                      </a:r>
                      <a:r>
                        <a:rPr lang="ar-SA" sz="1200" kern="1200" dirty="0">
                          <a:solidFill>
                            <a:schemeClr val="tx1"/>
                          </a:solidFill>
                          <a:latin typeface="Almarai" pitchFamily="2" charset="-78"/>
                          <a:ea typeface="+mn-ea"/>
                          <a:cs typeface="Almarai" pitchFamily="2" charset="-78"/>
                        </a:rPr>
                        <a:t>%</a:t>
                      </a:r>
                      <a:endParaRPr lang="en-US" sz="1200" kern="1200" dirty="0">
                        <a:solidFill>
                          <a:schemeClr val="tx1"/>
                        </a:solidFill>
                        <a:latin typeface="Almarai" pitchFamily="2" charset="-78"/>
                        <a:ea typeface="+mn-ea"/>
                        <a:cs typeface="Almarai" pitchFamily="2" charset="-78"/>
                      </a:endParaRP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2585960750"/>
                  </a:ext>
                </a:extLst>
              </a:tr>
              <a:tr h="798053">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b="0" dirty="0">
                          <a:solidFill>
                            <a:schemeClr val="tx1"/>
                          </a:solidFill>
                          <a:latin typeface="Almarai" pitchFamily="2" charset="-78"/>
                          <a:cs typeface="Almarai" pitchFamily="2" charset="-78"/>
                        </a:rPr>
                        <a:t>65%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الأوامر المنتهية في الوقت المحدد / إجمالي عدد الأوامر)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b="0" dirty="0">
                          <a:solidFill>
                            <a:schemeClr val="tx1"/>
                          </a:solidFill>
                          <a:latin typeface="Almarai" pitchFamily="2" charset="-78"/>
                          <a:cs typeface="Almarai" pitchFamily="2" charset="-78"/>
                        </a:rPr>
                        <a:t>% دورة العقود (</a:t>
                      </a:r>
                      <a:r>
                        <a:rPr lang="ar-SA" sz="1200" dirty="0">
                          <a:solidFill>
                            <a:schemeClr val="tx1"/>
                          </a:solidFill>
                          <a:latin typeface="Almarai" pitchFamily="2" charset="-78"/>
                          <a:cs typeface="Almarai" pitchFamily="2" charset="-78"/>
                        </a:rPr>
                        <a:t>الفترة الزمنية من الطرح  الى توقيع العقد</a:t>
                      </a:r>
                      <a:r>
                        <a:rPr lang="ar-SA" sz="1200" b="0" dirty="0">
                          <a:solidFill>
                            <a:schemeClr val="tx1"/>
                          </a:solidFill>
                          <a:latin typeface="Almarai" pitchFamily="2" charset="-78"/>
                          <a:cs typeface="Almarai" pitchFamily="2" charset="-78"/>
                        </a:rPr>
                        <a:t>)</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lvl="0" algn="ctr" defTabSz="914400" rtl="0" eaLnBrk="1" fontAlgn="ctr" latinLnBrk="0" hangingPunct="1">
                        <a:lnSpc>
                          <a:spcPct val="150000"/>
                        </a:lnSpc>
                      </a:pPr>
                      <a:r>
                        <a:rPr lang="en-US" sz="1200" b="0" kern="1200" dirty="0">
                          <a:solidFill>
                            <a:schemeClr val="tx1"/>
                          </a:solidFill>
                          <a:latin typeface="Almarai" pitchFamily="2" charset="-78"/>
                          <a:ea typeface="+mn-ea"/>
                          <a:cs typeface="Almarai" pitchFamily="2" charset="-78"/>
                        </a:rPr>
                        <a:t>10</a:t>
                      </a:r>
                      <a:r>
                        <a:rPr lang="ar-SA" sz="1200" b="0" kern="1200" dirty="0">
                          <a:solidFill>
                            <a:schemeClr val="tx1"/>
                          </a:solidFill>
                          <a:latin typeface="Almarai" pitchFamily="2" charset="-78"/>
                          <a:ea typeface="+mn-ea"/>
                          <a:cs typeface="Almarai" pitchFamily="2" charset="-78"/>
                        </a:rPr>
                        <a:t>%</a:t>
                      </a:r>
                      <a:endParaRPr lang="en-US" sz="1200" b="0" kern="1200" dirty="0">
                        <a:solidFill>
                          <a:schemeClr val="tx1"/>
                        </a:solidFill>
                        <a:latin typeface="Almarai" pitchFamily="2" charset="-78"/>
                        <a:ea typeface="+mn-ea"/>
                        <a:cs typeface="Almarai" pitchFamily="2" charset="-78"/>
                      </a:endParaRP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439730819"/>
                  </a:ext>
                </a:extLst>
              </a:tr>
            </a:tbl>
          </a:graphicData>
        </a:graphic>
      </p:graphicFrame>
    </p:spTree>
    <p:extLst>
      <p:ext uri="{BB962C8B-B14F-4D97-AF65-F5344CB8AC3E}">
        <p14:creationId xmlns:p14="http://schemas.microsoft.com/office/powerpoint/2010/main" val="4164798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789BD45-5C08-4000-8B10-38CE89618E2B}"/>
              </a:ext>
            </a:extLst>
          </p:cNvPr>
          <p:cNvGraphicFramePr>
            <a:graphicFrameLocks noGrp="1"/>
          </p:cNvGraphicFramePr>
          <p:nvPr>
            <p:extLst>
              <p:ext uri="{D42A27DB-BD31-4B8C-83A1-F6EECF244321}">
                <p14:modId xmlns:p14="http://schemas.microsoft.com/office/powerpoint/2010/main" val="997034869"/>
              </p:ext>
            </p:extLst>
          </p:nvPr>
        </p:nvGraphicFramePr>
        <p:xfrm>
          <a:off x="0" y="716154"/>
          <a:ext cx="12191998" cy="6141846"/>
        </p:xfrm>
        <a:graphic>
          <a:graphicData uri="http://schemas.openxmlformats.org/drawingml/2006/table">
            <a:tbl>
              <a:tblPr firstRow="1" lastRow="1" bandRow="1">
                <a:tableStyleId>{BC89EF96-8CEA-46FF-86C4-4CE0E7609802}</a:tableStyleId>
              </a:tblPr>
              <a:tblGrid>
                <a:gridCol w="3440317">
                  <a:extLst>
                    <a:ext uri="{9D8B030D-6E8A-4147-A177-3AD203B41FA5}">
                      <a16:colId xmlns:a16="http://schemas.microsoft.com/office/drawing/2014/main" val="3528422332"/>
                    </a:ext>
                  </a:extLst>
                </a:gridCol>
                <a:gridCol w="144855">
                  <a:extLst>
                    <a:ext uri="{9D8B030D-6E8A-4147-A177-3AD203B41FA5}">
                      <a16:colId xmlns:a16="http://schemas.microsoft.com/office/drawing/2014/main" val="4189878212"/>
                    </a:ext>
                  </a:extLst>
                </a:gridCol>
                <a:gridCol w="1122629">
                  <a:extLst>
                    <a:ext uri="{9D8B030D-6E8A-4147-A177-3AD203B41FA5}">
                      <a16:colId xmlns:a16="http://schemas.microsoft.com/office/drawing/2014/main" val="2803157669"/>
                    </a:ext>
                  </a:extLst>
                </a:gridCol>
                <a:gridCol w="543207">
                  <a:extLst>
                    <a:ext uri="{9D8B030D-6E8A-4147-A177-3AD203B41FA5}">
                      <a16:colId xmlns:a16="http://schemas.microsoft.com/office/drawing/2014/main" val="290041181"/>
                    </a:ext>
                  </a:extLst>
                </a:gridCol>
                <a:gridCol w="552261">
                  <a:extLst>
                    <a:ext uri="{9D8B030D-6E8A-4147-A177-3AD203B41FA5}">
                      <a16:colId xmlns:a16="http://schemas.microsoft.com/office/drawing/2014/main" val="986504599"/>
                    </a:ext>
                  </a:extLst>
                </a:gridCol>
                <a:gridCol w="552262">
                  <a:extLst>
                    <a:ext uri="{9D8B030D-6E8A-4147-A177-3AD203B41FA5}">
                      <a16:colId xmlns:a16="http://schemas.microsoft.com/office/drawing/2014/main" val="3691410578"/>
                    </a:ext>
                  </a:extLst>
                </a:gridCol>
                <a:gridCol w="525101">
                  <a:extLst>
                    <a:ext uri="{9D8B030D-6E8A-4147-A177-3AD203B41FA5}">
                      <a16:colId xmlns:a16="http://schemas.microsoft.com/office/drawing/2014/main" val="692657871"/>
                    </a:ext>
                  </a:extLst>
                </a:gridCol>
                <a:gridCol w="1086416">
                  <a:extLst>
                    <a:ext uri="{9D8B030D-6E8A-4147-A177-3AD203B41FA5}">
                      <a16:colId xmlns:a16="http://schemas.microsoft.com/office/drawing/2014/main" val="786455139"/>
                    </a:ext>
                  </a:extLst>
                </a:gridCol>
                <a:gridCol w="2314787">
                  <a:extLst>
                    <a:ext uri="{9D8B030D-6E8A-4147-A177-3AD203B41FA5}">
                      <a16:colId xmlns:a16="http://schemas.microsoft.com/office/drawing/2014/main" val="313549563"/>
                    </a:ext>
                  </a:extLst>
                </a:gridCol>
                <a:gridCol w="953512">
                  <a:extLst>
                    <a:ext uri="{9D8B030D-6E8A-4147-A177-3AD203B41FA5}">
                      <a16:colId xmlns:a16="http://schemas.microsoft.com/office/drawing/2014/main" val="2142733880"/>
                    </a:ext>
                  </a:extLst>
                </a:gridCol>
                <a:gridCol w="956651">
                  <a:extLst>
                    <a:ext uri="{9D8B030D-6E8A-4147-A177-3AD203B41FA5}">
                      <a16:colId xmlns:a16="http://schemas.microsoft.com/office/drawing/2014/main" val="481353969"/>
                    </a:ext>
                  </a:extLst>
                </a:gridCol>
              </a:tblGrid>
              <a:tr h="502820">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dirty="0">
                          <a:ln>
                            <a:noFill/>
                          </a:ln>
                          <a:solidFill>
                            <a:schemeClr val="bg1"/>
                          </a:solidFill>
                          <a:effectLst/>
                          <a:uLnTx/>
                          <a:uFillTx/>
                          <a:latin typeface="Almarai" pitchFamily="2" charset="-78"/>
                          <a:ea typeface="+mn-ea"/>
                          <a:cs typeface="Almarai" pitchFamily="2" charset="-78"/>
                        </a:rPr>
                        <a:t>الملاحظات</a:t>
                      </a:r>
                      <a:endParaRPr kumimoji="0" lang="en-GB" sz="1400" b="1" i="0" u="none" strike="noStrike" kern="1200" cap="none" spc="40" normalizeH="0" baseline="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النتيجة</a:t>
                      </a:r>
                      <a:endParaRPr kumimoji="0" lang="en-US"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 النهائية</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endParaRPr kumimoji="0" lang="en-GB" sz="1200" b="1" i="0" u="none" strike="noStrike" kern="1200" cap="none" spc="40" normalizeH="0" baseline="0" noProof="0" dirty="0">
                        <a:ln>
                          <a:noFill/>
                        </a:ln>
                        <a:solidFill>
                          <a:schemeClr val="tx1">
                            <a:lumMod val="75000"/>
                            <a:lumOff val="25000"/>
                          </a:schemeClr>
                        </a:solidFill>
                        <a:effectLst/>
                        <a:uLnTx/>
                        <a:uFillTx/>
                        <a:latin typeface="Almarai Bold" pitchFamily="2" charset="-78"/>
                        <a:ea typeface="+mn-ea"/>
                        <a:cs typeface="Almarai Bold"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Q4</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Q3</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Q2</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US" sz="1400" b="1" i="0" u="none" strike="noStrike" kern="1200" cap="none" spc="40" normalizeH="0" baseline="0" dirty="0">
                          <a:ln>
                            <a:noFill/>
                          </a:ln>
                          <a:solidFill>
                            <a:schemeClr val="bg1"/>
                          </a:solidFill>
                          <a:effectLst/>
                          <a:uLnTx/>
                          <a:uFillTx/>
                          <a:latin typeface="Almarai" pitchFamily="2" charset="-78"/>
                          <a:ea typeface="+mn-ea"/>
                          <a:cs typeface="Almarai" pitchFamily="2" charset="-78"/>
                        </a:rPr>
                        <a:t>Q1</a:t>
                      </a:r>
                      <a:endParaRPr kumimoji="0" sz="1400" b="1" i="0" u="none" strike="noStrike" kern="1200" cap="none" spc="40" normalizeH="0" baseline="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المستهدف</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الوزن</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نوع 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506390058"/>
                  </a:ext>
                </a:extLst>
              </a:tr>
              <a:tr h="1905086">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kumimoji="0" lang="en-US" sz="800" b="0" i="0" u="none" strike="noStrike" kern="1200" cap="none" spc="40" normalizeH="0" baseline="0" dirty="0">
                          <a:ln>
                            <a:noFill/>
                          </a:ln>
                          <a:solidFill>
                            <a:schemeClr val="tx1"/>
                          </a:solidFill>
                          <a:effectLst/>
                          <a:uLnTx/>
                          <a:uFillTx/>
                          <a:latin typeface="Almarai" pitchFamily="2" charset="-78"/>
                          <a:ea typeface="+mn-ea"/>
                          <a:cs typeface="Almarai" pitchFamily="2" charset="-78"/>
                        </a:rPr>
                        <a:t> -</a:t>
                      </a:r>
                      <a:r>
                        <a:rPr kumimoji="0" lang="en-US" sz="900" b="1" i="0" u="none" strike="noStrike" kern="1200" cap="none" spc="40" normalizeH="0" baseline="0" dirty="0">
                          <a:ln>
                            <a:noFill/>
                          </a:ln>
                          <a:solidFill>
                            <a:schemeClr val="tx1"/>
                          </a:solidFill>
                          <a:effectLst/>
                          <a:uLnTx/>
                          <a:uFillTx/>
                          <a:latin typeface="Almarai" pitchFamily="2" charset="-78"/>
                          <a:ea typeface="+mn-ea"/>
                          <a:cs typeface="Almarai" pitchFamily="2" charset="-78"/>
                        </a:rPr>
                        <a:t>Q1</a:t>
                      </a:r>
                      <a:r>
                        <a:rPr kumimoji="0" lang="ar-SA" sz="800" b="0" i="0" u="none" strike="noStrike" kern="1200" cap="none" spc="40" normalizeH="0" baseline="0" dirty="0">
                          <a:ln>
                            <a:noFill/>
                          </a:ln>
                          <a:solidFill>
                            <a:schemeClr val="tx1"/>
                          </a:solidFill>
                          <a:effectLst/>
                          <a:uLnTx/>
                          <a:uFillTx/>
                          <a:latin typeface="Almarai" pitchFamily="2" charset="-78"/>
                          <a:ea typeface="+mn-ea"/>
                          <a:cs typeface="Almarai" pitchFamily="2" charset="-78"/>
                        </a:rPr>
                        <a:t>خلال الربع الأول، تعذر تحقيق مستهدف زيادة عدد الموردين، ويُعزى ذلك إلى انتقال مهام إدارة علاقات الموردين من إدارة العقود إلى الإدارة المختصة في شهر مارس، ما ترتب عليه تأخر في بدء تنفيذ خطط الاستقطاب والتسجيل.</a:t>
                      </a:r>
                    </a:p>
                    <a:p>
                      <a:pPr marL="0" marR="0" lvl="0" indent="0" algn="r" defTabSz="914400" rtl="1" eaLnBrk="1" fontAlgn="b" latinLnBrk="0" hangingPunct="1">
                        <a:lnSpc>
                          <a:spcPct val="100000"/>
                        </a:lnSpc>
                        <a:spcBef>
                          <a:spcPts val="0"/>
                        </a:spcBef>
                        <a:spcAft>
                          <a:spcPts val="0"/>
                        </a:spcAft>
                        <a:buClrTx/>
                        <a:buSzTx/>
                        <a:buFontTx/>
                        <a:buNone/>
                        <a:tabLst/>
                        <a:defRPr/>
                      </a:pPr>
                      <a:r>
                        <a:rPr kumimoji="0" lang="ar-SA" sz="800" b="0" i="0" u="none" strike="noStrike" kern="1200" cap="none" spc="40" normalizeH="0" baseline="0" dirty="0">
                          <a:ln>
                            <a:noFill/>
                          </a:ln>
                          <a:solidFill>
                            <a:schemeClr val="tx1"/>
                          </a:solidFill>
                          <a:effectLst/>
                          <a:uLnTx/>
                          <a:uFillTx/>
                          <a:latin typeface="Almarai" pitchFamily="2" charset="-78"/>
                          <a:ea typeface="+mn-ea"/>
                          <a:cs typeface="Almarai" pitchFamily="2" charset="-78"/>
                        </a:rPr>
                        <a:t>وعلى الرغم من ذلك، تم تسجيل عدد من الموردين الجدد بعد نهاية الربع،  مما سينعكس على الربع الثاني  ويجري حاليًا متابعة استكمال تسجيلهم عبر المنصة الرسمية. كما تم التركيز ضمن جهود الاستقطاب على دعم المحتوى المحلي وتشجيع تسجيل المنشآت الصغيرة والمتوسطة، بما يساهم في</a:t>
                      </a:r>
                      <a:r>
                        <a:rPr kumimoji="0" lang="ar-SA" sz="900" b="0" i="0" u="none" strike="noStrike" kern="1200" cap="none" spc="40" normalizeH="0" baseline="0" dirty="0">
                          <a:ln>
                            <a:noFill/>
                          </a:ln>
                          <a:solidFill>
                            <a:schemeClr val="tx1"/>
                          </a:solidFill>
                          <a:effectLst/>
                          <a:uLnTx/>
                          <a:uFillTx/>
                          <a:latin typeface="Almarai" pitchFamily="2" charset="-78"/>
                          <a:ea typeface="+mn-ea"/>
                          <a:cs typeface="Almarai" pitchFamily="2" charset="-78"/>
                        </a:rPr>
                        <a:t> </a:t>
                      </a:r>
                      <a:r>
                        <a:rPr kumimoji="0" lang="ar-SA" sz="800" b="0" i="0" u="none" strike="noStrike" kern="1200" cap="none" spc="40" normalizeH="0" baseline="0" dirty="0">
                          <a:ln>
                            <a:noFill/>
                          </a:ln>
                          <a:solidFill>
                            <a:schemeClr val="tx1"/>
                          </a:solidFill>
                          <a:effectLst/>
                          <a:uLnTx/>
                          <a:uFillTx/>
                          <a:latin typeface="Almarai" pitchFamily="2" charset="-78"/>
                          <a:ea typeface="+mn-ea"/>
                          <a:cs typeface="Almarai" pitchFamily="2" charset="-78"/>
                        </a:rPr>
                        <a:t>رفع كفاءة سلسلة التوريد وتعزيز جاهزية قاعدة الموردين خلال الفترات القادمة</a:t>
                      </a:r>
                      <a:endParaRPr kumimoji="0" lang="en-US" sz="8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p>
                      <a:pPr algn="r" rtl="1"/>
                      <a:r>
                        <a:rPr kumimoji="0" lang="en-US" sz="900" b="0" i="0" u="none" strike="noStrike" kern="1200" cap="none" spc="40" normalizeH="0" baseline="0" dirty="0">
                          <a:ln>
                            <a:noFill/>
                          </a:ln>
                          <a:solidFill>
                            <a:schemeClr val="tx1"/>
                          </a:solidFill>
                          <a:effectLst/>
                          <a:uLnTx/>
                          <a:uFillTx/>
                          <a:latin typeface="Almarai" pitchFamily="2" charset="-78"/>
                          <a:ea typeface="+mn-ea"/>
                          <a:cs typeface="Almarai" pitchFamily="2" charset="-78"/>
                        </a:rPr>
                        <a:t> -</a:t>
                      </a:r>
                      <a:r>
                        <a:rPr kumimoji="0" lang="en-US" sz="900" b="1" i="0" u="none" strike="noStrike" kern="1200" cap="none" spc="40" normalizeH="0" baseline="0" dirty="0">
                          <a:ln>
                            <a:noFill/>
                          </a:ln>
                          <a:solidFill>
                            <a:schemeClr val="tx1"/>
                          </a:solidFill>
                          <a:effectLst/>
                          <a:uLnTx/>
                          <a:uFillTx/>
                          <a:latin typeface="Almarai" pitchFamily="2" charset="-78"/>
                          <a:ea typeface="+mn-ea"/>
                          <a:cs typeface="Almarai" pitchFamily="2" charset="-78"/>
                        </a:rPr>
                        <a:t>Q2</a:t>
                      </a:r>
                      <a:r>
                        <a:rPr kumimoji="0" lang="ar-SA" sz="800" b="0" i="0" u="none" strike="noStrike" kern="1200" cap="none" spc="40" normalizeH="0" baseline="0" dirty="0">
                          <a:ln>
                            <a:noFill/>
                          </a:ln>
                          <a:solidFill>
                            <a:schemeClr val="tx1"/>
                          </a:solidFill>
                          <a:effectLst/>
                          <a:uLnTx/>
                          <a:uFillTx/>
                          <a:ea typeface="+mn-ea"/>
                          <a:cs typeface="Almarai" pitchFamily="2" charset="-78"/>
                        </a:rPr>
                        <a:t>شهد الربع الثاني ارتفاع نسبة الموردين المسجلين من 1.8% في الربع الأول إلى 7%، وهو ما يعكس بدء ظهور أثر خطط الاستقطاب التي تأخرت في الربع الأول بسبب انتقال المهام. وتركز الجهود الحالية على استقطاب موردين ذوي جودة عالية، مع إعطاء أولوية لدعم المحتوى المحلي وتشجيع تسجيل المنشآت الصغيرة والمتوسطة، بما يضمن تعزيز كفاءة سلسلة التوريد واستدامتها.وبناءً على وتيرة النمو الحالية، نتوقع تحقيق المستهدف المحدد وهو 20% بنهاية الربع الرابع</a:t>
                      </a:r>
                      <a:endParaRPr kumimoji="0" lang="ar-SA" sz="9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7.7%</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1.8%</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en-US" sz="1200" dirty="0">
                          <a:solidFill>
                            <a:schemeClr val="tx1"/>
                          </a:solidFill>
                          <a:latin typeface="Almarai" pitchFamily="2" charset="-78"/>
                          <a:cs typeface="Almarai" pitchFamily="2" charset="-78"/>
                        </a:rPr>
                        <a:t>20%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dirty="0">
                          <a:solidFill>
                            <a:schemeClr val="tx1"/>
                          </a:solidFill>
                          <a:latin typeface="Almarai" pitchFamily="2" charset="-78"/>
                          <a:cs typeface="Almarai" pitchFamily="2" charset="-78"/>
                        </a:rPr>
                        <a:t>% زيادة نسبة اعداد الموردين</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400" rtl="1" eaLnBrk="1" fontAlgn="ctr" latinLnBrk="0" hangingPunct="1">
                        <a:lnSpc>
                          <a:spcPct val="150000"/>
                        </a:lnSpc>
                      </a:pPr>
                      <a:r>
                        <a:rPr lang="en-US" sz="1200" kern="1200" dirty="0">
                          <a:solidFill>
                            <a:schemeClr val="tx1"/>
                          </a:solidFill>
                          <a:latin typeface="Almarai" pitchFamily="2" charset="-78"/>
                          <a:ea typeface="+mn-ea"/>
                          <a:cs typeface="Almarai" pitchFamily="2" charset="-78"/>
                        </a:rPr>
                        <a:t>10%</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2732480"/>
                  </a:ext>
                </a:extLst>
              </a:tr>
              <a:tr h="625294">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94%</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92%</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90%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dirty="0">
                          <a:solidFill>
                            <a:schemeClr val="tx1"/>
                          </a:solidFill>
                          <a:latin typeface="Almarai" pitchFamily="2" charset="-78"/>
                          <a:cs typeface="Almarai" pitchFamily="2" charset="-78"/>
                        </a:rPr>
                        <a:t>% المحتوى المحلي من أوامر المشتريات والعقود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400" rtl="1" eaLnBrk="1" fontAlgn="ctr" latinLnBrk="0" hangingPunct="1">
                        <a:lnSpc>
                          <a:spcPct val="150000"/>
                        </a:lnSpc>
                      </a:pPr>
                      <a:r>
                        <a:rPr lang="en-US" sz="1200" kern="1200" dirty="0">
                          <a:solidFill>
                            <a:schemeClr val="tx1"/>
                          </a:solidFill>
                          <a:latin typeface="Almarai" pitchFamily="2" charset="-78"/>
                          <a:ea typeface="+mn-ea"/>
                          <a:cs typeface="Almarai" pitchFamily="2" charset="-78"/>
                        </a:rPr>
                        <a:t>20%</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1117382"/>
                  </a:ext>
                </a:extLst>
              </a:tr>
              <a:tr h="1173358">
                <a:tc>
                  <a:txBody>
                    <a:bodyPr/>
                    <a:lstStyle/>
                    <a:p>
                      <a:pPr marL="0" marR="0" lvl="0" indent="0" algn="r" defTabSz="914400" rtl="1" eaLnBrk="1" fontAlgn="b" latinLnBrk="0" hangingPunct="1">
                        <a:lnSpc>
                          <a:spcPct val="100000"/>
                        </a:lnSpc>
                        <a:spcBef>
                          <a:spcPts val="0"/>
                        </a:spcBef>
                        <a:spcAft>
                          <a:spcPts val="0"/>
                        </a:spcAft>
                        <a:buClrTx/>
                        <a:buSzTx/>
                        <a:buFont typeface="Arial" panose="020B0604020202020204" pitchFamily="34" charset="0"/>
                        <a:buNone/>
                        <a:tabLst/>
                        <a:defRPr/>
                      </a:pPr>
                      <a:r>
                        <a:rPr kumimoji="0" lang="en-US" sz="9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a:t>
                      </a:r>
                      <a:r>
                        <a:rPr kumimoji="0" lang="en-US" sz="900" b="1"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a:t>
                      </a:r>
                      <a:r>
                        <a:rPr lang="en-US" sz="900" b="1" kern="1200" dirty="0">
                          <a:solidFill>
                            <a:schemeClr val="tx1"/>
                          </a:solidFill>
                          <a:latin typeface="Almarai" pitchFamily="2" charset="-78"/>
                          <a:ea typeface="+mn-ea"/>
                          <a:cs typeface="Almarai" pitchFamily="2" charset="-78"/>
                        </a:rPr>
                        <a:t>Q1+Q2</a:t>
                      </a:r>
                      <a:r>
                        <a:rPr kumimoji="0" lang="ar-SA" sz="8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تم اللجوء إلى الشراء من مصدر وحيد في طلبات الشراء المعتمدة أما لكون المنتج/الخدمة محل الشراء متوفر حصريًا لدى المورد، ولا يوجد بديل معتمد أو مؤهل لتقديمه بنفس المواصفات المطلوبة. أو أن بعض أوامر الشراء مرتبطة بمورد قائم سبق له تنفيذ جزء من الأعمال، ويُعد استكمال العمل معه ضرورة لضمان التوافق الفني واستمرارية التنفيذ دون تعارض أو ازدواجية في المهام.</a:t>
                      </a:r>
                    </a:p>
                    <a:p>
                      <a:pPr marL="0" marR="0" lvl="0" indent="0" algn="r" defTabSz="914400" rtl="1" eaLnBrk="1" fontAlgn="b" latinLnBrk="0" hangingPunct="1">
                        <a:lnSpc>
                          <a:spcPct val="100000"/>
                        </a:lnSpc>
                        <a:spcBef>
                          <a:spcPts val="0"/>
                        </a:spcBef>
                        <a:spcAft>
                          <a:spcPts val="0"/>
                        </a:spcAft>
                        <a:buClrTx/>
                        <a:buSzTx/>
                        <a:buFont typeface="Arial" panose="020B0604020202020204" pitchFamily="34" charset="0"/>
                        <a:buNone/>
                        <a:tabLst/>
                        <a:defRPr/>
                      </a:pPr>
                      <a:r>
                        <a:rPr kumimoji="0" lang="ar-SA" sz="8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كما انه يتم التواصل مع الإدارات الطالبة لمعرفة تفاصيل المصدر الوحيد قبل المضي بإصدار أمر الشراء وحثهم على تجنب استخدامه للطلبات التي من الممكن الحصول عليها من أكثر من مورد.</a:t>
                      </a: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57%</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59%</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≤30%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en-US" sz="1200" dirty="0">
                          <a:solidFill>
                            <a:schemeClr val="tx1"/>
                          </a:solidFill>
                          <a:latin typeface="Almarai" pitchFamily="2" charset="-78"/>
                          <a:cs typeface="Almarai" pitchFamily="2" charset="-78"/>
                        </a:rPr>
                        <a:t>%</a:t>
                      </a:r>
                      <a:r>
                        <a:rPr lang="ar-SA" sz="1200" dirty="0">
                          <a:solidFill>
                            <a:schemeClr val="tx1"/>
                          </a:solidFill>
                          <a:latin typeface="Almarai" pitchFamily="2" charset="-78"/>
                          <a:cs typeface="Almarai" pitchFamily="2" charset="-78"/>
                        </a:rPr>
                        <a:t> طلبات الشراء مصدر وحيد</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400" rtl="1" eaLnBrk="1" fontAlgn="ctr" latinLnBrk="0" hangingPunct="1">
                        <a:lnSpc>
                          <a:spcPct val="150000"/>
                        </a:lnSpc>
                      </a:pPr>
                      <a:r>
                        <a:rPr lang="en-US" sz="1200" kern="1200" dirty="0">
                          <a:solidFill>
                            <a:schemeClr val="tx1"/>
                          </a:solidFill>
                          <a:latin typeface="Almarai" pitchFamily="2" charset="-78"/>
                          <a:ea typeface="+mn-ea"/>
                          <a:cs typeface="Almarai" pitchFamily="2" charset="-78"/>
                        </a:rPr>
                        <a:t>15%</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0818292"/>
                  </a:ext>
                </a:extLst>
              </a:tr>
              <a:tr h="342350">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6.3%</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6%</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dirty="0">
                          <a:solidFill>
                            <a:schemeClr val="tx1"/>
                          </a:solidFill>
                          <a:latin typeface="Almarai" pitchFamily="2" charset="-78"/>
                          <a:cs typeface="Almarai" pitchFamily="2" charset="-78"/>
                        </a:rPr>
                        <a:t>% وفورات في عملية الشراء</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400" rtl="1" eaLnBrk="1" fontAlgn="ctr" latinLnBrk="0" hangingPunct="1">
                        <a:lnSpc>
                          <a:spcPct val="150000"/>
                        </a:lnSpc>
                      </a:pPr>
                      <a:r>
                        <a:rPr lang="en-US" sz="1200" kern="1200" dirty="0">
                          <a:solidFill>
                            <a:schemeClr val="tx1"/>
                          </a:solidFill>
                          <a:latin typeface="Almarai" pitchFamily="2" charset="-78"/>
                          <a:ea typeface="+mn-ea"/>
                          <a:cs typeface="Almarai" pitchFamily="2" charset="-78"/>
                        </a:rPr>
                        <a:t>15%</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0065364"/>
                  </a:ext>
                </a:extLst>
              </a:tr>
              <a:tr h="342350">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2.4%</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 </a:t>
                      </a:r>
                      <a:r>
                        <a:rPr lang="en-US" sz="1200" b="0" i="0" u="none" strike="noStrike" kern="1200" dirty="0">
                          <a:solidFill>
                            <a:schemeClr val="tx1"/>
                          </a:solidFill>
                          <a:effectLst/>
                          <a:latin typeface="Almarai" pitchFamily="2" charset="-78"/>
                          <a:ea typeface="+mn-ea"/>
                          <a:cs typeface="Almarai" pitchFamily="2" charset="-78"/>
                        </a:rPr>
                        <a:t>%</a:t>
                      </a:r>
                      <a:r>
                        <a:rPr lang="ar-SA" sz="1200" b="0" i="0" u="none" strike="noStrike" kern="1200" dirty="0">
                          <a:solidFill>
                            <a:schemeClr val="tx1"/>
                          </a:solidFill>
                          <a:effectLst/>
                          <a:latin typeface="Almarai" pitchFamily="2" charset="-78"/>
                          <a:ea typeface="+mn-ea"/>
                          <a:cs typeface="Almarai" pitchFamily="2" charset="-78"/>
                        </a:rPr>
                        <a:t>4</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1%</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dirty="0">
                          <a:solidFill>
                            <a:schemeClr val="tx1"/>
                          </a:solidFill>
                          <a:latin typeface="Almarai" pitchFamily="2" charset="-78"/>
                          <a:cs typeface="Almarai" pitchFamily="2" charset="-78"/>
                        </a:rPr>
                        <a:t>% التفاوض مع اقل عرض سعر</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400" rtl="1" eaLnBrk="1" fontAlgn="ctr" latinLnBrk="0" hangingPunct="1">
                        <a:lnSpc>
                          <a:spcPct val="150000"/>
                        </a:lnSpc>
                      </a:pPr>
                      <a:r>
                        <a:rPr lang="ar-SA" sz="1200" kern="1200" dirty="0">
                          <a:solidFill>
                            <a:schemeClr val="tx1"/>
                          </a:solidFill>
                          <a:latin typeface="Almarai" pitchFamily="2" charset="-78"/>
                          <a:ea typeface="+mn-ea"/>
                          <a:cs typeface="Almarai" pitchFamily="2" charset="-78"/>
                        </a:rPr>
                        <a:t>15%</a:t>
                      </a:r>
                      <a:endParaRPr lang="en-US" sz="1200" kern="1200" dirty="0">
                        <a:solidFill>
                          <a:schemeClr val="tx1"/>
                        </a:solidFill>
                        <a:latin typeface="Almarai" pitchFamily="2" charset="-78"/>
                        <a:ea typeface="+mn-ea"/>
                        <a:cs typeface="Almarai" pitchFamily="2" charset="-78"/>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4019222"/>
                  </a:ext>
                </a:extLst>
              </a:tr>
              <a:tr h="625294">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endParaRPr kumimoji="0" lang="en-GB"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89%</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82%</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80%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dirty="0">
                          <a:solidFill>
                            <a:schemeClr val="tx1"/>
                          </a:solidFill>
                          <a:latin typeface="Almarai" pitchFamily="2" charset="-78"/>
                          <a:cs typeface="Almarai" pitchFamily="2" charset="-78"/>
                        </a:rPr>
                        <a:t>% دورة أمر الشراء (الفترة الزمنية من الطرح  الى تعميد أمر  الشراء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400" rtl="1" eaLnBrk="1" fontAlgn="ctr" latinLnBrk="0" hangingPunct="1">
                        <a:lnSpc>
                          <a:spcPct val="150000"/>
                        </a:lnSpc>
                      </a:pPr>
                      <a:r>
                        <a:rPr lang="en-US" sz="1200" kern="1200" dirty="0">
                          <a:solidFill>
                            <a:schemeClr val="tx1"/>
                          </a:solidFill>
                          <a:latin typeface="Almarai" pitchFamily="2" charset="-78"/>
                          <a:ea typeface="+mn-ea"/>
                          <a:cs typeface="Almarai" pitchFamily="2" charset="-78"/>
                        </a:rPr>
                        <a:t>15%</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21032384"/>
                  </a:ext>
                </a:extLst>
              </a:tr>
              <a:tr h="625294">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kumimoji="0" lang="en-US" sz="9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a:t>
                      </a:r>
                      <a:r>
                        <a:rPr kumimoji="0" lang="ar-SA" sz="9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بسبب عدم توقيع أي عقد جديد خلال الربع الأول.</a:t>
                      </a:r>
                      <a:r>
                        <a:rPr kumimoji="0" lang="en-US" sz="9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a:t>
                      </a:r>
                      <a:r>
                        <a:rPr lang="en-US" sz="900" b="1" kern="1200" dirty="0">
                          <a:solidFill>
                            <a:schemeClr val="tx1"/>
                          </a:solidFill>
                          <a:latin typeface="Almarai" pitchFamily="2" charset="-78"/>
                          <a:ea typeface="+mn-ea"/>
                          <a:cs typeface="Almarai" pitchFamily="2" charset="-78"/>
                        </a:rPr>
                        <a:t>Q1+Q2</a:t>
                      </a:r>
                      <a:endParaRPr kumimoji="0" lang="ar-SA" sz="900" b="1" i="0" u="none" strike="noStrike" kern="1200" cap="none" spc="40" normalizeH="0" baseline="0" noProof="0" dirty="0">
                        <a:ln>
                          <a:noFill/>
                        </a:ln>
                        <a:solidFill>
                          <a:schemeClr val="tx1"/>
                        </a:solidFill>
                        <a:effectLst/>
                        <a:uLnTx/>
                        <a:uFillTx/>
                        <a:latin typeface="Almarai" pitchFamily="2" charset="-78"/>
                        <a:ea typeface="+mn-ea"/>
                        <a:cs typeface="Almarai" pitchFamily="2" charset="-78"/>
                      </a:endParaRPr>
                    </a:p>
                    <a:p>
                      <a:pPr marL="0" marR="0" lvl="0" indent="0" algn="r" defTabSz="914400" rtl="0" eaLnBrk="1" fontAlgn="b" latinLnBrk="0" hangingPunct="1">
                        <a:lnSpc>
                          <a:spcPct val="100000"/>
                        </a:lnSpc>
                        <a:spcBef>
                          <a:spcPts val="0"/>
                        </a:spcBef>
                        <a:spcAft>
                          <a:spcPts val="0"/>
                        </a:spcAft>
                        <a:buClrTx/>
                        <a:buSzTx/>
                        <a:buFontTx/>
                        <a:buNone/>
                        <a:tabLst/>
                        <a:defRPr/>
                      </a:pPr>
                      <a:endParaRPr kumimoji="0" lang="en-GB"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b="0" dirty="0">
                          <a:solidFill>
                            <a:schemeClr val="tx1"/>
                          </a:solidFill>
                          <a:latin typeface="Almarai" pitchFamily="2" charset="-78"/>
                          <a:cs typeface="Almarai" pitchFamily="2" charset="-78"/>
                        </a:rPr>
                        <a:t>65%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b="0" dirty="0">
                          <a:solidFill>
                            <a:schemeClr val="tx1"/>
                          </a:solidFill>
                          <a:latin typeface="Almarai" pitchFamily="2" charset="-78"/>
                          <a:cs typeface="Almarai" pitchFamily="2" charset="-78"/>
                        </a:rPr>
                        <a:t>% دورة العقود (الفترة الزمنية من الطرح  الى توقيع العقد)</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400" rtl="1" eaLnBrk="1" fontAlgn="ctr" latinLnBrk="0" hangingPunct="1">
                        <a:lnSpc>
                          <a:spcPct val="150000"/>
                        </a:lnSpc>
                      </a:pPr>
                      <a:r>
                        <a:rPr lang="en-US" sz="1200" b="0" kern="1200" dirty="0">
                          <a:solidFill>
                            <a:schemeClr val="tx1"/>
                          </a:solidFill>
                          <a:latin typeface="Almarai" pitchFamily="2" charset="-78"/>
                          <a:ea typeface="+mn-ea"/>
                          <a:cs typeface="Almarai" pitchFamily="2" charset="-78"/>
                        </a:rPr>
                        <a:t>10%</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سنوي</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73618700"/>
                  </a:ext>
                </a:extLst>
              </a:tr>
            </a:tbl>
          </a:graphicData>
        </a:graphic>
      </p:graphicFrame>
      <p:pic>
        <p:nvPicPr>
          <p:cNvPr id="26" name="Picture 25" descr="Text&#10;&#10;Description automatically generated with medium confidence">
            <a:extLst>
              <a:ext uri="{FF2B5EF4-FFF2-40B4-BE49-F238E27FC236}">
                <a16:creationId xmlns:a16="http://schemas.microsoft.com/office/drawing/2014/main" id="{4F4AF57B-9DE0-492B-9DB0-50C6A26A0F7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t="1" b="-21"/>
          <a:stretch/>
        </p:blipFill>
        <p:spPr>
          <a:xfrm>
            <a:off x="112358" y="84607"/>
            <a:ext cx="819076" cy="631548"/>
          </a:xfrm>
          <a:prstGeom prst="rect">
            <a:avLst/>
          </a:prstGeom>
        </p:spPr>
      </p:pic>
      <p:sp>
        <p:nvSpPr>
          <p:cNvPr id="10" name="Rectangle 9">
            <a:extLst>
              <a:ext uri="{FF2B5EF4-FFF2-40B4-BE49-F238E27FC236}">
                <a16:creationId xmlns:a16="http://schemas.microsoft.com/office/drawing/2014/main" id="{4D4FFFC4-E065-64A4-2E89-31676DB5159D}"/>
              </a:ext>
            </a:extLst>
          </p:cNvPr>
          <p:cNvSpPr/>
          <p:nvPr/>
        </p:nvSpPr>
        <p:spPr>
          <a:xfrm>
            <a:off x="5702157" y="136902"/>
            <a:ext cx="6396620" cy="509050"/>
          </a:xfrm>
          <a:prstGeom prst="rect">
            <a:avLst/>
          </a:prstGeom>
        </p:spPr>
        <p:txBody>
          <a:bodyPr wrap="square" anchor="ctr">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ar-SA" sz="1969"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العقود </a:t>
            </a: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والمشتريات</a:t>
            </a:r>
          </a:p>
        </p:txBody>
      </p:sp>
    </p:spTree>
    <p:extLst>
      <p:ext uri="{BB962C8B-B14F-4D97-AF65-F5344CB8AC3E}">
        <p14:creationId xmlns:p14="http://schemas.microsoft.com/office/powerpoint/2010/main" val="20186339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ext&#10;&#10;Description automatically generated with medium confidence">
            <a:extLst>
              <a:ext uri="{FF2B5EF4-FFF2-40B4-BE49-F238E27FC236}">
                <a16:creationId xmlns:a16="http://schemas.microsoft.com/office/drawing/2014/main" id="{6FAA60BE-06F7-9F5C-89E3-B3D00A7FCD2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sp>
        <p:nvSpPr>
          <p:cNvPr id="7" name="TextBox 6">
            <a:extLst>
              <a:ext uri="{FF2B5EF4-FFF2-40B4-BE49-F238E27FC236}">
                <a16:creationId xmlns:a16="http://schemas.microsoft.com/office/drawing/2014/main" id="{AC94F235-66FB-CBDF-CAAE-70BBF3413D11}"/>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التحول الرقمي</a:t>
            </a:r>
          </a:p>
        </p:txBody>
      </p:sp>
      <p:graphicFrame>
        <p:nvGraphicFramePr>
          <p:cNvPr id="18" name="Table 2">
            <a:extLst>
              <a:ext uri="{FF2B5EF4-FFF2-40B4-BE49-F238E27FC236}">
                <a16:creationId xmlns:a16="http://schemas.microsoft.com/office/drawing/2014/main" id="{4A80119A-0258-4792-3DE7-26DAB4AA6A1D}"/>
              </a:ext>
            </a:extLst>
          </p:cNvPr>
          <p:cNvGraphicFramePr>
            <a:graphicFrameLocks noGrp="1"/>
          </p:cNvGraphicFramePr>
          <p:nvPr>
            <p:extLst>
              <p:ext uri="{D42A27DB-BD31-4B8C-83A1-F6EECF244321}">
                <p14:modId xmlns:p14="http://schemas.microsoft.com/office/powerpoint/2010/main" val="3503263020"/>
              </p:ext>
            </p:extLst>
          </p:nvPr>
        </p:nvGraphicFramePr>
        <p:xfrm>
          <a:off x="0" y="976329"/>
          <a:ext cx="12191999" cy="5196803"/>
        </p:xfrm>
        <a:graphic>
          <a:graphicData uri="http://schemas.openxmlformats.org/drawingml/2006/table">
            <a:tbl>
              <a:tblPr firstRow="1" bandRow="1">
                <a:tableStyleId>{5C22544A-7EE6-4342-B048-85BDC9FD1C3A}</a:tableStyleId>
              </a:tblPr>
              <a:tblGrid>
                <a:gridCol w="3628723">
                  <a:extLst>
                    <a:ext uri="{9D8B030D-6E8A-4147-A177-3AD203B41FA5}">
                      <a16:colId xmlns:a16="http://schemas.microsoft.com/office/drawing/2014/main" val="276634163"/>
                    </a:ext>
                  </a:extLst>
                </a:gridCol>
                <a:gridCol w="5540549">
                  <a:extLst>
                    <a:ext uri="{9D8B030D-6E8A-4147-A177-3AD203B41FA5}">
                      <a16:colId xmlns:a16="http://schemas.microsoft.com/office/drawing/2014/main" val="1759313315"/>
                    </a:ext>
                  </a:extLst>
                </a:gridCol>
                <a:gridCol w="3022727">
                  <a:extLst>
                    <a:ext uri="{9D8B030D-6E8A-4147-A177-3AD203B41FA5}">
                      <a16:colId xmlns:a16="http://schemas.microsoft.com/office/drawing/2014/main" val="3157918808"/>
                    </a:ext>
                  </a:extLst>
                </a:gridCol>
              </a:tblGrid>
              <a:tr h="543105">
                <a:tc>
                  <a:txBody>
                    <a:bodyPr/>
                    <a:lstStyle/>
                    <a:p>
                      <a:pPr algn="ctr">
                        <a:lnSpc>
                          <a:spcPct val="150000"/>
                        </a:lnSpc>
                      </a:pPr>
                      <a:r>
                        <a:rPr lang="ar-SA" sz="1400" dirty="0">
                          <a:latin typeface="Almarai" pitchFamily="2" charset="-78"/>
                          <a:cs typeface="Almarai" pitchFamily="2" charset="-78"/>
                        </a:rPr>
                        <a:t>الهدف التشغيلي</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شرح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600330">
                <a:tc>
                  <a:txBody>
                    <a:bodyPr/>
                    <a:lstStyle/>
                    <a:p>
                      <a:pPr algn="r" rtl="1" fontAlgn="ctr"/>
                      <a:r>
                        <a:rPr lang="ar-SA" sz="1200" kern="1200" dirty="0">
                          <a:solidFill>
                            <a:schemeClr val="tx1"/>
                          </a:solidFill>
                          <a:latin typeface="Almarai" pitchFamily="2" charset="-78"/>
                          <a:ea typeface="+mn-ea"/>
                          <a:cs typeface="Almarai" pitchFamily="2" charset="-78"/>
                        </a:rPr>
                        <a:t>• تطبيق وتحسين جودة العمليات الداخلية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نسبة إغلاق التذاكر المرفوعة وفقاً لاتفاقية مستوى الخدمة وحسب مستوى أهميتها.</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التذاكر المغلقة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082658606"/>
                  </a:ext>
                </a:extLst>
              </a:tr>
              <a:tr h="492577">
                <a:tc>
                  <a:txBody>
                    <a:bodyPr/>
                    <a:lstStyle/>
                    <a:p>
                      <a:pPr algn="r" rtl="1" fontAlgn="ctr"/>
                      <a:r>
                        <a:rPr lang="ar-SA" sz="1200" kern="1200" dirty="0">
                          <a:solidFill>
                            <a:schemeClr val="tx1"/>
                          </a:solidFill>
                          <a:latin typeface="Almarai" pitchFamily="2" charset="-78"/>
                          <a:ea typeface="+mn-ea"/>
                          <a:cs typeface="Almarai" pitchFamily="2" charset="-78"/>
                        </a:rPr>
                        <a:t>• رفع مستوى جودة الخدمة والأمن والسلامة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نسبة  التصدي لهجمات الاختراقات على الشركة.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التصدي للاختراقات </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055332767"/>
                  </a:ext>
                </a:extLst>
              </a:tr>
              <a:tr h="596720">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200" kern="1200" dirty="0">
                          <a:solidFill>
                            <a:schemeClr val="tx1"/>
                          </a:solidFill>
                          <a:latin typeface="Almarai" pitchFamily="2" charset="-78"/>
                          <a:ea typeface="+mn-ea"/>
                          <a:cs typeface="Almarai" pitchFamily="2" charset="-78"/>
                        </a:rPr>
                        <a:t>• تطبيق وتحسين جودة العمليات الداخلية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عدد الساعات التي كان فيها النظام متوفر وغير متوقف.</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r" rtl="1" fontAlgn="ctr"/>
                      <a:r>
                        <a:rPr lang="ar-SA" sz="1200" kern="1200" dirty="0">
                          <a:solidFill>
                            <a:schemeClr val="tx1"/>
                          </a:solidFill>
                          <a:latin typeface="Almarai" pitchFamily="2" charset="-78"/>
                          <a:ea typeface="+mn-ea"/>
                          <a:cs typeface="Almarai" pitchFamily="2" charset="-78"/>
                        </a:rPr>
                        <a:t>% توفر أنظمة الشركة خلال ساعات العمل</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722397247"/>
                  </a:ext>
                </a:extLst>
              </a:tr>
              <a:tr h="589459">
                <a:tc>
                  <a:txBody>
                    <a:bodyPr/>
                    <a:lstStyle/>
                    <a:p>
                      <a:pPr algn="r" rtl="1" fontAlgn="ctr"/>
                      <a:r>
                        <a:rPr lang="ar-SA" sz="1200" kern="1200" dirty="0">
                          <a:solidFill>
                            <a:schemeClr val="tx1"/>
                          </a:solidFill>
                          <a:latin typeface="Almarai" pitchFamily="2" charset="-78"/>
                          <a:ea typeface="+mn-ea"/>
                          <a:cs typeface="Almarai" pitchFamily="2" charset="-78"/>
                        </a:rPr>
                        <a:t>• رفع مستوى جودة الخدمة والأمن والسلامة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نسبة عمليات النسخ الناجحة التي أجريت خلال العام.</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عمليات النسخ الاحتياطي الناجحة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052242842"/>
                  </a:ext>
                </a:extLst>
              </a:tr>
              <a:tr h="589459">
                <a:tc>
                  <a:txBody>
                    <a:bodyPr/>
                    <a:lstStyle/>
                    <a:p>
                      <a:pPr algn="r" rtl="1" fontAlgn="ctr"/>
                      <a:r>
                        <a:rPr lang="ar-SA" sz="1200" kern="1200" dirty="0">
                          <a:solidFill>
                            <a:schemeClr val="tx1"/>
                          </a:solidFill>
                          <a:latin typeface="Almarai" pitchFamily="2" charset="-78"/>
                          <a:ea typeface="+mn-ea"/>
                          <a:cs typeface="Almarai" pitchFamily="2" charset="-78"/>
                        </a:rPr>
                        <a:t>• تطبيق وتحسين جودة العمليات الداخلية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نسبة تحسين تخطيط موارد المؤسسة (</a:t>
                      </a:r>
                      <a:r>
                        <a:rPr lang="en-US" sz="1200" kern="1200" dirty="0">
                          <a:solidFill>
                            <a:schemeClr val="tx1"/>
                          </a:solidFill>
                          <a:latin typeface="Almarai" pitchFamily="2" charset="-78"/>
                          <a:ea typeface="+mn-ea"/>
                          <a:cs typeface="Almarai" pitchFamily="2" charset="-78"/>
                        </a:rPr>
                        <a:t>ERP</a:t>
                      </a:r>
                      <a:r>
                        <a:rPr lang="ar-SA" sz="1200" kern="1200" dirty="0">
                          <a:solidFill>
                            <a:schemeClr val="tx1"/>
                          </a:solidFill>
                          <a:latin typeface="Almarai" pitchFamily="2" charset="-78"/>
                          <a:ea typeface="+mn-ea"/>
                          <a:cs typeface="Almarai" pitchFamily="2" charset="-78"/>
                        </a:rPr>
                        <a:t>) عن طريق قياس عدد الوحدات المستحدثة خلال السنة.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en-US" sz="1200" kern="1200" dirty="0">
                          <a:solidFill>
                            <a:schemeClr val="tx1"/>
                          </a:solidFill>
                          <a:latin typeface="Almarai" pitchFamily="2" charset="-78"/>
                          <a:ea typeface="+mn-ea"/>
                          <a:cs typeface="Almarai" pitchFamily="2" charset="-78"/>
                        </a:rPr>
                        <a:t>%</a:t>
                      </a:r>
                      <a:r>
                        <a:rPr lang="ar-SA" sz="1200" kern="1200" dirty="0">
                          <a:solidFill>
                            <a:schemeClr val="tx1"/>
                          </a:solidFill>
                          <a:latin typeface="Almarai" pitchFamily="2" charset="-78"/>
                          <a:ea typeface="+mn-ea"/>
                          <a:cs typeface="Almarai" pitchFamily="2" charset="-78"/>
                        </a:rPr>
                        <a:t> % تحسينات في  الـ </a:t>
                      </a:r>
                      <a:r>
                        <a:rPr lang="en-US" sz="1200" kern="1200" dirty="0">
                          <a:solidFill>
                            <a:schemeClr val="tx1"/>
                          </a:solidFill>
                          <a:latin typeface="Almarai" pitchFamily="2" charset="-78"/>
                          <a:ea typeface="+mn-ea"/>
                          <a:cs typeface="Almarai" pitchFamily="2" charset="-78"/>
                        </a:rPr>
                        <a:t>ERP</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639403118"/>
                  </a:ext>
                </a:extLst>
              </a:tr>
              <a:tr h="589459">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200" kern="1200" dirty="0">
                          <a:solidFill>
                            <a:schemeClr val="tx1"/>
                          </a:solidFill>
                          <a:latin typeface="Almarai" pitchFamily="2" charset="-78"/>
                          <a:ea typeface="+mn-ea"/>
                          <a:cs typeface="Almarai" pitchFamily="2" charset="-78"/>
                        </a:rPr>
                        <a:t>• تطبيق وتحسين جودة العمليات الداخلية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نسبة دعم قطاع التحول الرقمي في إنشاء أو تعديل عمليات في الأنظمة الموجودة على حسب طلب القطاعات.</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تحسين عمليات الأنظمة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738463587"/>
                  </a:ext>
                </a:extLst>
              </a:tr>
              <a:tr h="589459">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kern="1200" dirty="0">
                          <a:solidFill>
                            <a:schemeClr val="tx1"/>
                          </a:solidFill>
                          <a:latin typeface="Almarai" pitchFamily="2" charset="-78"/>
                          <a:ea typeface="+mn-ea"/>
                          <a:cs typeface="Almarai" pitchFamily="2" charset="-78"/>
                        </a:rPr>
                        <a:t>• تطبيق وتحسين جودة العمليات الداخلية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تقديم أو تأهيل منتج/</a:t>
                      </a:r>
                      <a:r>
                        <a:rPr lang="en-US" sz="1200" dirty="0">
                          <a:solidFill>
                            <a:schemeClr val="tx1"/>
                          </a:solidFill>
                          <a:latin typeface="Almarai" pitchFamily="2" charset="-78"/>
                          <a:cs typeface="Almarai" pitchFamily="2" charset="-78"/>
                        </a:rPr>
                        <a:t> </a:t>
                      </a:r>
                      <a:r>
                        <a:rPr lang="ar-SA" sz="1200" dirty="0">
                          <a:solidFill>
                            <a:schemeClr val="tx1"/>
                          </a:solidFill>
                          <a:latin typeface="Almarai" pitchFamily="2" charset="-78"/>
                          <a:cs typeface="Almarai" pitchFamily="2" charset="-78"/>
                        </a:rPr>
                        <a:t>خدمة جديدة لتخفيض التكاليف أو أتمتة العمليات.</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المنتجات / الخدمات الجديدة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812818624"/>
                  </a:ext>
                </a:extLst>
              </a:tr>
              <a:tr h="589459">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kern="1200" dirty="0">
                          <a:solidFill>
                            <a:schemeClr val="tx1"/>
                          </a:solidFill>
                          <a:latin typeface="Almarai" pitchFamily="2" charset="-78"/>
                          <a:ea typeface="+mn-ea"/>
                          <a:cs typeface="Almarai" pitchFamily="2" charset="-78"/>
                        </a:rPr>
                        <a:t>امتثال لضوابط هيئة النقل والجهات التشريعية في المملكة ولحفظ البيانات الحساسة.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قياس نسبة التقدم في انشاء بيئة سحابية محلية خاصة برافد</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%تطوير بيئة سحابية محلية خاصة برافد</a:t>
                      </a:r>
                      <a:endParaRPr lang="en-US" sz="1200" b="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743407063"/>
                  </a:ext>
                </a:extLst>
              </a:tr>
            </a:tbl>
          </a:graphicData>
        </a:graphic>
      </p:graphicFrame>
      <p:pic>
        <p:nvPicPr>
          <p:cNvPr id="10" name="Picture 9" descr="A picture containing graphical user interface&#10;&#10;Description automatically generated">
            <a:extLst>
              <a:ext uri="{FF2B5EF4-FFF2-40B4-BE49-F238E27FC236}">
                <a16:creationId xmlns:a16="http://schemas.microsoft.com/office/drawing/2014/main" id="{37C05324-748F-5B56-A096-C52138F4600D}"/>
              </a:ext>
            </a:extLst>
          </p:cNvPr>
          <p:cNvPicPr>
            <a:picLocks noChangeAspect="1"/>
          </p:cNvPicPr>
          <p:nvPr/>
        </p:nvPicPr>
        <p:blipFill rotWithShape="1">
          <a:blip r:embed="rId3"/>
          <a:srcRect l="23677" t="39057" b="28402"/>
          <a:stretch/>
        </p:blipFill>
        <p:spPr>
          <a:xfrm>
            <a:off x="0" y="6477595"/>
            <a:ext cx="5382126" cy="380404"/>
          </a:xfrm>
          <a:prstGeom prst="rect">
            <a:avLst/>
          </a:prstGeom>
        </p:spPr>
      </p:pic>
    </p:spTree>
    <p:extLst>
      <p:ext uri="{BB962C8B-B14F-4D97-AF65-F5344CB8AC3E}">
        <p14:creationId xmlns:p14="http://schemas.microsoft.com/office/powerpoint/2010/main" val="3173265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ext&#10;&#10;Description automatically generated with medium confidence">
            <a:extLst>
              <a:ext uri="{FF2B5EF4-FFF2-40B4-BE49-F238E27FC236}">
                <a16:creationId xmlns:a16="http://schemas.microsoft.com/office/drawing/2014/main" id="{725EE4C7-CFDA-45B9-9AFE-BC5498EC109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sp>
        <p:nvSpPr>
          <p:cNvPr id="7" name="TextBox 6">
            <a:extLst>
              <a:ext uri="{FF2B5EF4-FFF2-40B4-BE49-F238E27FC236}">
                <a16:creationId xmlns:a16="http://schemas.microsoft.com/office/drawing/2014/main" id="{F1892FAB-66B6-6375-70F3-131A7C2CE063}"/>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التحول الرقمي</a:t>
            </a:r>
          </a:p>
        </p:txBody>
      </p:sp>
      <p:graphicFrame>
        <p:nvGraphicFramePr>
          <p:cNvPr id="31" name="Table 2">
            <a:extLst>
              <a:ext uri="{FF2B5EF4-FFF2-40B4-BE49-F238E27FC236}">
                <a16:creationId xmlns:a16="http://schemas.microsoft.com/office/drawing/2014/main" id="{D7FFD679-B311-5F41-78FD-5CCE5C43E08E}"/>
              </a:ext>
            </a:extLst>
          </p:cNvPr>
          <p:cNvGraphicFramePr>
            <a:graphicFrameLocks noGrp="1"/>
          </p:cNvGraphicFramePr>
          <p:nvPr>
            <p:extLst>
              <p:ext uri="{D42A27DB-BD31-4B8C-83A1-F6EECF244321}">
                <p14:modId xmlns:p14="http://schemas.microsoft.com/office/powerpoint/2010/main" val="1589464585"/>
              </p:ext>
            </p:extLst>
          </p:nvPr>
        </p:nvGraphicFramePr>
        <p:xfrm>
          <a:off x="0" y="923454"/>
          <a:ext cx="12192001" cy="5934544"/>
        </p:xfrm>
        <a:graphic>
          <a:graphicData uri="http://schemas.openxmlformats.org/drawingml/2006/table">
            <a:tbl>
              <a:tblPr firstRow="1" bandRow="1">
                <a:tableStyleId>{5C22544A-7EE6-4342-B048-85BDC9FD1C3A}</a:tableStyleId>
              </a:tblPr>
              <a:tblGrid>
                <a:gridCol w="1253446">
                  <a:extLst>
                    <a:ext uri="{9D8B030D-6E8A-4147-A177-3AD203B41FA5}">
                      <a16:colId xmlns:a16="http://schemas.microsoft.com/office/drawing/2014/main" val="2055658794"/>
                    </a:ext>
                  </a:extLst>
                </a:gridCol>
                <a:gridCol w="854322">
                  <a:extLst>
                    <a:ext uri="{9D8B030D-6E8A-4147-A177-3AD203B41FA5}">
                      <a16:colId xmlns:a16="http://schemas.microsoft.com/office/drawing/2014/main" val="3919127931"/>
                    </a:ext>
                  </a:extLst>
                </a:gridCol>
                <a:gridCol w="6304712">
                  <a:extLst>
                    <a:ext uri="{9D8B030D-6E8A-4147-A177-3AD203B41FA5}">
                      <a16:colId xmlns:a16="http://schemas.microsoft.com/office/drawing/2014/main" val="1759313315"/>
                    </a:ext>
                  </a:extLst>
                </a:gridCol>
                <a:gridCol w="2928621">
                  <a:extLst>
                    <a:ext uri="{9D8B030D-6E8A-4147-A177-3AD203B41FA5}">
                      <a16:colId xmlns:a16="http://schemas.microsoft.com/office/drawing/2014/main" val="3157918808"/>
                    </a:ext>
                  </a:extLst>
                </a:gridCol>
                <a:gridCol w="850900">
                  <a:extLst>
                    <a:ext uri="{9D8B030D-6E8A-4147-A177-3AD203B41FA5}">
                      <a16:colId xmlns:a16="http://schemas.microsoft.com/office/drawing/2014/main" val="635944514"/>
                    </a:ext>
                  </a:extLst>
                </a:gridCol>
              </a:tblGrid>
              <a:tr h="525808">
                <a:tc>
                  <a:txBody>
                    <a:bodyPr/>
                    <a:lstStyle/>
                    <a:p>
                      <a:pPr algn="ctr">
                        <a:lnSpc>
                          <a:spcPct val="150000"/>
                        </a:lnSpc>
                      </a:pPr>
                      <a:r>
                        <a:rPr lang="ar-SA" sz="1400" dirty="0">
                          <a:latin typeface="Almarai" pitchFamily="2" charset="-78"/>
                          <a:cs typeface="Almarai" pitchFamily="2" charset="-78"/>
                        </a:rPr>
                        <a:t>نوع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الهدف</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المعادلة</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الوزن</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676092">
                <a:tc>
                  <a:txBody>
                    <a:bodyPr/>
                    <a:lstStyle/>
                    <a:p>
                      <a:pPr algn="ctr" rtl="1" fontAlgn="ctr"/>
                      <a:r>
                        <a:rPr lang="ar-SA" sz="1200" b="1" kern="1200" dirty="0">
                          <a:solidFill>
                            <a:schemeClr val="tx1"/>
                          </a:solidFill>
                          <a:latin typeface="Almarai" pitchFamily="2" charset="-78"/>
                          <a:ea typeface="+mn-ea"/>
                          <a:cs typeface="Almarai" pitchFamily="2" charset="-78"/>
                        </a:rPr>
                        <a:t>ربعي</a:t>
                      </a: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fontAlgn="ctr"/>
                      <a:r>
                        <a:rPr lang="en-US" sz="1200" b="0" kern="1200" dirty="0">
                          <a:solidFill>
                            <a:schemeClr val="tx1"/>
                          </a:solidFill>
                          <a:latin typeface="Almarai" pitchFamily="2" charset="-78"/>
                          <a:ea typeface="+mn-ea"/>
                          <a:cs typeface="Almarai" pitchFamily="2" charset="-78"/>
                        </a:rPr>
                        <a:t>100%</a:t>
                      </a: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(عدد التذكر المغلقة / إجمالي عدد التذاكر (في نطاق اتفاقية مستوى الخدمة)) * 100</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التذاكر المغلقة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082658606"/>
                  </a:ext>
                </a:extLst>
              </a:tr>
              <a:tr h="676092">
                <a:tc>
                  <a:txBody>
                    <a:bodyPr/>
                    <a:lstStyle/>
                    <a:p>
                      <a:pPr algn="ctr" rtl="1" fontAlgn="ctr"/>
                      <a:r>
                        <a:rPr lang="ar-SA" sz="1200" b="1" kern="1200" dirty="0">
                          <a:solidFill>
                            <a:schemeClr val="tx1"/>
                          </a:solidFill>
                          <a:latin typeface="Almarai" pitchFamily="2" charset="-78"/>
                          <a:ea typeface="+mn-ea"/>
                          <a:cs typeface="Almarai" pitchFamily="2" charset="-78"/>
                        </a:rPr>
                        <a:t>ربعي</a:t>
                      </a: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200" b="0" kern="1200" dirty="0">
                          <a:solidFill>
                            <a:schemeClr val="tx1"/>
                          </a:solidFill>
                          <a:latin typeface="Almarai" pitchFamily="2" charset="-78"/>
                          <a:ea typeface="+mn-ea"/>
                          <a:cs typeface="Almarai" pitchFamily="2" charset="-78"/>
                        </a:rPr>
                        <a:t>95%</a:t>
                      </a: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(عدد مرات التصدي للهجمات / إجمالي عدد الهجمات) * 100</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التصدي للاختراقات </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933434925"/>
                  </a:ext>
                </a:extLst>
              </a:tr>
              <a:tr h="676092">
                <a:tc>
                  <a:txBody>
                    <a:bodyPr/>
                    <a:lstStyle/>
                    <a:p>
                      <a:pPr algn="ctr" rtl="1" fontAlgn="ctr"/>
                      <a:r>
                        <a:rPr lang="ar-SA" sz="1200" b="1" kern="1200" dirty="0">
                          <a:solidFill>
                            <a:schemeClr val="tx1"/>
                          </a:solidFill>
                          <a:latin typeface="Almarai" pitchFamily="2" charset="-78"/>
                          <a:ea typeface="+mn-ea"/>
                          <a:cs typeface="Almarai" pitchFamily="2" charset="-78"/>
                        </a:rPr>
                        <a:t>ربعي</a:t>
                      </a: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fontAlgn="ctr"/>
                      <a:r>
                        <a:rPr lang="en-US" sz="1200" b="0" kern="1200" dirty="0">
                          <a:solidFill>
                            <a:schemeClr val="tx1"/>
                          </a:solidFill>
                          <a:latin typeface="Almarai" pitchFamily="2" charset="-78"/>
                          <a:ea typeface="+mn-ea"/>
                          <a:cs typeface="Almarai" pitchFamily="2" charset="-78"/>
                        </a:rPr>
                        <a:t>99%</a:t>
                      </a: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(إجمالي عدد الأيام توفر النظام/ إجمالي عدد الأيام السنوية) * 100</a:t>
                      </a:r>
                      <a:endParaRPr lang="en-US" sz="1200" kern="1200" dirty="0">
                        <a:solidFill>
                          <a:schemeClr val="tx1"/>
                        </a:solidFill>
                        <a:latin typeface="Almarai" pitchFamily="2" charset="-78"/>
                        <a:ea typeface="+mn-ea"/>
                        <a:cs typeface="Almarai" pitchFamily="2" charset="-78"/>
                      </a:endParaRP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توفر أنظمة الشركة خلال ساعات العمل</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175398007"/>
                  </a:ext>
                </a:extLst>
              </a:tr>
              <a:tr h="676092">
                <a:tc>
                  <a:txBody>
                    <a:bodyPr/>
                    <a:lstStyle/>
                    <a:p>
                      <a:pPr algn="ctr" rtl="1" fontAlgn="ctr"/>
                      <a:r>
                        <a:rPr kumimoji="0" lang="ar-SA" sz="1200" b="0" i="0" u="none" strike="noStrike" kern="1200" cap="none" spc="0" normalizeH="0" baseline="0" noProof="0" dirty="0">
                          <a:ln>
                            <a:noFill/>
                          </a:ln>
                          <a:solidFill>
                            <a:schemeClr val="tx1"/>
                          </a:solidFill>
                          <a:effectLst/>
                          <a:uLnTx/>
                          <a:uFillTx/>
                          <a:latin typeface="Almarai" pitchFamily="2" charset="-78"/>
                          <a:ea typeface="+mn-ea"/>
                          <a:cs typeface="Almarai" pitchFamily="2" charset="-78"/>
                        </a:rPr>
                        <a:t>سنوي</a:t>
                      </a:r>
                      <a:endParaRPr lang="ar-SA" sz="1200" b="0" kern="1200" dirty="0">
                        <a:solidFill>
                          <a:schemeClr val="tx1"/>
                        </a:solidFill>
                        <a:latin typeface="Almarai" pitchFamily="2" charset="-78"/>
                        <a:ea typeface="+mn-ea"/>
                        <a:cs typeface="Almarai" pitchFamily="2" charset="-78"/>
                      </a:endParaRP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fontAlgn="ctr"/>
                      <a:r>
                        <a:rPr lang="en-US" sz="1200" b="0" kern="1200" dirty="0">
                          <a:solidFill>
                            <a:schemeClr val="tx1"/>
                          </a:solidFill>
                          <a:latin typeface="Almarai" pitchFamily="2" charset="-78"/>
                          <a:ea typeface="+mn-ea"/>
                          <a:cs typeface="Almarai" pitchFamily="2" charset="-78"/>
                        </a:rPr>
                        <a:t>100%</a:t>
                      </a: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(عدد عمليات النسخ الناجحة / إجمالي عدد عمليات النسخ) * 100</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عمليات النسخ الاحتياطي الناجحة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439730819"/>
                  </a:ext>
                </a:extLst>
              </a:tr>
              <a:tr h="676092">
                <a:tc>
                  <a:txBody>
                    <a:bodyPr/>
                    <a:lstStyle/>
                    <a:p>
                      <a:pPr algn="ctr" rtl="1" fontAlgn="ctr"/>
                      <a:r>
                        <a:rPr lang="ar-SA" sz="1200" b="1" kern="1200" dirty="0">
                          <a:solidFill>
                            <a:schemeClr val="tx1"/>
                          </a:solidFill>
                          <a:latin typeface="Almarai" pitchFamily="2" charset="-78"/>
                          <a:ea typeface="+mn-ea"/>
                          <a:cs typeface="Almarai" pitchFamily="2" charset="-78"/>
                        </a:rPr>
                        <a:t>ربعي</a:t>
                      </a: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fontAlgn="ctr"/>
                      <a:r>
                        <a:rPr lang="en-US" sz="1200" b="0" kern="1200" dirty="0">
                          <a:solidFill>
                            <a:schemeClr val="tx1"/>
                          </a:solidFill>
                          <a:latin typeface="Almarai" pitchFamily="2" charset="-78"/>
                          <a:ea typeface="+mn-ea"/>
                          <a:cs typeface="Almarai" pitchFamily="2" charset="-78"/>
                        </a:rPr>
                        <a:t>100%</a:t>
                      </a: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a:t>
                      </a:r>
                      <a:r>
                        <a:rPr lang="ar-SA" sz="1200" kern="1200" dirty="0">
                          <a:solidFill>
                            <a:schemeClr val="tx1"/>
                          </a:solidFill>
                          <a:latin typeface="Almarai" pitchFamily="2" charset="-78"/>
                          <a:ea typeface="+mn-ea"/>
                          <a:cs typeface="Almarai" pitchFamily="2" charset="-78"/>
                        </a:rPr>
                        <a:t>عدد الطلبات المغلقة / إجمالي عدد الطلبات المخططة) * 100</a:t>
                      </a:r>
                    </a:p>
                    <a:p>
                      <a:pPr marL="0" marR="0" lvl="0" indent="0" algn="r" defTabSz="914400" rtl="1" eaLnBrk="1" fontAlgn="ctr" latinLnBrk="0" hangingPunct="1">
                        <a:lnSpc>
                          <a:spcPct val="100000"/>
                        </a:lnSpc>
                        <a:spcBef>
                          <a:spcPts val="0"/>
                        </a:spcBef>
                        <a:spcAft>
                          <a:spcPts val="0"/>
                        </a:spcAft>
                        <a:buClrTx/>
                        <a:buSzTx/>
                        <a:buFontTx/>
                        <a:buNone/>
                        <a:tabLst/>
                        <a:defRPr/>
                      </a:pPr>
                      <a:endParaRPr lang="en-US" sz="1200" dirty="0">
                        <a:solidFill>
                          <a:schemeClr val="tx1"/>
                        </a:solidFill>
                        <a:latin typeface="Almarai" pitchFamily="2" charset="-78"/>
                        <a:cs typeface="Almarai" pitchFamily="2" charset="-78"/>
                      </a:endParaRP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en-US" sz="1200" kern="1200" dirty="0">
                          <a:solidFill>
                            <a:schemeClr val="tx1"/>
                          </a:solidFill>
                          <a:latin typeface="Almarai" pitchFamily="2" charset="-78"/>
                          <a:ea typeface="+mn-ea"/>
                          <a:cs typeface="Almarai" pitchFamily="2" charset="-78"/>
                        </a:rPr>
                        <a:t>%</a:t>
                      </a:r>
                      <a:r>
                        <a:rPr lang="ar-SA" sz="1200" kern="1200" dirty="0">
                          <a:solidFill>
                            <a:schemeClr val="tx1"/>
                          </a:solidFill>
                          <a:latin typeface="Almarai" pitchFamily="2" charset="-78"/>
                          <a:ea typeface="+mn-ea"/>
                          <a:cs typeface="Almarai" pitchFamily="2" charset="-78"/>
                        </a:rPr>
                        <a:t> </a:t>
                      </a:r>
                      <a:r>
                        <a:rPr lang="ar-SA" sz="1200" b="0" kern="1200" dirty="0">
                          <a:solidFill>
                            <a:schemeClr val="tx1"/>
                          </a:solidFill>
                          <a:latin typeface="Almarai" pitchFamily="2" charset="-78"/>
                          <a:ea typeface="+mn-ea"/>
                          <a:cs typeface="Almarai" pitchFamily="2" charset="-78"/>
                        </a:rPr>
                        <a:t>% تحسينات في  الـ</a:t>
                      </a:r>
                      <a:r>
                        <a:rPr lang="en-US" sz="1200" b="0" kern="1200" dirty="0">
                          <a:solidFill>
                            <a:schemeClr val="tx1"/>
                          </a:solidFill>
                          <a:latin typeface="Almarai" pitchFamily="2" charset="-78"/>
                          <a:ea typeface="+mn-ea"/>
                          <a:cs typeface="Almarai" pitchFamily="2" charset="-78"/>
                        </a:rPr>
                        <a:t> ERP</a:t>
                      </a:r>
                      <a:endParaRPr lang="ar-SA" sz="1200" b="0" kern="1200" dirty="0">
                        <a:solidFill>
                          <a:schemeClr val="tx1"/>
                        </a:solidFill>
                        <a:latin typeface="Almarai" pitchFamily="2" charset="-78"/>
                        <a:ea typeface="+mn-ea"/>
                        <a:cs typeface="Almarai" pitchFamily="2" charset="-78"/>
                      </a:endParaRP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2664812974"/>
                  </a:ext>
                </a:extLst>
              </a:tr>
              <a:tr h="676092">
                <a:tc>
                  <a:txBody>
                    <a:bodyPr/>
                    <a:lstStyle/>
                    <a:p>
                      <a:pPr algn="ctr" rtl="1" fontAlgn="ctr"/>
                      <a:r>
                        <a:rPr lang="ar-SA" sz="1200" b="1" kern="1200" dirty="0">
                          <a:solidFill>
                            <a:schemeClr val="tx1"/>
                          </a:solidFill>
                          <a:latin typeface="Almarai" pitchFamily="2" charset="-78"/>
                          <a:ea typeface="+mn-ea"/>
                          <a:cs typeface="Almarai" pitchFamily="2" charset="-78"/>
                        </a:rPr>
                        <a:t>ربعي</a:t>
                      </a: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fontAlgn="ctr"/>
                      <a:r>
                        <a:rPr lang="en-US" sz="1200" b="0" kern="1200" dirty="0">
                          <a:solidFill>
                            <a:schemeClr val="tx1"/>
                          </a:solidFill>
                          <a:latin typeface="Almarai" pitchFamily="2" charset="-78"/>
                          <a:ea typeface="+mn-ea"/>
                          <a:cs typeface="Almarai" pitchFamily="2" charset="-78"/>
                        </a:rPr>
                        <a:t>100%</a:t>
                      </a:r>
                    </a:p>
                  </a:txBody>
                  <a:tcPr marL="0" marR="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(عدد الطلبات المغلقة / إجمالي عدد الطلبات المخططة) * 100</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تحسين عمليات الأنظمة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25%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4211585996"/>
                  </a:ext>
                </a:extLst>
              </a:tr>
              <a:tr h="676092">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سنوي</a:t>
                      </a:r>
                      <a:endParaRPr lang="en-US" sz="1200" b="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b="0" dirty="0">
                          <a:solidFill>
                            <a:schemeClr val="tx1"/>
                          </a:solidFill>
                          <a:latin typeface="Almarai" pitchFamily="2" charset="-78"/>
                          <a:cs typeface="Almarai" pitchFamily="2" charset="-78"/>
                        </a:rPr>
                        <a:t>1</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لا يوجد معادلة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المنتجات / الخدمات الجديدة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15%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2718382164"/>
                  </a:ext>
                </a:extLst>
              </a:tr>
              <a:tr h="676092">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سنوي</a:t>
                      </a:r>
                      <a:endParaRPr lang="en-US" sz="1200" b="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b="0" dirty="0">
                          <a:solidFill>
                            <a:schemeClr val="tx1"/>
                          </a:solidFill>
                          <a:latin typeface="Almarai" pitchFamily="2" charset="-78"/>
                          <a:cs typeface="Almarai" pitchFamily="2" charset="-78"/>
                        </a:rPr>
                        <a:t>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لا يوجد معادلة ( سيتم تسليمها على 3 مراحل ) المرحلة الأولى ( بناء ) 50% المرحلة الثانية ( الربط والترحيل مع الأنظمة ) 25% المرحلة الثالثة (  التفعيل الكامل ) 25% </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%تطوير بيئة سحابية محلية خاصة برافد</a:t>
                      </a:r>
                      <a:endParaRPr lang="en-US" sz="1200" b="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2389008286"/>
                  </a:ext>
                </a:extLst>
              </a:tr>
            </a:tbl>
          </a:graphicData>
        </a:graphic>
      </p:graphicFrame>
    </p:spTree>
    <p:extLst>
      <p:ext uri="{BB962C8B-B14F-4D97-AF65-F5344CB8AC3E}">
        <p14:creationId xmlns:p14="http://schemas.microsoft.com/office/powerpoint/2010/main" val="11985408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789BD45-5C08-4000-8B10-38CE89618E2B}"/>
              </a:ext>
            </a:extLst>
          </p:cNvPr>
          <p:cNvGraphicFramePr>
            <a:graphicFrameLocks noGrp="1"/>
          </p:cNvGraphicFramePr>
          <p:nvPr>
            <p:extLst>
              <p:ext uri="{D42A27DB-BD31-4B8C-83A1-F6EECF244321}">
                <p14:modId xmlns:p14="http://schemas.microsoft.com/office/powerpoint/2010/main" val="3425338238"/>
              </p:ext>
            </p:extLst>
          </p:nvPr>
        </p:nvGraphicFramePr>
        <p:xfrm>
          <a:off x="0" y="759300"/>
          <a:ext cx="12198327" cy="6098700"/>
        </p:xfrm>
        <a:graphic>
          <a:graphicData uri="http://schemas.openxmlformats.org/drawingml/2006/table">
            <a:tbl>
              <a:tblPr firstRow="1" lastRow="1" bandRow="1">
                <a:tableStyleId>{BC89EF96-8CEA-46FF-86C4-4CE0E7609802}</a:tableStyleId>
              </a:tblPr>
              <a:tblGrid>
                <a:gridCol w="3005751">
                  <a:extLst>
                    <a:ext uri="{9D8B030D-6E8A-4147-A177-3AD203B41FA5}">
                      <a16:colId xmlns:a16="http://schemas.microsoft.com/office/drawing/2014/main" val="3528422332"/>
                    </a:ext>
                  </a:extLst>
                </a:gridCol>
                <a:gridCol w="155262">
                  <a:extLst>
                    <a:ext uri="{9D8B030D-6E8A-4147-A177-3AD203B41FA5}">
                      <a16:colId xmlns:a16="http://schemas.microsoft.com/office/drawing/2014/main" val="2329319874"/>
                    </a:ext>
                  </a:extLst>
                </a:gridCol>
                <a:gridCol w="1383828">
                  <a:extLst>
                    <a:ext uri="{9D8B030D-6E8A-4147-A177-3AD203B41FA5}">
                      <a16:colId xmlns:a16="http://schemas.microsoft.com/office/drawing/2014/main" val="3950581634"/>
                    </a:ext>
                  </a:extLst>
                </a:gridCol>
                <a:gridCol w="136628">
                  <a:extLst>
                    <a:ext uri="{9D8B030D-6E8A-4147-A177-3AD203B41FA5}">
                      <a16:colId xmlns:a16="http://schemas.microsoft.com/office/drawing/2014/main" val="1912226429"/>
                    </a:ext>
                  </a:extLst>
                </a:gridCol>
                <a:gridCol w="632916">
                  <a:extLst>
                    <a:ext uri="{9D8B030D-6E8A-4147-A177-3AD203B41FA5}">
                      <a16:colId xmlns:a16="http://schemas.microsoft.com/office/drawing/2014/main" val="290041181"/>
                    </a:ext>
                  </a:extLst>
                </a:gridCol>
                <a:gridCol w="121996">
                  <a:extLst>
                    <a:ext uri="{9D8B030D-6E8A-4147-A177-3AD203B41FA5}">
                      <a16:colId xmlns:a16="http://schemas.microsoft.com/office/drawing/2014/main" val="2907307227"/>
                    </a:ext>
                  </a:extLst>
                </a:gridCol>
                <a:gridCol w="629442">
                  <a:extLst>
                    <a:ext uri="{9D8B030D-6E8A-4147-A177-3AD203B41FA5}">
                      <a16:colId xmlns:a16="http://schemas.microsoft.com/office/drawing/2014/main" val="986504599"/>
                    </a:ext>
                  </a:extLst>
                </a:gridCol>
                <a:gridCol w="116840">
                  <a:extLst>
                    <a:ext uri="{9D8B030D-6E8A-4147-A177-3AD203B41FA5}">
                      <a16:colId xmlns:a16="http://schemas.microsoft.com/office/drawing/2014/main" val="3250872474"/>
                    </a:ext>
                  </a:extLst>
                </a:gridCol>
                <a:gridCol w="589330">
                  <a:extLst>
                    <a:ext uri="{9D8B030D-6E8A-4147-A177-3AD203B41FA5}">
                      <a16:colId xmlns:a16="http://schemas.microsoft.com/office/drawing/2014/main" val="3727045848"/>
                    </a:ext>
                  </a:extLst>
                </a:gridCol>
                <a:gridCol w="116837">
                  <a:extLst>
                    <a:ext uri="{9D8B030D-6E8A-4147-A177-3AD203B41FA5}">
                      <a16:colId xmlns:a16="http://schemas.microsoft.com/office/drawing/2014/main" val="3571311527"/>
                    </a:ext>
                  </a:extLst>
                </a:gridCol>
                <a:gridCol w="670814">
                  <a:extLst>
                    <a:ext uri="{9D8B030D-6E8A-4147-A177-3AD203B41FA5}">
                      <a16:colId xmlns:a16="http://schemas.microsoft.com/office/drawing/2014/main" val="692657871"/>
                    </a:ext>
                  </a:extLst>
                </a:gridCol>
                <a:gridCol w="1068308">
                  <a:extLst>
                    <a:ext uri="{9D8B030D-6E8A-4147-A177-3AD203B41FA5}">
                      <a16:colId xmlns:a16="http://schemas.microsoft.com/office/drawing/2014/main" val="786455139"/>
                    </a:ext>
                  </a:extLst>
                </a:gridCol>
                <a:gridCol w="1973657">
                  <a:extLst>
                    <a:ext uri="{9D8B030D-6E8A-4147-A177-3AD203B41FA5}">
                      <a16:colId xmlns:a16="http://schemas.microsoft.com/office/drawing/2014/main" val="313549563"/>
                    </a:ext>
                  </a:extLst>
                </a:gridCol>
                <a:gridCol w="706170">
                  <a:extLst>
                    <a:ext uri="{9D8B030D-6E8A-4147-A177-3AD203B41FA5}">
                      <a16:colId xmlns:a16="http://schemas.microsoft.com/office/drawing/2014/main" val="2142733880"/>
                    </a:ext>
                  </a:extLst>
                </a:gridCol>
                <a:gridCol w="890548">
                  <a:extLst>
                    <a:ext uri="{9D8B030D-6E8A-4147-A177-3AD203B41FA5}">
                      <a16:colId xmlns:a16="http://schemas.microsoft.com/office/drawing/2014/main" val="481353969"/>
                    </a:ext>
                  </a:extLst>
                </a:gridCol>
              </a:tblGrid>
              <a:tr h="444723">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dirty="0">
                          <a:ln>
                            <a:noFill/>
                          </a:ln>
                          <a:solidFill>
                            <a:schemeClr val="bg1"/>
                          </a:solidFill>
                          <a:effectLst/>
                          <a:uLnTx/>
                          <a:uFillTx/>
                          <a:latin typeface="Almarai" pitchFamily="2" charset="-78"/>
                          <a:ea typeface="+mn-ea"/>
                          <a:cs typeface="Almarai" pitchFamily="2" charset="-78"/>
                        </a:rPr>
                        <a:t>الملاحظات</a:t>
                      </a:r>
                      <a:endParaRPr kumimoji="0" lang="en-GB" sz="1400" b="1" i="0" u="none" strike="noStrike" kern="1200" cap="none" spc="40" normalizeH="0" baseline="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النتيجة النهائية</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endParaRPr kumimoji="0" lang="en-GB" sz="1200" b="0" i="0" u="none" strike="noStrike" kern="1200" cap="none" spc="40" normalizeH="0" baseline="0" noProof="0" dirty="0">
                        <a:ln>
                          <a:noFill/>
                        </a:ln>
                        <a:solidFill>
                          <a:schemeClr val="tx1">
                            <a:lumMod val="75000"/>
                            <a:lumOff val="25000"/>
                          </a:schemeClr>
                        </a:solidFill>
                        <a:effectLst/>
                        <a:uLnTx/>
                        <a:uFillTx/>
                        <a:latin typeface="Almarai Bold" pitchFamily="2" charset="-78"/>
                        <a:ea typeface="+mn-ea"/>
                        <a:cs typeface="Almarai Bold"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Q4</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Q3</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r>
                        <a:rPr lang="en-US" sz="1400" b="1" dirty="0">
                          <a:solidFill>
                            <a:schemeClr val="bg1"/>
                          </a:solidFill>
                          <a:latin typeface="Almarai" pitchFamily="2" charset="-78"/>
                          <a:cs typeface="Almarai" pitchFamily="2" charset="-78"/>
                        </a:rPr>
                        <a:t>Q2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002060"/>
                    </a:solidFill>
                  </a:tcPr>
                </a:tc>
                <a:tc hMerge="1">
                  <a:txBody>
                    <a:bodyPr/>
                    <a:lstStyle/>
                    <a:p>
                      <a:endParaRPr dirty="0"/>
                    </a:p>
                  </a:txBody>
                  <a:tcPr anchor="ctr">
                    <a:lnL w="12700" cap="flat" cmpd="sng" algn="ctr">
                      <a:solidFill>
                        <a:schemeClr val="bg1">
                          <a:lumMod val="85000"/>
                        </a:schemeClr>
                      </a:solidFill>
                      <a:prstDash val="solid"/>
                      <a:round/>
                      <a:headEnd type="none" w="med" len="med"/>
                      <a:tailEnd type="none" w="med" len="med"/>
                    </a:lnL>
                    <a:solidFill>
                      <a:schemeClr val="bg1">
                        <a:lumMod val="95000"/>
                      </a:schemeClr>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US" sz="1400" b="1" i="0" u="none" strike="noStrike" kern="1200" cap="none" spc="40" normalizeH="0" baseline="0" dirty="0">
                          <a:ln>
                            <a:noFill/>
                          </a:ln>
                          <a:solidFill>
                            <a:schemeClr val="bg1"/>
                          </a:solidFill>
                          <a:effectLst/>
                          <a:uLnTx/>
                          <a:uFillTx/>
                          <a:latin typeface="Almarai" pitchFamily="2" charset="-78"/>
                          <a:ea typeface="+mn-ea"/>
                          <a:cs typeface="Almarai" pitchFamily="2" charset="-78"/>
                        </a:rPr>
                        <a:t>Q1</a:t>
                      </a:r>
                      <a:endParaRPr kumimoji="0" sz="1400" b="1" i="0" u="none" strike="noStrike" kern="1200" cap="none" spc="40" normalizeH="0" baseline="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2"/>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المستهدف</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الوزن</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نوع 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506390058"/>
                  </a:ext>
                </a:extLst>
              </a:tr>
              <a:tr h="538423">
                <a:tc>
                  <a:txBody>
                    <a:bodyPr/>
                    <a:lstStyle/>
                    <a:p>
                      <a:pPr marL="0" marR="0" lvl="0" indent="0" algn="justLow" defTabSz="914400" rtl="1" eaLnBrk="1" fontAlgn="b" latinLnBrk="0" hangingPunct="1">
                        <a:lnSpc>
                          <a:spcPct val="100000"/>
                        </a:lnSpc>
                        <a:spcBef>
                          <a:spcPts val="0"/>
                        </a:spcBef>
                        <a:spcAft>
                          <a:spcPts val="0"/>
                        </a:spcAft>
                        <a:buClrTx/>
                        <a:buSzTx/>
                        <a:buFontTx/>
                        <a:buNone/>
                        <a:tabLst/>
                        <a:defRPr/>
                      </a:pP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Q2</a:t>
                      </a: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 لم يتم إغلاق جميع التذاكر نظرا لتعقيد بعض المتطلبات التي استدعت وقتا أطول للمعالجة.</a:t>
                      </a: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p>
                      <a:pPr marL="0" marR="0" lvl="0" indent="0" algn="justLow" defTabSz="914400" rtl="1" eaLnBrk="1" fontAlgn="b" latinLnBrk="0" hangingPunct="1">
                        <a:lnSpc>
                          <a:spcPct val="100000"/>
                        </a:lnSpc>
                        <a:spcBef>
                          <a:spcPts val="0"/>
                        </a:spcBef>
                        <a:spcAft>
                          <a:spcPts val="0"/>
                        </a:spcAft>
                        <a:buClrTx/>
                        <a:buSzTx/>
                        <a:buFontTx/>
                        <a:buNone/>
                        <a:tabLst/>
                        <a:defRPr/>
                      </a:pPr>
                      <a:endPar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solidFill>
                          <a:schemeClr val="tx1"/>
                        </a:solidFill>
                        <a:latin typeface="Almarai" pitchFamily="2" charset="-78"/>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99%</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rgbClr val="92D05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100%</a:t>
                      </a: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fontAlgn="ctr"/>
                      <a:r>
                        <a:rPr lang="en-US" sz="1200" b="0" kern="1200" dirty="0">
                          <a:solidFill>
                            <a:schemeClr val="tx1"/>
                          </a:solidFill>
                          <a:latin typeface="Almarai" pitchFamily="2" charset="-78"/>
                          <a:ea typeface="+mn-ea"/>
                          <a:cs typeface="Almarai" pitchFamily="2" charset="-78"/>
                        </a:rPr>
                        <a:t>100%</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r>
                        <a:rPr lang="ar-SA" sz="1200" b="0" kern="1200" dirty="0">
                          <a:solidFill>
                            <a:schemeClr val="tx1"/>
                          </a:solidFill>
                          <a:latin typeface="Almarai" pitchFamily="2" charset="-78"/>
                          <a:ea typeface="+mn-ea"/>
                          <a:cs typeface="Almarai" pitchFamily="2" charset="-78"/>
                        </a:rPr>
                        <a:t>% التذاكر المغلقة</a:t>
                      </a:r>
                    </a:p>
                  </a:txBody>
                  <a:tcPr marL="0" marR="9525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b="0" dirty="0">
                          <a:solidFill>
                            <a:schemeClr val="tx1"/>
                          </a:solidFill>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fontAlgn="ctr"/>
                      <a:r>
                        <a:rPr lang="ar-SA" sz="1200" b="1" kern="1200" dirty="0">
                          <a:solidFill>
                            <a:schemeClr val="tx1"/>
                          </a:solidFill>
                          <a:latin typeface="Almarai" pitchFamily="2" charset="-78"/>
                          <a:ea typeface="+mn-ea"/>
                          <a:cs typeface="Almarai" pitchFamily="2" charset="-78"/>
                        </a:rPr>
                        <a:t>ربعي</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345933"/>
                  </a:ext>
                </a:extLst>
              </a:tr>
              <a:tr h="293250">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 -</a:t>
                      </a: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Q1</a:t>
                      </a: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تحقق المؤشر بفضل فعالية أنظمة الحماية</a:t>
                      </a: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100%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100%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200" b="0" kern="1200" dirty="0">
                          <a:solidFill>
                            <a:schemeClr val="tx1"/>
                          </a:solidFill>
                          <a:latin typeface="Almarai" pitchFamily="2" charset="-78"/>
                          <a:ea typeface="+mn-ea"/>
                          <a:cs typeface="Almarai" pitchFamily="2" charset="-78"/>
                        </a:rPr>
                        <a:t>95%</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r>
                        <a:rPr lang="ar-SA" sz="1200" b="0" kern="1200" dirty="0">
                          <a:solidFill>
                            <a:schemeClr val="tx1"/>
                          </a:solidFill>
                          <a:latin typeface="Almarai" pitchFamily="2" charset="-78"/>
                          <a:ea typeface="+mn-ea"/>
                          <a:cs typeface="Almarai" pitchFamily="2" charset="-78"/>
                        </a:rPr>
                        <a:t>% التصدي للاختراقات </a:t>
                      </a:r>
                    </a:p>
                  </a:txBody>
                  <a:tcPr marL="0" marR="9525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b="0" dirty="0">
                          <a:solidFill>
                            <a:schemeClr val="tx1"/>
                          </a:solidFill>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fontAlgn="ctr"/>
                      <a:r>
                        <a:rPr lang="ar-SA" sz="1200" b="1" kern="1200" dirty="0">
                          <a:solidFill>
                            <a:schemeClr val="tx1"/>
                          </a:solidFill>
                          <a:latin typeface="Almarai" pitchFamily="2" charset="-78"/>
                          <a:ea typeface="+mn-ea"/>
                          <a:cs typeface="Almarai" pitchFamily="2" charset="-78"/>
                        </a:rPr>
                        <a:t>ربعي</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2732480"/>
                  </a:ext>
                </a:extLst>
              </a:tr>
              <a:tr h="323152">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100%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99%</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fontAlgn="ctr"/>
                      <a:r>
                        <a:rPr lang="en-US" sz="1200" b="0" kern="1200" dirty="0">
                          <a:solidFill>
                            <a:schemeClr val="tx1"/>
                          </a:solidFill>
                          <a:latin typeface="Almarai" pitchFamily="2" charset="-78"/>
                          <a:ea typeface="+mn-ea"/>
                          <a:cs typeface="Almarai" pitchFamily="2" charset="-78"/>
                        </a:rPr>
                        <a:t>99%</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r>
                        <a:rPr lang="ar-SA" sz="1200" b="0" kern="1200" dirty="0">
                          <a:solidFill>
                            <a:schemeClr val="tx1"/>
                          </a:solidFill>
                          <a:latin typeface="Almarai" pitchFamily="2" charset="-78"/>
                          <a:ea typeface="+mn-ea"/>
                          <a:cs typeface="Almarai" pitchFamily="2" charset="-78"/>
                        </a:rPr>
                        <a:t>% توفر أنظمة الشركة خلال ساعات العمل</a:t>
                      </a:r>
                    </a:p>
                  </a:txBody>
                  <a:tcPr marL="0" marR="9525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b="0" dirty="0">
                          <a:solidFill>
                            <a:schemeClr val="tx1"/>
                          </a:solidFill>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fontAlgn="ctr"/>
                      <a:r>
                        <a:rPr lang="ar-SA" sz="1200" b="1" kern="1200" dirty="0">
                          <a:solidFill>
                            <a:schemeClr val="tx1"/>
                          </a:solidFill>
                          <a:latin typeface="Almarai" pitchFamily="2" charset="-78"/>
                          <a:ea typeface="+mn-ea"/>
                          <a:cs typeface="Almarai" pitchFamily="2" charset="-78"/>
                        </a:rPr>
                        <a:t>ربعي</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1117382"/>
                  </a:ext>
                </a:extLst>
              </a:tr>
              <a:tr h="376847">
                <a:tc>
                  <a:txBody>
                    <a:bodyPr/>
                    <a:lstStyle/>
                    <a:p>
                      <a:pPr marL="0" marR="0" lvl="0" indent="0" algn="r" defTabSz="914400" rtl="1" eaLnBrk="1" fontAlgn="b"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a:t>
                      </a:r>
                      <a:r>
                        <a:rPr kumimoji="0" lang="en-US" sz="1200" b="1"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Q1</a:t>
                      </a:r>
                      <a:r>
                        <a:rPr kumimoji="0" lang="ar-SA"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تحقق المؤشر بفضل انتظام عمليات النسخ وفعالية المتابعة الدورية</a:t>
                      </a: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100%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rgbClr val="E8E8E8"/>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100%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fontAlgn="ctr"/>
                      <a:r>
                        <a:rPr lang="en-US" sz="1200" b="0" kern="1200" dirty="0">
                          <a:solidFill>
                            <a:schemeClr val="tx1"/>
                          </a:solidFill>
                          <a:latin typeface="Almarai" pitchFamily="2" charset="-78"/>
                          <a:ea typeface="+mn-ea"/>
                          <a:cs typeface="Almarai" pitchFamily="2" charset="-78"/>
                        </a:rPr>
                        <a:t>100%</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r>
                        <a:rPr lang="ar-SA" sz="1200" b="0" kern="1200" dirty="0">
                          <a:solidFill>
                            <a:schemeClr val="tx1"/>
                          </a:solidFill>
                          <a:latin typeface="Almarai" pitchFamily="2" charset="-78"/>
                          <a:ea typeface="+mn-ea"/>
                          <a:cs typeface="Almarai" pitchFamily="2" charset="-78"/>
                        </a:rPr>
                        <a:t>% عمليات النسخ الاحتياطي الناجحة</a:t>
                      </a:r>
                    </a:p>
                  </a:txBody>
                  <a:tcPr marL="0" marR="9525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b="0" dirty="0">
                          <a:solidFill>
                            <a:schemeClr val="tx1"/>
                          </a:solidFill>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fontAlgn="ctr"/>
                      <a:r>
                        <a:rPr kumimoji="0" lang="ar-SA" sz="1200" b="0" i="0" u="none" strike="noStrike" kern="1200" cap="none" spc="0" normalizeH="0" baseline="0" noProof="0" dirty="0">
                          <a:ln>
                            <a:noFill/>
                          </a:ln>
                          <a:solidFill>
                            <a:schemeClr val="tx1"/>
                          </a:solidFill>
                          <a:effectLst/>
                          <a:uLnTx/>
                          <a:uFillTx/>
                          <a:latin typeface="Almarai" pitchFamily="2" charset="-78"/>
                          <a:ea typeface="+mn-ea"/>
                          <a:cs typeface="Almarai" pitchFamily="2" charset="-78"/>
                        </a:rPr>
                        <a:t>سنوي</a:t>
                      </a:r>
                      <a:endParaRPr lang="ar-SA" sz="1200" b="0" kern="1200" dirty="0">
                        <a:solidFill>
                          <a:schemeClr val="tx1"/>
                        </a:solidFill>
                        <a:latin typeface="Almarai" pitchFamily="2" charset="-78"/>
                        <a:ea typeface="+mn-ea"/>
                        <a:cs typeface="Almarai" pitchFamily="2" charset="-78"/>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0818292"/>
                  </a:ext>
                </a:extLst>
              </a:tr>
              <a:tr h="586301">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Almarai" pitchFamily="2" charset="-78"/>
                          <a:ea typeface="+mn-ea"/>
                          <a:cs typeface="Almarai" pitchFamily="2" charset="-78"/>
                        </a:rPr>
                        <a:t>Q1</a:t>
                      </a:r>
                      <a:r>
                        <a:rPr lang="ar-SA" sz="1200" b="0" kern="1200" dirty="0">
                          <a:solidFill>
                            <a:schemeClr val="tx1"/>
                          </a:solidFill>
                          <a:latin typeface="Almarai" pitchFamily="2" charset="-78"/>
                          <a:ea typeface="+mn-ea"/>
                          <a:cs typeface="Almarai" pitchFamily="2" charset="-78"/>
                        </a:rPr>
                        <a:t>-إطلاق الخدمة الذاتية في سهل</a:t>
                      </a:r>
                      <a:endParaRPr lang="en-US" sz="1200" b="0" kern="1200" dirty="0">
                        <a:solidFill>
                          <a:schemeClr val="tx1"/>
                        </a:solidFill>
                        <a:latin typeface="Almarai" pitchFamily="2" charset="-78"/>
                        <a:ea typeface="+mn-ea"/>
                        <a:cs typeface="Almarai" pitchFamily="2" charset="-78"/>
                      </a:endParaRPr>
                    </a:p>
                  </a:txBody>
                  <a:tcPr marL="22860" marR="22860" marT="22860" marB="22860"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kern="1200" dirty="0">
                        <a:solidFill>
                          <a:schemeClr val="tx1"/>
                        </a:solidFill>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100%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rgbClr val="E8E8E8"/>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100%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fontAlgn="ctr"/>
                      <a:r>
                        <a:rPr lang="en-US" sz="1200" b="0" kern="1200" dirty="0">
                          <a:solidFill>
                            <a:schemeClr val="tx1"/>
                          </a:solidFill>
                          <a:latin typeface="Almarai" pitchFamily="2" charset="-78"/>
                          <a:ea typeface="+mn-ea"/>
                          <a:cs typeface="Almarai" pitchFamily="2" charset="-78"/>
                        </a:rPr>
                        <a:t>100%</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1" fontAlgn="ctr"/>
                      <a:r>
                        <a:rPr lang="ar-SA" sz="1200" b="0" kern="1200" dirty="0">
                          <a:solidFill>
                            <a:schemeClr val="tx1"/>
                          </a:solidFill>
                          <a:latin typeface="Almarai" pitchFamily="2" charset="-78"/>
                          <a:ea typeface="+mn-ea"/>
                          <a:cs typeface="Almarai" pitchFamily="2" charset="-78"/>
                        </a:rPr>
                        <a:t>% تحسينات في  الـ</a:t>
                      </a:r>
                      <a:r>
                        <a:rPr lang="en-US" sz="1200" b="0" kern="1200" dirty="0">
                          <a:solidFill>
                            <a:schemeClr val="tx1"/>
                          </a:solidFill>
                          <a:latin typeface="Almarai" pitchFamily="2" charset="-78"/>
                          <a:ea typeface="+mn-ea"/>
                          <a:cs typeface="Almarai" pitchFamily="2" charset="-78"/>
                        </a:rPr>
                        <a:t> ERP</a:t>
                      </a:r>
                      <a:endParaRPr lang="ar-SA" sz="1200" b="0" kern="1200" dirty="0">
                        <a:solidFill>
                          <a:schemeClr val="tx1"/>
                        </a:solidFill>
                        <a:latin typeface="Almarai" pitchFamily="2" charset="-78"/>
                        <a:ea typeface="+mn-ea"/>
                        <a:cs typeface="Almarai" pitchFamily="2" charset="-78"/>
                      </a:endParaRPr>
                    </a:p>
                  </a:txBody>
                  <a:tcPr marL="0" marR="9525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fontAlgn="ctr"/>
                      <a:r>
                        <a:rPr lang="ar-SA" sz="1200" b="1" kern="1200" dirty="0">
                          <a:solidFill>
                            <a:schemeClr val="tx1"/>
                          </a:solidFill>
                          <a:latin typeface="Almarai" pitchFamily="2" charset="-78"/>
                          <a:ea typeface="+mn-ea"/>
                          <a:cs typeface="Almarai" pitchFamily="2" charset="-78"/>
                        </a:rPr>
                        <a:t>ربعي</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032384"/>
                  </a:ext>
                </a:extLst>
              </a:tr>
              <a:tr h="861576">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en-US" sz="1200" b="0" kern="1200" dirty="0">
                          <a:solidFill>
                            <a:schemeClr val="tx1"/>
                          </a:solidFill>
                          <a:latin typeface="Almarai" pitchFamily="2" charset="-78"/>
                          <a:ea typeface="+mn-ea"/>
                          <a:cs typeface="Almarai" pitchFamily="2" charset="-78"/>
                        </a:rPr>
                        <a:t> -</a:t>
                      </a:r>
                      <a:r>
                        <a:rPr lang="en-US" sz="1200" b="1" kern="1200" dirty="0">
                          <a:solidFill>
                            <a:schemeClr val="tx1"/>
                          </a:solidFill>
                          <a:latin typeface="Almarai" pitchFamily="2" charset="-78"/>
                          <a:ea typeface="+mn-ea"/>
                          <a:cs typeface="Almarai" pitchFamily="2" charset="-78"/>
                        </a:rPr>
                        <a:t>Q1</a:t>
                      </a:r>
                      <a:r>
                        <a:rPr lang="ar-SA" sz="1200" b="0" kern="1200" dirty="0">
                          <a:solidFill>
                            <a:schemeClr val="tx1"/>
                          </a:solidFill>
                          <a:latin typeface="Almarai" pitchFamily="2" charset="-78"/>
                          <a:ea typeface="+mn-ea"/>
                          <a:cs typeface="Almarai" pitchFamily="2" charset="-78"/>
                        </a:rPr>
                        <a:t>نتيجة زيادة حجم الطلبات وتعديل نطاق بعض الأعمال خلال التنفيذ.</a:t>
                      </a:r>
                      <a:endParaRPr lang="en-US" sz="1200" b="0" kern="1200" dirty="0">
                        <a:solidFill>
                          <a:schemeClr val="tx1"/>
                        </a:solidFill>
                        <a:latin typeface="Almarai" pitchFamily="2" charset="-78"/>
                        <a:ea typeface="+mn-ea"/>
                        <a:cs typeface="Almarai" pitchFamily="2" charset="-78"/>
                      </a:endParaRPr>
                    </a:p>
                    <a:p>
                      <a:pPr marL="0" marR="0" lvl="0" indent="0" algn="r" defTabSz="914400" rtl="1" eaLnBrk="1" fontAlgn="b" latinLnBrk="0" hangingPunct="1">
                        <a:lnSpc>
                          <a:spcPct val="100000"/>
                        </a:lnSpc>
                        <a:spcBef>
                          <a:spcPts val="0"/>
                        </a:spcBef>
                        <a:spcAft>
                          <a:spcPts val="0"/>
                        </a:spcAft>
                        <a:buClrTx/>
                        <a:buSzTx/>
                        <a:buFontTx/>
                        <a:buNone/>
                        <a:tabLst/>
                        <a:defRPr/>
                      </a:pPr>
                      <a:r>
                        <a:rPr lang="en-US" sz="1200" b="1" kern="1200" dirty="0">
                          <a:solidFill>
                            <a:schemeClr val="tx1"/>
                          </a:solidFill>
                          <a:latin typeface="Almarai" pitchFamily="2" charset="-78"/>
                          <a:ea typeface="+mn-ea"/>
                          <a:cs typeface="Almarai" pitchFamily="2" charset="-78"/>
                        </a:rPr>
                        <a:t>Q2</a:t>
                      </a:r>
                      <a:r>
                        <a:rPr lang="ar-SA" sz="1200" b="0" kern="1200" dirty="0">
                          <a:solidFill>
                            <a:schemeClr val="tx1"/>
                          </a:solidFill>
                          <a:latin typeface="Almarai" pitchFamily="2" charset="-78"/>
                          <a:ea typeface="+mn-ea"/>
                          <a:cs typeface="Almarai" pitchFamily="2" charset="-78"/>
                        </a:rPr>
                        <a:t>- ذلك نتيجة عدم وضوح بعض الطلبات، بالإضافة إلى اعتماد بعضها على معلومات أو موضوعات أخرى غير متوفرة حاليا</a:t>
                      </a: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87.5%</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90%</a:t>
                      </a: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fontAlgn="ctr"/>
                      <a:r>
                        <a:rPr lang="en-US" sz="1200" b="0" kern="1200" dirty="0">
                          <a:solidFill>
                            <a:schemeClr val="tx1"/>
                          </a:solidFill>
                          <a:latin typeface="Almarai" pitchFamily="2" charset="-78"/>
                          <a:ea typeface="+mn-ea"/>
                          <a:cs typeface="Almarai" pitchFamily="2" charset="-78"/>
                        </a:rPr>
                        <a:t>100%</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r>
                        <a:rPr lang="ar-SA" sz="1200" b="0" kern="1200" dirty="0">
                          <a:solidFill>
                            <a:schemeClr val="tx1"/>
                          </a:solidFill>
                          <a:latin typeface="Almarai" pitchFamily="2" charset="-78"/>
                          <a:ea typeface="+mn-ea"/>
                          <a:cs typeface="Almarai" pitchFamily="2" charset="-78"/>
                        </a:rPr>
                        <a:t>% تحسين عمليات الأنظمة</a:t>
                      </a:r>
                      <a:r>
                        <a:rPr lang="en-US" sz="1200" b="0" kern="1200" dirty="0">
                          <a:solidFill>
                            <a:schemeClr val="tx1"/>
                          </a:solidFill>
                          <a:latin typeface="Almarai" pitchFamily="2" charset="-78"/>
                          <a:ea typeface="+mn-ea"/>
                          <a:cs typeface="Almarai" pitchFamily="2" charset="-78"/>
                        </a:rPr>
                        <a:t> </a:t>
                      </a:r>
                      <a:r>
                        <a:rPr lang="ar-SA" sz="1200" b="0" kern="1200" dirty="0">
                          <a:solidFill>
                            <a:schemeClr val="tx1"/>
                          </a:solidFill>
                          <a:latin typeface="Almarai" pitchFamily="2" charset="-78"/>
                          <a:ea typeface="+mn-ea"/>
                          <a:cs typeface="Almarai" pitchFamily="2" charset="-78"/>
                        </a:rPr>
                        <a:t>( الأنظمة التشغيلية )</a:t>
                      </a:r>
                    </a:p>
                  </a:txBody>
                  <a:tcPr marL="0" marR="9525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b="0" dirty="0">
                          <a:solidFill>
                            <a:schemeClr val="tx1"/>
                          </a:solidFill>
                          <a:latin typeface="Almarai" pitchFamily="2" charset="-78"/>
                          <a:cs typeface="Almarai" pitchFamily="2" charset="-78"/>
                        </a:rPr>
                        <a:t>25%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fontAlgn="ctr"/>
                      <a:r>
                        <a:rPr lang="ar-SA" sz="1200" b="1" kern="1200" dirty="0">
                          <a:solidFill>
                            <a:schemeClr val="tx1"/>
                          </a:solidFill>
                          <a:latin typeface="Almarai" pitchFamily="2" charset="-78"/>
                          <a:ea typeface="+mn-ea"/>
                          <a:cs typeface="Almarai" pitchFamily="2" charset="-78"/>
                        </a:rPr>
                        <a:t>ربعي</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73618700"/>
                  </a:ext>
                </a:extLst>
              </a:tr>
              <a:tr h="861576">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en-US" sz="1200" b="0" kern="1200" dirty="0">
                          <a:solidFill>
                            <a:schemeClr val="tx1"/>
                          </a:solidFill>
                          <a:latin typeface="Almarai" pitchFamily="2" charset="-78"/>
                          <a:ea typeface="+mn-ea"/>
                          <a:cs typeface="Almarai" pitchFamily="2" charset="-78"/>
                        </a:rPr>
                        <a:t>-</a:t>
                      </a:r>
                      <a:r>
                        <a:rPr lang="en-US" sz="1200" b="1" kern="1200" dirty="0">
                          <a:solidFill>
                            <a:schemeClr val="tx1"/>
                          </a:solidFill>
                          <a:latin typeface="Almarai" pitchFamily="2" charset="-78"/>
                          <a:ea typeface="+mn-ea"/>
                          <a:cs typeface="Almarai" pitchFamily="2" charset="-78"/>
                        </a:rPr>
                        <a:t>Q1</a:t>
                      </a:r>
                      <a:r>
                        <a:rPr lang="ar-SA" sz="1200" b="0" kern="1200" dirty="0">
                          <a:solidFill>
                            <a:schemeClr val="tx1"/>
                          </a:solidFill>
                          <a:latin typeface="Almarai" pitchFamily="2" charset="-78"/>
                          <a:ea typeface="+mn-ea"/>
                          <a:cs typeface="Almarai" pitchFamily="2" charset="-78"/>
                        </a:rPr>
                        <a:t>تطبيق درب+ الاستبيان اليومي في منصة أمان</a:t>
                      </a:r>
                      <a:endParaRPr lang="en-US" sz="1200" b="0" kern="1200" dirty="0">
                        <a:solidFill>
                          <a:schemeClr val="tx1"/>
                        </a:solidFill>
                        <a:latin typeface="Almarai" pitchFamily="2" charset="-78"/>
                        <a:ea typeface="+mn-ea"/>
                        <a:cs typeface="Almarai" pitchFamily="2" charset="-78"/>
                      </a:endParaRPr>
                    </a:p>
                    <a:p>
                      <a:pPr marL="0" marR="0" lvl="0" indent="0" algn="r" defTabSz="914400" rtl="1" eaLnBrk="1" fontAlgn="b" latinLnBrk="0" hangingPunct="1">
                        <a:lnSpc>
                          <a:spcPct val="100000"/>
                        </a:lnSpc>
                        <a:spcBef>
                          <a:spcPts val="0"/>
                        </a:spcBef>
                        <a:spcAft>
                          <a:spcPts val="0"/>
                        </a:spcAft>
                        <a:buClrTx/>
                        <a:buSzTx/>
                        <a:buFontTx/>
                        <a:buNone/>
                        <a:tabLst/>
                        <a:defRPr/>
                      </a:pPr>
                      <a:r>
                        <a:rPr lang="ar-SA" sz="1200" b="0" kern="1200" dirty="0">
                          <a:solidFill>
                            <a:schemeClr val="tx1"/>
                          </a:solidFill>
                          <a:latin typeface="Almarai" pitchFamily="2" charset="-78"/>
                          <a:ea typeface="+mn-ea"/>
                          <a:cs typeface="Almarai" pitchFamily="2" charset="-78"/>
                        </a:rPr>
                        <a:t>تبني توجهات الإدارة نحو الابتكار واستثمار الفرص</a:t>
                      </a:r>
                      <a:endParaRPr lang="en-US" sz="1200" b="0" kern="1200" dirty="0">
                        <a:solidFill>
                          <a:schemeClr val="tx1"/>
                        </a:solidFill>
                        <a:latin typeface="Almarai" pitchFamily="2" charset="-78"/>
                        <a:ea typeface="+mn-ea"/>
                        <a:cs typeface="Almarai" pitchFamily="2" charset="-78"/>
                      </a:endParaRPr>
                    </a:p>
                    <a:p>
                      <a:pPr marL="0" marR="0" lvl="0" indent="0" algn="r" defTabSz="914400" rtl="1" eaLnBrk="1" fontAlgn="b" latinLnBrk="0" hangingPunct="1">
                        <a:lnSpc>
                          <a:spcPct val="100000"/>
                        </a:lnSpc>
                        <a:spcBef>
                          <a:spcPts val="0"/>
                        </a:spcBef>
                        <a:spcAft>
                          <a:spcPts val="0"/>
                        </a:spcAft>
                        <a:buClrTx/>
                        <a:buSzTx/>
                        <a:buFontTx/>
                        <a:buNone/>
                        <a:tabLst/>
                        <a:defRPr/>
                      </a:pPr>
                      <a:r>
                        <a:rPr lang="en-US" sz="1200" b="1" kern="1200" dirty="0">
                          <a:solidFill>
                            <a:schemeClr val="tx1"/>
                          </a:solidFill>
                          <a:latin typeface="Almarai" pitchFamily="2" charset="-78"/>
                          <a:ea typeface="+mn-ea"/>
                          <a:cs typeface="Almarai" pitchFamily="2" charset="-78"/>
                        </a:rPr>
                        <a:t>Q2</a:t>
                      </a:r>
                      <a:r>
                        <a:rPr lang="en-US" sz="1200" b="0" kern="1200" dirty="0">
                          <a:solidFill>
                            <a:schemeClr val="tx1"/>
                          </a:solidFill>
                          <a:latin typeface="Almarai" pitchFamily="2" charset="-78"/>
                          <a:ea typeface="+mn-ea"/>
                          <a:cs typeface="Almarai" pitchFamily="2" charset="-78"/>
                        </a:rPr>
                        <a:t> </a:t>
                      </a:r>
                      <a:r>
                        <a:rPr lang="ar-SA" sz="1200" b="0" kern="1200" dirty="0">
                          <a:solidFill>
                            <a:schemeClr val="tx1"/>
                          </a:solidFill>
                          <a:latin typeface="Almarai" pitchFamily="2" charset="-78"/>
                          <a:ea typeface="+mn-ea"/>
                          <a:cs typeface="Almarai" pitchFamily="2" charset="-78"/>
                        </a:rPr>
                        <a:t>- إطلاق الموقع الرسمي لشركة تطوير التعليم القابضة</a:t>
                      </a:r>
                    </a:p>
                    <a:p>
                      <a:pPr marL="0" marR="0" lvl="0" indent="0" algn="r" defTabSz="914400" rtl="1" eaLnBrk="1" fontAlgn="b" latinLnBrk="0" hangingPunct="1">
                        <a:lnSpc>
                          <a:spcPct val="100000"/>
                        </a:lnSpc>
                        <a:spcBef>
                          <a:spcPts val="0"/>
                        </a:spcBef>
                        <a:spcAft>
                          <a:spcPts val="0"/>
                        </a:spcAft>
                        <a:buClrTx/>
                        <a:buSzTx/>
                        <a:buFontTx/>
                        <a:buNone/>
                        <a:tabLst/>
                        <a:defRPr/>
                      </a:pPr>
                      <a:r>
                        <a:rPr lang="ar-SA" sz="1200" b="0" kern="1200" dirty="0">
                          <a:solidFill>
                            <a:schemeClr val="tx1"/>
                          </a:solidFill>
                          <a:latin typeface="Almarai" pitchFamily="2" charset="-78"/>
                          <a:ea typeface="+mn-ea"/>
                          <a:cs typeface="Almarai" pitchFamily="2" charset="-78"/>
                        </a:rPr>
                        <a:t>- لوحة متابعة الحضور والانصراف</a:t>
                      </a:r>
                      <a:r>
                        <a:rPr lang="en-US" sz="1200" b="0" kern="1200" dirty="0">
                          <a:solidFill>
                            <a:schemeClr val="tx1"/>
                          </a:solidFill>
                          <a:latin typeface="Almarai" pitchFamily="2" charset="-78"/>
                          <a:ea typeface="+mn-ea"/>
                          <a:cs typeface="Almarai" pitchFamily="2" charset="-78"/>
                        </a:rPr>
                        <a:t> </a:t>
                      </a:r>
                      <a:r>
                        <a:rPr lang="ar-SA" sz="1200" b="0" kern="1200" dirty="0">
                          <a:solidFill>
                            <a:schemeClr val="tx1"/>
                          </a:solidFill>
                          <a:latin typeface="Almarai" pitchFamily="2" charset="-78"/>
                          <a:ea typeface="+mn-ea"/>
                          <a:cs typeface="Almarai" pitchFamily="2" charset="-78"/>
                        </a:rPr>
                        <a:t> للموارد البشرية</a:t>
                      </a:r>
                    </a:p>
                    <a:p>
                      <a:pPr marL="0" marR="0" lvl="0" indent="0" algn="r" defTabSz="914400" rtl="1" eaLnBrk="1" fontAlgn="b" latinLnBrk="0" hangingPunct="1">
                        <a:lnSpc>
                          <a:spcPct val="100000"/>
                        </a:lnSpc>
                        <a:spcBef>
                          <a:spcPts val="0"/>
                        </a:spcBef>
                        <a:spcAft>
                          <a:spcPts val="0"/>
                        </a:spcAft>
                        <a:buClrTx/>
                        <a:buSzTx/>
                        <a:buFontTx/>
                        <a:buNone/>
                        <a:tabLst/>
                        <a:defRPr/>
                      </a:pPr>
                      <a:endParaRPr lang="ar-SA" sz="1200" b="0" kern="1200" dirty="0">
                        <a:solidFill>
                          <a:schemeClr val="tx1"/>
                        </a:solidFill>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2</a:t>
                      </a: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2</a:t>
                      </a: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en-US" sz="1200" b="0" dirty="0">
                          <a:solidFill>
                            <a:schemeClr val="tx1"/>
                          </a:solidFill>
                          <a:latin typeface="Almarai" pitchFamily="2" charset="-78"/>
                          <a:cs typeface="Almarai" pitchFamily="2" charset="-78"/>
                        </a:rPr>
                        <a:t>1</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b="0" dirty="0">
                          <a:solidFill>
                            <a:schemeClr val="tx1"/>
                          </a:solidFill>
                          <a:latin typeface="Almarai" pitchFamily="2" charset="-78"/>
                          <a:cs typeface="Almarai" pitchFamily="2" charset="-78"/>
                        </a:rPr>
                        <a:t># المنتجات / الخدمات الجديدة</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b="0" dirty="0">
                          <a:solidFill>
                            <a:schemeClr val="tx1"/>
                          </a:solidFill>
                          <a:latin typeface="Almarai" pitchFamily="2" charset="-78"/>
                          <a:cs typeface="Almarai" pitchFamily="2" charset="-78"/>
                        </a:rPr>
                        <a:t>15%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سنوي</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74183201"/>
                  </a:ext>
                </a:extLst>
              </a:tr>
              <a:tr h="1184728">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Almarai" pitchFamily="2" charset="-78"/>
                          <a:ea typeface="+mn-ea"/>
                          <a:cs typeface="Almarai" pitchFamily="2" charset="-78"/>
                        </a:rPr>
                        <a:t> -</a:t>
                      </a:r>
                      <a:r>
                        <a:rPr lang="en-US" sz="1200" b="1" kern="1200" dirty="0">
                          <a:solidFill>
                            <a:schemeClr val="tx1"/>
                          </a:solidFill>
                          <a:effectLst/>
                          <a:latin typeface="Almarai" pitchFamily="2" charset="-78"/>
                          <a:ea typeface="+mn-ea"/>
                          <a:cs typeface="Almarai" pitchFamily="2" charset="-78"/>
                        </a:rPr>
                        <a:t>Q1</a:t>
                      </a:r>
                      <a:r>
                        <a:rPr lang="ar-SA" sz="1200" b="0" kern="1200" dirty="0">
                          <a:solidFill>
                            <a:schemeClr val="tx1"/>
                          </a:solidFill>
                          <a:effectLst/>
                          <a:latin typeface="Almarai" pitchFamily="2" charset="-78"/>
                          <a:ea typeface="+mn-ea"/>
                          <a:cs typeface="Almarai" pitchFamily="2" charset="-78"/>
                        </a:rPr>
                        <a:t>تحقيق 30% في الربع الأول يعكس التقدم وفق الخطة المعتمدة، ويؤكد سير العمل حسب الجدول الزمني المستهدف</a:t>
                      </a:r>
                      <a:r>
                        <a:rPr lang="ar-SA" sz="1200" b="1" kern="1200" dirty="0">
                          <a:solidFill>
                            <a:schemeClr val="tx1"/>
                          </a:solidFill>
                          <a:effectLst/>
                          <a:latin typeface="Almarai" pitchFamily="2" charset="-78"/>
                          <a:ea typeface="+mn-ea"/>
                          <a:cs typeface="Almarai" pitchFamily="2" charset="-78"/>
                        </a:rPr>
                        <a:t>.</a:t>
                      </a:r>
                      <a:endParaRPr lang="en-US" sz="1200" b="1" kern="1200" dirty="0">
                        <a:solidFill>
                          <a:schemeClr val="tx1"/>
                        </a:solidFill>
                        <a:effectLst/>
                        <a:latin typeface="Almarai" pitchFamily="2" charset="-78"/>
                        <a:ea typeface="+mn-ea"/>
                        <a:cs typeface="Almarai" pitchFamily="2" charset="-78"/>
                      </a:endParaRPr>
                    </a:p>
                    <a:p>
                      <a:pPr marL="0" marR="0" lvl="0" indent="0" algn="r" defTabSz="914400" rtl="1" eaLnBrk="1" fontAlgn="b"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Almarai" pitchFamily="2" charset="-78"/>
                          <a:ea typeface="+mn-ea"/>
                          <a:cs typeface="Almarai" pitchFamily="2" charset="-78"/>
                        </a:rPr>
                        <a:t> Q2</a:t>
                      </a:r>
                      <a:r>
                        <a:rPr lang="ar-SA" sz="1200" b="0" kern="1200" dirty="0">
                          <a:solidFill>
                            <a:schemeClr val="tx1"/>
                          </a:solidFill>
                          <a:effectLst/>
                          <a:latin typeface="Almarai" pitchFamily="2" charset="-78"/>
                          <a:ea typeface="+mn-ea"/>
                          <a:cs typeface="Almarai" pitchFamily="2" charset="-78"/>
                        </a:rPr>
                        <a:t>-الوصول إلى 65% في الربع الثاني يعكس تقدم إيجابي والتزاما بالجدول الزمني المخطط له</a:t>
                      </a:r>
                      <a:r>
                        <a:rPr lang="en-US" sz="1200" b="0" kern="1200" dirty="0">
                          <a:solidFill>
                            <a:schemeClr val="tx1"/>
                          </a:solidFill>
                          <a:effectLst/>
                          <a:latin typeface="Almarai" pitchFamily="2" charset="-78"/>
                          <a:ea typeface="+mn-ea"/>
                          <a:cs typeface="Almarai" pitchFamily="2" charset="-78"/>
                        </a:rPr>
                        <a:t>.</a:t>
                      </a:r>
                    </a:p>
                    <a:p>
                      <a:pPr marL="0" marR="0" lvl="0" indent="0" algn="r" defTabSz="914400" rtl="1" eaLnBrk="1" fontAlgn="b" latinLnBrk="0" hangingPunct="1">
                        <a:lnSpc>
                          <a:spcPct val="100000"/>
                        </a:lnSpc>
                        <a:spcBef>
                          <a:spcPts val="0"/>
                        </a:spcBef>
                        <a:spcAft>
                          <a:spcPts val="0"/>
                        </a:spcAft>
                        <a:buClrTx/>
                        <a:buSzTx/>
                        <a:buFontTx/>
                        <a:buNone/>
                        <a:tabLst/>
                        <a:defRPr/>
                      </a:pPr>
                      <a:endParaRPr lang="ar-SA" sz="1200" b="1" kern="1200" dirty="0">
                        <a:solidFill>
                          <a:schemeClr val="tx1"/>
                        </a:solidFill>
                        <a:effectLst/>
                        <a:latin typeface="Almarai" pitchFamily="2" charset="-78"/>
                        <a:ea typeface="+mn-ea"/>
                        <a:cs typeface="Almarai" pitchFamily="2" charset="-78"/>
                      </a:endParaRPr>
                    </a:p>
                    <a:p>
                      <a:pPr marL="0" marR="0" lvl="0" indent="0" algn="r" defTabSz="914400" rtl="0" eaLnBrk="1" fontAlgn="b" latinLnBrk="0" hangingPunct="1">
                        <a:lnSpc>
                          <a:spcPct val="100000"/>
                        </a:lnSpc>
                        <a:spcBef>
                          <a:spcPts val="0"/>
                        </a:spcBef>
                        <a:spcAft>
                          <a:spcPts val="0"/>
                        </a:spcAft>
                        <a:buClrTx/>
                        <a:buSzTx/>
                        <a:buFontTx/>
                        <a:buNone/>
                        <a:tabLst/>
                        <a:defRPr/>
                      </a:pPr>
                      <a:endParaRPr lang="ar-SA" sz="1200" b="1" kern="1200" dirty="0">
                        <a:solidFill>
                          <a:schemeClr val="tx1"/>
                        </a:solidFill>
                        <a:effectLst/>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65%</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rgbClr val="E8E8E8"/>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30%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rgbClr val="E8E8E8"/>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en-US" sz="1200" b="0" dirty="0">
                          <a:solidFill>
                            <a:schemeClr val="tx1"/>
                          </a:solidFill>
                          <a:latin typeface="Almarai" pitchFamily="2" charset="-78"/>
                          <a:cs typeface="Almarai" pitchFamily="2" charset="-78"/>
                        </a:rPr>
                        <a:t>100%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200" b="0" dirty="0">
                          <a:solidFill>
                            <a:schemeClr val="tx1"/>
                          </a:solidFill>
                          <a:latin typeface="Almarai" pitchFamily="2" charset="-78"/>
                          <a:cs typeface="Almarai" pitchFamily="2" charset="-78"/>
                        </a:rPr>
                        <a:t>%تطوير بيئة سحابية محلية خاصة برافد</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200" b="0" dirty="0">
                          <a:solidFill>
                            <a:schemeClr val="tx1"/>
                          </a:solidFill>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سنوي</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6954236"/>
                  </a:ext>
                </a:extLst>
              </a:tr>
            </a:tbl>
          </a:graphicData>
        </a:graphic>
      </p:graphicFrame>
      <p:pic>
        <p:nvPicPr>
          <p:cNvPr id="26" name="Picture 25" descr="Text&#10;&#10;Description automatically generated with medium confidence">
            <a:extLst>
              <a:ext uri="{FF2B5EF4-FFF2-40B4-BE49-F238E27FC236}">
                <a16:creationId xmlns:a16="http://schemas.microsoft.com/office/drawing/2014/main" id="{4F4AF57B-9DE0-492B-9DB0-50C6A26A0F7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t="1" b="-21"/>
          <a:stretch/>
        </p:blipFill>
        <p:spPr>
          <a:xfrm>
            <a:off x="112358" y="84607"/>
            <a:ext cx="819076" cy="631548"/>
          </a:xfrm>
          <a:prstGeom prst="rect">
            <a:avLst/>
          </a:prstGeom>
        </p:spPr>
      </p:pic>
      <p:sp>
        <p:nvSpPr>
          <p:cNvPr id="10" name="Rectangle 9">
            <a:extLst>
              <a:ext uri="{FF2B5EF4-FFF2-40B4-BE49-F238E27FC236}">
                <a16:creationId xmlns:a16="http://schemas.microsoft.com/office/drawing/2014/main" id="{4D4FFFC4-E065-64A4-2E89-31676DB5159D}"/>
              </a:ext>
            </a:extLst>
          </p:cNvPr>
          <p:cNvSpPr/>
          <p:nvPr/>
        </p:nvSpPr>
        <p:spPr>
          <a:xfrm>
            <a:off x="5683022" y="17048"/>
            <a:ext cx="6396620" cy="509050"/>
          </a:xfrm>
          <a:prstGeom prst="rect">
            <a:avLst/>
          </a:prstGeom>
        </p:spPr>
        <p:txBody>
          <a:bodyPr wrap="square" anchor="ctr">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ar-SA" sz="1969"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a:t>
            </a: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التحول</a:t>
            </a:r>
            <a:r>
              <a:rPr kumimoji="0" lang="ar-SA" sz="1969" b="1" i="0" u="none" strike="noStrike" kern="1200" cap="none" spc="0" normalizeH="0" baseline="0" noProof="0" dirty="0">
                <a:ln>
                  <a:noFill/>
                </a:ln>
                <a:solidFill>
                  <a:srgbClr val="002959"/>
                </a:solidFill>
                <a:effectLst/>
                <a:uLnTx/>
                <a:uFillTx/>
                <a:latin typeface="Almarai" pitchFamily="2" charset="-78"/>
                <a:cs typeface="Almarai" pitchFamily="2" charset="-78"/>
              </a:rPr>
              <a:t> الرقمي</a:t>
            </a:r>
          </a:p>
        </p:txBody>
      </p:sp>
    </p:spTree>
    <p:extLst>
      <p:ext uri="{BB962C8B-B14F-4D97-AF65-F5344CB8AC3E}">
        <p14:creationId xmlns:p14="http://schemas.microsoft.com/office/powerpoint/2010/main" val="1294622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9D07AF9-4F01-F34F-7D9E-6E1AAD1D72E9}"/>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الموارد البشرية</a:t>
            </a:r>
          </a:p>
        </p:txBody>
      </p:sp>
      <p:pic>
        <p:nvPicPr>
          <p:cNvPr id="7" name="Picture 6" descr="Text&#10;&#10;Description automatically generated with medium confidence">
            <a:extLst>
              <a:ext uri="{FF2B5EF4-FFF2-40B4-BE49-F238E27FC236}">
                <a16:creationId xmlns:a16="http://schemas.microsoft.com/office/drawing/2014/main" id="{4A1C2784-E9C3-3169-0F08-ABE7357D578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pic>
        <p:nvPicPr>
          <p:cNvPr id="10" name="Picture 9" descr="A picture containing graphical user interface&#10;&#10;Description automatically generated">
            <a:extLst>
              <a:ext uri="{FF2B5EF4-FFF2-40B4-BE49-F238E27FC236}">
                <a16:creationId xmlns:a16="http://schemas.microsoft.com/office/drawing/2014/main" id="{81479CC4-2162-9AF5-63CB-703A0FF2D51B}"/>
              </a:ext>
            </a:extLst>
          </p:cNvPr>
          <p:cNvPicPr>
            <a:picLocks noChangeAspect="1"/>
          </p:cNvPicPr>
          <p:nvPr/>
        </p:nvPicPr>
        <p:blipFill rotWithShape="1">
          <a:blip r:embed="rId3"/>
          <a:srcRect l="23677" t="39057" b="28402"/>
          <a:stretch/>
        </p:blipFill>
        <p:spPr>
          <a:xfrm>
            <a:off x="0" y="6477595"/>
            <a:ext cx="5382126" cy="380404"/>
          </a:xfrm>
          <a:prstGeom prst="rect">
            <a:avLst/>
          </a:prstGeom>
        </p:spPr>
      </p:pic>
      <p:graphicFrame>
        <p:nvGraphicFramePr>
          <p:cNvPr id="11" name="Table 2">
            <a:extLst>
              <a:ext uri="{FF2B5EF4-FFF2-40B4-BE49-F238E27FC236}">
                <a16:creationId xmlns:a16="http://schemas.microsoft.com/office/drawing/2014/main" id="{B0E273FD-353B-936B-CDFD-6805C56BE376}"/>
              </a:ext>
            </a:extLst>
          </p:cNvPr>
          <p:cNvGraphicFramePr>
            <a:graphicFrameLocks noGrp="1"/>
          </p:cNvGraphicFramePr>
          <p:nvPr/>
        </p:nvGraphicFramePr>
        <p:xfrm>
          <a:off x="0" y="976331"/>
          <a:ext cx="12192000" cy="5253013"/>
        </p:xfrm>
        <a:graphic>
          <a:graphicData uri="http://schemas.openxmlformats.org/drawingml/2006/table">
            <a:tbl>
              <a:tblPr firstRow="1" bandRow="1">
                <a:tableStyleId>{5C22544A-7EE6-4342-B048-85BDC9FD1C3A}</a:tableStyleId>
              </a:tblPr>
              <a:tblGrid>
                <a:gridCol w="3374241">
                  <a:extLst>
                    <a:ext uri="{9D8B030D-6E8A-4147-A177-3AD203B41FA5}">
                      <a16:colId xmlns:a16="http://schemas.microsoft.com/office/drawing/2014/main" val="276634163"/>
                    </a:ext>
                  </a:extLst>
                </a:gridCol>
                <a:gridCol w="5934859">
                  <a:extLst>
                    <a:ext uri="{9D8B030D-6E8A-4147-A177-3AD203B41FA5}">
                      <a16:colId xmlns:a16="http://schemas.microsoft.com/office/drawing/2014/main" val="1759313315"/>
                    </a:ext>
                  </a:extLst>
                </a:gridCol>
                <a:gridCol w="2882900">
                  <a:extLst>
                    <a:ext uri="{9D8B030D-6E8A-4147-A177-3AD203B41FA5}">
                      <a16:colId xmlns:a16="http://schemas.microsoft.com/office/drawing/2014/main" val="3157918808"/>
                    </a:ext>
                  </a:extLst>
                </a:gridCol>
              </a:tblGrid>
              <a:tr h="519806">
                <a:tc>
                  <a:txBody>
                    <a:bodyPr/>
                    <a:lstStyle/>
                    <a:p>
                      <a:pPr algn="ctr">
                        <a:lnSpc>
                          <a:spcPct val="150000"/>
                        </a:lnSpc>
                      </a:pPr>
                      <a:r>
                        <a:rPr lang="ar-SA" sz="1400">
                          <a:latin typeface="Almarai" pitchFamily="2" charset="-78"/>
                          <a:cs typeface="Almarai" pitchFamily="2" charset="-78"/>
                        </a:rPr>
                        <a:t>الهدف التشغيلي</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a:latin typeface="Almarai" pitchFamily="2" charset="-78"/>
                          <a:cs typeface="Almarai" pitchFamily="2" charset="-78"/>
                        </a:rPr>
                        <a:t>شرح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696192">
                <a:tc>
                  <a:txBody>
                    <a:bodyPr/>
                    <a:lstStyle/>
                    <a:p>
                      <a:pPr algn="r" rtl="1">
                        <a:lnSpc>
                          <a:spcPct val="150000"/>
                        </a:lnSpc>
                      </a:pPr>
                      <a:r>
                        <a:rPr lang="ar-SA" sz="1200">
                          <a:latin typeface="Almarai" pitchFamily="2" charset="-78"/>
                          <a:cs typeface="Almarai" pitchFamily="2" charset="-78"/>
                        </a:rPr>
                        <a:t>• تطوير بيئة العمل الداخلية والقدرات البشرية</a:t>
                      </a:r>
                      <a:endParaRPr lang="ar-SA"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a:solidFill>
                            <a:schemeClr val="dk1"/>
                          </a:solidFill>
                          <a:latin typeface="Almarai" pitchFamily="2" charset="-78"/>
                          <a:ea typeface="+mn-ea"/>
                          <a:cs typeface="Almarai" pitchFamily="2" charset="-78"/>
                        </a:rPr>
                        <a:t>قياس عدد الدورات التدريبية المقدمة للموظفين متضمنة التدريب عن بعد والتدريب الجماعي.</a:t>
                      </a:r>
                      <a:endParaRPr lang="ar-SA" sz="1200" kern="1200" dirty="0">
                        <a:solidFill>
                          <a:schemeClr val="dk1"/>
                        </a:solidFill>
                        <a:latin typeface="Almarai" pitchFamily="2" charset="-78"/>
                        <a:ea typeface="+mn-ea"/>
                        <a:cs typeface="Almarai" pitchFamily="2" charset="-78"/>
                      </a:endParaRP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الموظفين المدربين</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935710478"/>
                  </a:ext>
                </a:extLst>
              </a:tr>
              <a:tr h="696192">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a:latin typeface="Almarai" pitchFamily="2" charset="-78"/>
                          <a:cs typeface="Almarai" pitchFamily="2" charset="-78"/>
                        </a:rPr>
                        <a:t>• تطوير بيئة العمل الداخلية والقدرات البشرية</a:t>
                      </a:r>
                      <a:endParaRPr lang="ar-SA"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dk1"/>
                          </a:solidFill>
                          <a:latin typeface="Almarai" pitchFamily="2" charset="-78"/>
                          <a:ea typeface="+mn-ea"/>
                          <a:cs typeface="Almarai" pitchFamily="2" charset="-78"/>
                        </a:rPr>
                        <a:t>قياس عدد ورش العمل المنظمة من قبل قطاع الموارد البشرية بنجاح.</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ورش العمل</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940044692"/>
                  </a:ext>
                </a:extLst>
              </a:tr>
              <a:tr h="631668">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a:latin typeface="Almarai" pitchFamily="2" charset="-78"/>
                          <a:cs typeface="Almarai" pitchFamily="2" charset="-78"/>
                        </a:rPr>
                        <a:t>• تطوير بيئة العمل الداخلية والقدرات البشرية</a:t>
                      </a:r>
                      <a:endParaRPr lang="ar-SA"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مؤشر مبادرات الاندماج الوظيفي هو مقياس لعدد الفعاليات والمبادرات التي تنفذها إدارة الموارد البشرية لتعزيز ارتباط الموظفين بالشركة، وذلك وفقًا للخطة المعتمدة خلال السنة.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en-US" sz="1200" dirty="0">
                          <a:latin typeface="Almarai" pitchFamily="2" charset="-78"/>
                          <a:cs typeface="Almarai" pitchFamily="2" charset="-78"/>
                        </a:rPr>
                        <a:t>%</a:t>
                      </a:r>
                      <a:r>
                        <a:rPr lang="ar-SA" sz="1200" dirty="0">
                          <a:latin typeface="Almarai" pitchFamily="2" charset="-78"/>
                          <a:cs typeface="Almarai" pitchFamily="2" charset="-78"/>
                        </a:rPr>
                        <a:t> مبادرات الاندماج الوظيفي</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016508191"/>
                  </a:ext>
                </a:extLst>
              </a:tr>
              <a:tr h="631668">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 تطوير بيئة العمل الداخلية والقدرات البشرية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إرسال استبيان يحدد مدى ارتباط الموظفين ومستوى الحماس والالتزام الذي يشعر به الموظفون تجاه عملهم والشركة </a:t>
                      </a:r>
                      <a:r>
                        <a:rPr lang="ar-SA" sz="1200" kern="1200" dirty="0">
                          <a:solidFill>
                            <a:schemeClr val="dk1"/>
                          </a:solidFill>
                          <a:latin typeface="Almarai" pitchFamily="2" charset="-78"/>
                          <a:ea typeface="+mn-ea"/>
                          <a:cs typeface="Almarai" pitchFamily="2" charset="-78"/>
                        </a:rPr>
                        <a:t>كما يعكس هذا المؤشر مدى رضا الموظفين عن بيئة العمل، ومدى دافعيتهم، وتأثير ذلك على إنتاجيتهم وأدائهم العام.</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استبيان الارتباط الوظيفي</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331950807"/>
                  </a:ext>
                </a:extLst>
              </a:tr>
              <a:tr h="700878">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a:latin typeface="Almarai" pitchFamily="2" charset="-78"/>
                          <a:cs typeface="Almarai" pitchFamily="2" charset="-78"/>
                        </a:rPr>
                        <a:t>• تطوير بيئة العمل الداخلية والقدرات البشرية</a:t>
                      </a:r>
                      <a:endParaRPr lang="ar-SA"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قياس نسبة عدد الموظفين المستقيلين (آخر يوم عمل) في الشركة خلال العام على ألّا</a:t>
                      </a:r>
                      <a:r>
                        <a:rPr lang="en-US" sz="1200" dirty="0">
                          <a:latin typeface="Almarai" pitchFamily="2" charset="-78"/>
                          <a:cs typeface="Almarai" pitchFamily="2" charset="-78"/>
                        </a:rPr>
                        <a:t> </a:t>
                      </a:r>
                      <a:r>
                        <a:rPr lang="ar-SA" sz="1200" dirty="0">
                          <a:latin typeface="Almarai" pitchFamily="2" charset="-78"/>
                          <a:cs typeface="Almarai" pitchFamily="2" charset="-78"/>
                        </a:rPr>
                        <a:t>تتجاوز </a:t>
                      </a:r>
                      <a:r>
                        <a:rPr lang="en-US" sz="1200" dirty="0">
                          <a:latin typeface="Almarai" pitchFamily="2" charset="-78"/>
                          <a:cs typeface="Almarai" pitchFamily="2" charset="-78"/>
                        </a:rPr>
                        <a:t>≤10%</a:t>
                      </a:r>
                      <a:r>
                        <a:rPr lang="ar-SA" sz="1200" dirty="0">
                          <a:latin typeface="Almarai" pitchFamily="2" charset="-78"/>
                          <a:cs typeface="Almarai" pitchFamily="2" charset="-78"/>
                        </a:rPr>
                        <a:t> من إجمالي عدد الموظفين في بداية العام.</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latin typeface="Almarai" pitchFamily="2" charset="-78"/>
                          <a:cs typeface="Almarai" pitchFamily="2" charset="-78"/>
                        </a:rPr>
                        <a:t>% الاستقالات (الادارية)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722397247"/>
                  </a:ext>
                </a:extLst>
              </a:tr>
              <a:tr h="700878">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a:latin typeface="Almarai" pitchFamily="2" charset="-78"/>
                          <a:cs typeface="Almarai" pitchFamily="2" charset="-78"/>
                        </a:rPr>
                        <a:t>• تطوير بيئة العمل الداخلية والقدرات البشرية</a:t>
                      </a:r>
                      <a:endParaRPr lang="ar-SA"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latin typeface="Almarai" pitchFamily="2" charset="-78"/>
                          <a:cs typeface="Almarai" pitchFamily="2" charset="-78"/>
                        </a:rPr>
                        <a:t>قياس نسبة عدد الموظفين المستقيلين (آخر يوم عمل) في الشركة خلال العام على ألّا</a:t>
                      </a:r>
                      <a:r>
                        <a:rPr lang="en-US" sz="1200" dirty="0">
                          <a:latin typeface="Almarai" pitchFamily="2" charset="-78"/>
                          <a:cs typeface="Almarai" pitchFamily="2" charset="-78"/>
                        </a:rPr>
                        <a:t> </a:t>
                      </a:r>
                      <a:r>
                        <a:rPr lang="ar-SA" sz="1200" dirty="0">
                          <a:latin typeface="Almarai" pitchFamily="2" charset="-78"/>
                          <a:cs typeface="Almarai" pitchFamily="2" charset="-78"/>
                        </a:rPr>
                        <a:t>تتجاوز </a:t>
                      </a:r>
                      <a:r>
                        <a:rPr lang="en-US" sz="1200" dirty="0">
                          <a:latin typeface="Almarai" pitchFamily="2" charset="-78"/>
                          <a:cs typeface="Almarai" pitchFamily="2" charset="-78"/>
                        </a:rPr>
                        <a:t>≤10%</a:t>
                      </a:r>
                      <a:r>
                        <a:rPr lang="ar-SA" sz="1200" dirty="0">
                          <a:latin typeface="Almarai" pitchFamily="2" charset="-78"/>
                          <a:cs typeface="Almarai" pitchFamily="2" charset="-78"/>
                        </a:rPr>
                        <a:t> من إجمالي عدد الموظفين في بداية العام.</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الاستقالات (التشغيلية)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925514391"/>
                  </a:ext>
                </a:extLst>
              </a:tr>
              <a:tr h="675731">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a:latin typeface="Almarai" pitchFamily="2" charset="-78"/>
                          <a:cs typeface="Almarai" pitchFamily="2" charset="-78"/>
                        </a:rPr>
                        <a:t>•تحسين سمعة الشركة وتعزيز علامتها التجارية</a:t>
                      </a:r>
                      <a:endParaRPr lang="ar-SA"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a:solidFill>
                            <a:schemeClr val="dk1"/>
                          </a:solidFill>
                          <a:latin typeface="Almarai" pitchFamily="2" charset="-78"/>
                          <a:ea typeface="+mn-ea"/>
                          <a:cs typeface="Almarai" pitchFamily="2" charset="-78"/>
                        </a:rPr>
                        <a:t>قياس عدد أنشطة المسؤولية الاجتماعية.</a:t>
                      </a:r>
                      <a:endParaRPr lang="ar-SA" sz="1200" kern="1200" dirty="0">
                        <a:solidFill>
                          <a:schemeClr val="dk1"/>
                        </a:solidFill>
                        <a:latin typeface="Almarai" pitchFamily="2" charset="-78"/>
                        <a:ea typeface="+mn-ea"/>
                        <a:cs typeface="Almarai" pitchFamily="2" charset="-78"/>
                      </a:endParaRP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latin typeface="Almarai" pitchFamily="2" charset="-78"/>
                          <a:cs typeface="Almarai" pitchFamily="2" charset="-78"/>
                        </a:rPr>
                        <a:t># أنشطة المسؤولية الاجتماعية</a:t>
                      </a:r>
                      <a:endParaRPr lang="en-US" sz="12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997737802"/>
                  </a:ext>
                </a:extLst>
              </a:tr>
            </a:tbl>
          </a:graphicData>
        </a:graphic>
      </p:graphicFrame>
    </p:spTree>
    <p:extLst>
      <p:ext uri="{BB962C8B-B14F-4D97-AF65-F5344CB8AC3E}">
        <p14:creationId xmlns:p14="http://schemas.microsoft.com/office/powerpoint/2010/main" val="39101945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Text&#10;&#10;Description automatically generated with medium confidence">
            <a:extLst>
              <a:ext uri="{FF2B5EF4-FFF2-40B4-BE49-F238E27FC236}">
                <a16:creationId xmlns:a16="http://schemas.microsoft.com/office/drawing/2014/main" id="{D602A481-F379-C93C-F3CC-C66C978DCD8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graphicFrame>
        <p:nvGraphicFramePr>
          <p:cNvPr id="20" name="Table 2">
            <a:extLst>
              <a:ext uri="{FF2B5EF4-FFF2-40B4-BE49-F238E27FC236}">
                <a16:creationId xmlns:a16="http://schemas.microsoft.com/office/drawing/2014/main" id="{913F8978-B9FE-F63E-6589-6244989E7392}"/>
              </a:ext>
            </a:extLst>
          </p:cNvPr>
          <p:cNvGraphicFramePr>
            <a:graphicFrameLocks noGrp="1"/>
          </p:cNvGraphicFramePr>
          <p:nvPr>
            <p:extLst>
              <p:ext uri="{D42A27DB-BD31-4B8C-83A1-F6EECF244321}">
                <p14:modId xmlns:p14="http://schemas.microsoft.com/office/powerpoint/2010/main" val="1686087384"/>
              </p:ext>
            </p:extLst>
          </p:nvPr>
        </p:nvGraphicFramePr>
        <p:xfrm>
          <a:off x="1" y="819690"/>
          <a:ext cx="12191999" cy="6038312"/>
        </p:xfrm>
        <a:graphic>
          <a:graphicData uri="http://schemas.openxmlformats.org/drawingml/2006/table">
            <a:tbl>
              <a:tblPr firstRow="1" bandRow="1">
                <a:tableStyleId>{5C22544A-7EE6-4342-B048-85BDC9FD1C3A}</a:tableStyleId>
              </a:tblPr>
              <a:tblGrid>
                <a:gridCol w="1253446">
                  <a:extLst>
                    <a:ext uri="{9D8B030D-6E8A-4147-A177-3AD203B41FA5}">
                      <a16:colId xmlns:a16="http://schemas.microsoft.com/office/drawing/2014/main" val="2055658794"/>
                    </a:ext>
                  </a:extLst>
                </a:gridCol>
                <a:gridCol w="1164288">
                  <a:extLst>
                    <a:ext uri="{9D8B030D-6E8A-4147-A177-3AD203B41FA5}">
                      <a16:colId xmlns:a16="http://schemas.microsoft.com/office/drawing/2014/main" val="3919127931"/>
                    </a:ext>
                  </a:extLst>
                </a:gridCol>
                <a:gridCol w="5982346">
                  <a:extLst>
                    <a:ext uri="{9D8B030D-6E8A-4147-A177-3AD203B41FA5}">
                      <a16:colId xmlns:a16="http://schemas.microsoft.com/office/drawing/2014/main" val="1759313315"/>
                    </a:ext>
                  </a:extLst>
                </a:gridCol>
                <a:gridCol w="2941019">
                  <a:extLst>
                    <a:ext uri="{9D8B030D-6E8A-4147-A177-3AD203B41FA5}">
                      <a16:colId xmlns:a16="http://schemas.microsoft.com/office/drawing/2014/main" val="3157918808"/>
                    </a:ext>
                  </a:extLst>
                </a:gridCol>
                <a:gridCol w="850900">
                  <a:extLst>
                    <a:ext uri="{9D8B030D-6E8A-4147-A177-3AD203B41FA5}">
                      <a16:colId xmlns:a16="http://schemas.microsoft.com/office/drawing/2014/main" val="635944514"/>
                    </a:ext>
                  </a:extLst>
                </a:gridCol>
              </a:tblGrid>
              <a:tr h="565062">
                <a:tc>
                  <a:txBody>
                    <a:bodyPr/>
                    <a:lstStyle/>
                    <a:p>
                      <a:pPr algn="ctr">
                        <a:lnSpc>
                          <a:spcPct val="150000"/>
                        </a:lnSpc>
                      </a:pPr>
                      <a:r>
                        <a:rPr lang="ar-SA" sz="1400" dirty="0">
                          <a:latin typeface="Almarai" pitchFamily="2" charset="-78"/>
                          <a:cs typeface="Almarai" pitchFamily="2" charset="-78"/>
                        </a:rPr>
                        <a:t>نوع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الهدف</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المعادلة</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الوزن</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803882">
                <a:tc>
                  <a:txBody>
                    <a:bodyPr/>
                    <a:lstStyle/>
                    <a:p>
                      <a:pPr algn="ctr" rtl="1">
                        <a:lnSpc>
                          <a:spcPct val="150000"/>
                        </a:lnSpc>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solidFill>
                            <a:schemeClr val="tx1"/>
                          </a:solidFill>
                          <a:latin typeface="Almarai" pitchFamily="2" charset="-78"/>
                          <a:cs typeface="Almarai" pitchFamily="2" charset="-78"/>
                        </a:rPr>
                        <a:t>80%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الموظفين المدربين / إجمالي عدد الموظفين)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الموظفين المدربين</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25%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935710478"/>
                  </a:ext>
                </a:extLst>
              </a:tr>
              <a:tr h="711319">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1</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لا يوجد معادلة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ورش العمل</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lmarai" pitchFamily="2" charset="-78"/>
                          <a:ea typeface="+mn-ea"/>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175398007"/>
                  </a:ext>
                </a:extLst>
              </a:tr>
              <a:tr h="711319">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80%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(عدد الفعاليات والمبادرات المنفذة/ عدد الفعاليات والمبادرات المخطط لها​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مبادرات الاندماج الوظيفي خلال السنة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ar-SA" sz="1200" b="0" i="0" u="none" strike="noStrike" kern="1200" cap="none" spc="0" normalizeH="0" baseline="0" noProof="0" dirty="0">
                          <a:ln>
                            <a:noFill/>
                          </a:ln>
                          <a:solidFill>
                            <a:schemeClr val="tx1"/>
                          </a:solidFill>
                          <a:effectLst/>
                          <a:uLnTx/>
                          <a:uFillTx/>
                          <a:latin typeface="Almarai" pitchFamily="2" charset="-78"/>
                          <a:ea typeface="+mn-ea"/>
                          <a:cs typeface="Almarai" pitchFamily="2" charset="-78"/>
                        </a:rPr>
                        <a:t>25</a:t>
                      </a:r>
                      <a:r>
                        <a:rPr kumimoji="0" lang="en-US" sz="1200" b="0" i="0" u="none" strike="noStrike" kern="1200" cap="none" spc="0" normalizeH="0" baseline="0" noProof="0" dirty="0">
                          <a:ln>
                            <a:noFill/>
                          </a:ln>
                          <a:solidFill>
                            <a:schemeClr val="tx1"/>
                          </a:solidFill>
                          <a:effectLst/>
                          <a:uLnTx/>
                          <a:uFillTx/>
                          <a:latin typeface="Almarai" pitchFamily="2" charset="-78"/>
                          <a:ea typeface="+mn-ea"/>
                          <a:cs typeface="Almarai" pitchFamily="2" charset="-78"/>
                        </a:rPr>
                        <a:t>%</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013659251"/>
                  </a:ext>
                </a:extLst>
              </a:tr>
              <a:tr h="711319">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80%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إجابات الموظفين/ إجمالي عدد الإجابات) * 100 ( استبيان سنوي)</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الاندماج الوظيفي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lmarai" pitchFamily="2" charset="-78"/>
                          <a:ea typeface="+mn-ea"/>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403001971"/>
                  </a:ext>
                </a:extLst>
              </a:tr>
              <a:tr h="845137">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المستقيلين / إجمالي عدد الموظفين إدارياً في بداية العام)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الاستقالات (الادارية)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lmarai" pitchFamily="2" charset="-78"/>
                          <a:ea typeface="+mn-ea"/>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439730819"/>
                  </a:ext>
                </a:extLst>
              </a:tr>
              <a:tr h="845137">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(عدد المستقيلين / إجمالي عدد الموظفين التشغيلين في بداية العام) * 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الاستقالات (التشغيلية)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491325424"/>
                  </a:ext>
                </a:extLst>
              </a:tr>
              <a:tr h="845137">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b="0" dirty="0">
                          <a:solidFill>
                            <a:schemeClr val="tx1"/>
                          </a:solidFill>
                          <a:latin typeface="Almarai" pitchFamily="2" charset="-78"/>
                          <a:cs typeface="Almarai" pitchFamily="2" charset="-78"/>
                        </a:rPr>
                        <a:t>2</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لا يوجد معادلة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أنشطة المسؤولية الاجتماعية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995294653"/>
                  </a:ext>
                </a:extLst>
              </a:tr>
            </a:tbl>
          </a:graphicData>
        </a:graphic>
      </p:graphicFrame>
      <p:sp>
        <p:nvSpPr>
          <p:cNvPr id="31" name="TextBox 30">
            <a:extLst>
              <a:ext uri="{FF2B5EF4-FFF2-40B4-BE49-F238E27FC236}">
                <a16:creationId xmlns:a16="http://schemas.microsoft.com/office/drawing/2014/main" id="{7EA73CF6-B60B-B023-92AF-28C468CF2E32}"/>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الموارد البشرية</a:t>
            </a:r>
          </a:p>
        </p:txBody>
      </p:sp>
    </p:spTree>
    <p:extLst>
      <p:ext uri="{BB962C8B-B14F-4D97-AF65-F5344CB8AC3E}">
        <p14:creationId xmlns:p14="http://schemas.microsoft.com/office/powerpoint/2010/main" val="1562994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CDD23-E8BA-5822-42FE-A0B197BE311E}"/>
            </a:ext>
          </a:extLst>
        </p:cNvPr>
        <p:cNvGrpSpPr/>
        <p:nvPr/>
      </p:nvGrpSpPr>
      <p:grpSpPr>
        <a:xfrm>
          <a:off x="0" y="0"/>
          <a:ext cx="0" cy="0"/>
          <a:chOff x="0" y="0"/>
          <a:chExt cx="0" cy="0"/>
        </a:xfrm>
      </p:grpSpPr>
      <p:pic>
        <p:nvPicPr>
          <p:cNvPr id="23" name="Picture 22" descr="Text&#10;&#10;Description automatically generated with medium confidence">
            <a:extLst>
              <a:ext uri="{FF2B5EF4-FFF2-40B4-BE49-F238E27FC236}">
                <a16:creationId xmlns:a16="http://schemas.microsoft.com/office/drawing/2014/main" id="{A63CBB7F-0AA8-2B98-47F2-806145B93DA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t="1" b="-21"/>
          <a:stretch/>
        </p:blipFill>
        <p:spPr>
          <a:xfrm>
            <a:off x="112358" y="84607"/>
            <a:ext cx="819076" cy="631548"/>
          </a:xfrm>
          <a:prstGeom prst="rect">
            <a:avLst/>
          </a:prstGeom>
        </p:spPr>
      </p:pic>
      <p:sp>
        <p:nvSpPr>
          <p:cNvPr id="2" name="TextBox 1">
            <a:extLst>
              <a:ext uri="{FF2B5EF4-FFF2-40B4-BE49-F238E27FC236}">
                <a16:creationId xmlns:a16="http://schemas.microsoft.com/office/drawing/2014/main" id="{FB1D2EDD-D3C4-9F2C-2B26-3E974D5B0989}"/>
              </a:ext>
            </a:extLst>
          </p:cNvPr>
          <p:cNvSpPr txBox="1"/>
          <p:nvPr/>
        </p:nvSpPr>
        <p:spPr>
          <a:xfrm>
            <a:off x="5983642" y="142618"/>
            <a:ext cx="6096000" cy="515526"/>
          </a:xfrm>
          <a:prstGeom prst="rect">
            <a:avLst/>
          </a:prstGeom>
          <a:noFill/>
        </p:spPr>
        <p:txBody>
          <a:bodyPr wrap="square">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الموارد البشرية</a:t>
            </a:r>
          </a:p>
        </p:txBody>
      </p:sp>
      <p:graphicFrame>
        <p:nvGraphicFramePr>
          <p:cNvPr id="5" name="Table 4">
            <a:extLst>
              <a:ext uri="{FF2B5EF4-FFF2-40B4-BE49-F238E27FC236}">
                <a16:creationId xmlns:a16="http://schemas.microsoft.com/office/drawing/2014/main" id="{8B4484DE-416C-8D70-BA52-87718B56BCE5}"/>
              </a:ext>
            </a:extLst>
          </p:cNvPr>
          <p:cNvGraphicFramePr>
            <a:graphicFrameLocks noGrp="1"/>
          </p:cNvGraphicFramePr>
          <p:nvPr>
            <p:extLst>
              <p:ext uri="{D42A27DB-BD31-4B8C-83A1-F6EECF244321}">
                <p14:modId xmlns:p14="http://schemas.microsoft.com/office/powerpoint/2010/main" val="81907461"/>
              </p:ext>
            </p:extLst>
          </p:nvPr>
        </p:nvGraphicFramePr>
        <p:xfrm>
          <a:off x="1" y="769082"/>
          <a:ext cx="12191999" cy="6088918"/>
        </p:xfrm>
        <a:graphic>
          <a:graphicData uri="http://schemas.openxmlformats.org/drawingml/2006/table">
            <a:tbl>
              <a:tblPr firstRow="1" lastRow="1" bandRow="1">
                <a:tableStyleId>{BC89EF96-8CEA-46FF-86C4-4CE0E7609802}</a:tableStyleId>
              </a:tblPr>
              <a:tblGrid>
                <a:gridCol w="2964734">
                  <a:extLst>
                    <a:ext uri="{9D8B030D-6E8A-4147-A177-3AD203B41FA5}">
                      <a16:colId xmlns:a16="http://schemas.microsoft.com/office/drawing/2014/main" val="3528422332"/>
                    </a:ext>
                  </a:extLst>
                </a:gridCol>
                <a:gridCol w="122354">
                  <a:extLst>
                    <a:ext uri="{9D8B030D-6E8A-4147-A177-3AD203B41FA5}">
                      <a16:colId xmlns:a16="http://schemas.microsoft.com/office/drawing/2014/main" val="57341934"/>
                    </a:ext>
                  </a:extLst>
                </a:gridCol>
                <a:gridCol w="1062207">
                  <a:extLst>
                    <a:ext uri="{9D8B030D-6E8A-4147-A177-3AD203B41FA5}">
                      <a16:colId xmlns:a16="http://schemas.microsoft.com/office/drawing/2014/main" val="2184101498"/>
                    </a:ext>
                  </a:extLst>
                </a:gridCol>
                <a:gridCol w="849801">
                  <a:extLst>
                    <a:ext uri="{9D8B030D-6E8A-4147-A177-3AD203B41FA5}">
                      <a16:colId xmlns:a16="http://schemas.microsoft.com/office/drawing/2014/main" val="290041181"/>
                    </a:ext>
                  </a:extLst>
                </a:gridCol>
                <a:gridCol w="795558">
                  <a:extLst>
                    <a:ext uri="{9D8B030D-6E8A-4147-A177-3AD203B41FA5}">
                      <a16:colId xmlns:a16="http://schemas.microsoft.com/office/drawing/2014/main" val="986504599"/>
                    </a:ext>
                  </a:extLst>
                </a:gridCol>
                <a:gridCol w="750355">
                  <a:extLst>
                    <a:ext uri="{9D8B030D-6E8A-4147-A177-3AD203B41FA5}">
                      <a16:colId xmlns:a16="http://schemas.microsoft.com/office/drawing/2014/main" val="3691410578"/>
                    </a:ext>
                  </a:extLst>
                </a:gridCol>
                <a:gridCol w="732539">
                  <a:extLst>
                    <a:ext uri="{9D8B030D-6E8A-4147-A177-3AD203B41FA5}">
                      <a16:colId xmlns:a16="http://schemas.microsoft.com/office/drawing/2014/main" val="692657871"/>
                    </a:ext>
                  </a:extLst>
                </a:gridCol>
                <a:gridCol w="1184296">
                  <a:extLst>
                    <a:ext uri="{9D8B030D-6E8A-4147-A177-3AD203B41FA5}">
                      <a16:colId xmlns:a16="http://schemas.microsoft.com/office/drawing/2014/main" val="786455139"/>
                    </a:ext>
                  </a:extLst>
                </a:gridCol>
                <a:gridCol w="2061218">
                  <a:extLst>
                    <a:ext uri="{9D8B030D-6E8A-4147-A177-3AD203B41FA5}">
                      <a16:colId xmlns:a16="http://schemas.microsoft.com/office/drawing/2014/main" val="313549563"/>
                    </a:ext>
                  </a:extLst>
                </a:gridCol>
                <a:gridCol w="750355">
                  <a:extLst>
                    <a:ext uri="{9D8B030D-6E8A-4147-A177-3AD203B41FA5}">
                      <a16:colId xmlns:a16="http://schemas.microsoft.com/office/drawing/2014/main" val="2142733880"/>
                    </a:ext>
                  </a:extLst>
                </a:gridCol>
                <a:gridCol w="918582">
                  <a:extLst>
                    <a:ext uri="{9D8B030D-6E8A-4147-A177-3AD203B41FA5}">
                      <a16:colId xmlns:a16="http://schemas.microsoft.com/office/drawing/2014/main" val="481353969"/>
                    </a:ext>
                  </a:extLst>
                </a:gridCol>
              </a:tblGrid>
              <a:tr h="434130">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dirty="0">
                          <a:ln>
                            <a:noFill/>
                          </a:ln>
                          <a:solidFill>
                            <a:schemeClr val="bg1"/>
                          </a:solidFill>
                          <a:effectLst/>
                          <a:uLnTx/>
                          <a:uFillTx/>
                          <a:latin typeface="Almarai" pitchFamily="2" charset="-78"/>
                          <a:ea typeface="+mn-ea"/>
                          <a:cs typeface="Almarai" pitchFamily="2" charset="-78"/>
                        </a:rPr>
                        <a:t>الملاحظات</a:t>
                      </a:r>
                      <a:endParaRPr kumimoji="0" lang="en-GB" sz="1400" b="1" i="0" u="none" strike="noStrike" kern="1200" cap="none" spc="40" normalizeH="0" baseline="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النتيجة النهائية</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Q4</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Q3</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400" b="1" dirty="0">
                          <a:solidFill>
                            <a:schemeClr val="bg1"/>
                          </a:solidFill>
                          <a:latin typeface="Almarai" pitchFamily="2" charset="-78"/>
                          <a:cs typeface="Almarai" pitchFamily="2" charset="-78"/>
                        </a:rPr>
                        <a:t>Q2</a:t>
                      </a:r>
                      <a:endParaRPr sz="1400" b="1" dirty="0">
                        <a:solidFill>
                          <a:schemeClr val="bg1"/>
                        </a:solidFill>
                        <a:latin typeface="Almarai" pitchFamily="2" charset="-78"/>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US" sz="1400" b="1" i="0" u="none" strike="noStrike" kern="1200" cap="none" spc="40" normalizeH="0" baseline="0" dirty="0">
                          <a:ln>
                            <a:noFill/>
                          </a:ln>
                          <a:solidFill>
                            <a:schemeClr val="bg1"/>
                          </a:solidFill>
                          <a:effectLst/>
                          <a:uLnTx/>
                          <a:uFillTx/>
                          <a:latin typeface="Almarai" pitchFamily="2" charset="-78"/>
                          <a:ea typeface="+mn-ea"/>
                          <a:cs typeface="Almarai" pitchFamily="2" charset="-78"/>
                        </a:rPr>
                        <a:t>Q1</a:t>
                      </a:r>
                      <a:endParaRPr kumimoji="0" sz="1400" b="1" i="0" u="none" strike="noStrike" kern="1200" cap="none" spc="40" normalizeH="0" baseline="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المستهدف</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الوزن</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نوع 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506390058"/>
                  </a:ext>
                </a:extLst>
              </a:tr>
              <a:tr h="684134">
                <a:tc>
                  <a:txBody>
                    <a:bodyPr/>
                    <a:lstStyle/>
                    <a:p>
                      <a:pPr marL="0" marR="0" lvl="0" indent="0" algn="justLow" defTabSz="914400" rtl="1" eaLnBrk="1" fontAlgn="b" latinLnBrk="0" hangingPunct="1">
                        <a:lnSpc>
                          <a:spcPct val="150000"/>
                        </a:lnSpc>
                        <a:spcBef>
                          <a:spcPts val="0"/>
                        </a:spcBef>
                        <a:spcAft>
                          <a:spcPts val="0"/>
                        </a:spcAft>
                        <a:buClrTx/>
                        <a:buSzTx/>
                        <a:buFontTx/>
                        <a:buNone/>
                        <a:tabLst/>
                        <a:defRPr/>
                      </a:pPr>
                      <a:r>
                        <a:rPr lang="en-US" sz="1100" b="1" i="0" kern="1200" dirty="0">
                          <a:solidFill>
                            <a:schemeClr val="tx1"/>
                          </a:solidFill>
                          <a:effectLst/>
                          <a:latin typeface="Almarai" pitchFamily="2" charset="-78"/>
                          <a:ea typeface="+mn-ea"/>
                          <a:cs typeface="Almarai" pitchFamily="2" charset="-78"/>
                        </a:rPr>
                        <a:t>Q2</a:t>
                      </a:r>
                      <a:r>
                        <a:rPr kumimoji="0" lang="en-US" sz="1100" b="1"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rPr>
                        <a:t>+Q1</a:t>
                      </a:r>
                      <a:r>
                        <a:rPr kumimoji="0" lang="ar-SA" sz="1100" b="0"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rPr>
                        <a:t>- تنفيذ التدريب مرتبط بالاعتماد النهائي لخطة التدريب وعليه التدريب سيبدأ تنفيذه في شهر يوليو 2025</a:t>
                      </a:r>
                      <a:endParaRPr kumimoji="0" lang="en-US" sz="1100" b="0"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endParaRPr>
                    </a:p>
                  </a:txBody>
                  <a:tcPr marL="91437" marR="91437" marT="30387" marB="30387">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100" b="0" i="0" u="none" strike="noStrike" dirty="0">
                        <a:solidFill>
                          <a:srgbClr val="000000"/>
                        </a:solidFill>
                        <a:effectLst/>
                        <a:latin typeface="Almarai" pitchFamily="2" charset="-78"/>
                        <a:cs typeface="Almarai" pitchFamily="2" charset="-78"/>
                      </a:endParaRPr>
                    </a:p>
                  </a:txBody>
                  <a:tcPr marL="9525" marR="9525" marT="9525" marB="0">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100" b="0" i="0" u="none" strike="noStrike" kern="1200" dirty="0">
                          <a:solidFill>
                            <a:srgbClr val="000000"/>
                          </a:solidFill>
                          <a:effectLst/>
                          <a:latin typeface="Almarai" pitchFamily="2" charset="-78"/>
                          <a:ea typeface="+mn-ea"/>
                          <a:cs typeface="Almarai" pitchFamily="2" charset="-78"/>
                        </a:rPr>
                        <a:t>0%</a:t>
                      </a: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100" b="0" i="0" u="none" strike="noStrike" kern="1200" dirty="0">
                          <a:solidFill>
                            <a:srgbClr val="000000"/>
                          </a:solidFill>
                          <a:effectLst/>
                          <a:latin typeface="Almarai" pitchFamily="2" charset="-78"/>
                          <a:ea typeface="+mn-ea"/>
                          <a:cs typeface="Almarai" pitchFamily="2" charset="-78"/>
                        </a:rPr>
                        <a:t>0%</a:t>
                      </a: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en-US" sz="1100" dirty="0">
                          <a:latin typeface="Almarai" pitchFamily="2" charset="-78"/>
                          <a:cs typeface="Almarai" pitchFamily="2" charset="-78"/>
                        </a:rPr>
                        <a:t>80%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100" dirty="0">
                          <a:latin typeface="Almarai" pitchFamily="2" charset="-78"/>
                          <a:cs typeface="Almarai" pitchFamily="2" charset="-78"/>
                        </a:rPr>
                        <a:t>% الموظفين المدربين</a:t>
                      </a:r>
                      <a:endParaRPr lang="en-US" sz="1100" dirty="0">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rtl="1">
                        <a:lnSpc>
                          <a:spcPct val="150000"/>
                        </a:lnSpc>
                      </a:pPr>
                      <a:r>
                        <a:rPr lang="en-US" sz="1100" dirty="0">
                          <a:solidFill>
                            <a:schemeClr val="tx1"/>
                          </a:solidFill>
                          <a:latin typeface="Almarai" pitchFamily="2" charset="-78"/>
                          <a:cs typeface="Almarai" pitchFamily="2" charset="-78"/>
                        </a:rPr>
                        <a:t>25%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lnSpc>
                          <a:spcPct val="150000"/>
                        </a:lnSpc>
                      </a:pPr>
                      <a:r>
                        <a:rPr lang="ar-SA" sz="1100" dirty="0">
                          <a:solidFill>
                            <a:schemeClr val="tx1"/>
                          </a:solidFill>
                          <a:latin typeface="Almarai" pitchFamily="2" charset="-78"/>
                          <a:cs typeface="Almarai" pitchFamily="2" charset="-78"/>
                        </a:rPr>
                        <a:t>سنوي</a:t>
                      </a:r>
                      <a:endParaRPr lang="en-US" sz="11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345933"/>
                  </a:ext>
                </a:extLst>
              </a:tr>
              <a:tr h="277712">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en-US" sz="1100" b="1"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rPr>
                        <a:t>Q1</a:t>
                      </a:r>
                      <a:r>
                        <a:rPr kumimoji="0" lang="ar-SA" sz="1100" b="0"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rPr>
                        <a:t>- ورشة إدارة المشاريع بالتعاون مع القابضة</a:t>
                      </a:r>
                      <a:endParaRPr kumimoji="0" lang="en-US" sz="1100" b="0"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endParaRPr>
                    </a:p>
                  </a:txBody>
                  <a:tcPr marL="91437" marR="91437" marT="30387" marB="30387">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100" b="0" i="0" u="none" strike="noStrike">
                        <a:solidFill>
                          <a:srgbClr val="000000"/>
                        </a:solidFill>
                        <a:effectLst/>
                        <a:latin typeface="Almarai" pitchFamily="2" charset="-78"/>
                        <a:cs typeface="Almarai" pitchFamily="2" charset="-78"/>
                      </a:endParaRPr>
                    </a:p>
                  </a:txBody>
                  <a:tcPr marL="9525" marR="9525" marT="9525" marB="0">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100" b="0" i="0" u="none" strike="noStrike" kern="1200" dirty="0">
                          <a:solidFill>
                            <a:srgbClr val="000000"/>
                          </a:solidFill>
                          <a:effectLst/>
                          <a:latin typeface="Almarai" pitchFamily="2" charset="-78"/>
                          <a:ea typeface="+mn-ea"/>
                          <a:cs typeface="Almarai" pitchFamily="2" charset="-78"/>
                        </a:rPr>
                        <a:t>0</a:t>
                      </a: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100" b="0" i="0" u="none" strike="noStrike" kern="1200" dirty="0">
                          <a:solidFill>
                            <a:srgbClr val="000000"/>
                          </a:solidFill>
                          <a:effectLst/>
                          <a:latin typeface="Almarai" pitchFamily="2" charset="-78"/>
                          <a:ea typeface="+mn-ea"/>
                          <a:cs typeface="Almarai" pitchFamily="2" charset="-78"/>
                        </a:rPr>
                        <a:t>1</a:t>
                      </a: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100" dirty="0">
                          <a:latin typeface="Almarai" pitchFamily="2" charset="-78"/>
                          <a:cs typeface="Almarai" pitchFamily="2" charset="-78"/>
                        </a:rPr>
                        <a:t>1</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r" rtl="1">
                        <a:lnSpc>
                          <a:spcPct val="150000"/>
                        </a:lnSpc>
                      </a:pPr>
                      <a:r>
                        <a:rPr lang="ar-SA" sz="1100" dirty="0">
                          <a:latin typeface="Almarai" pitchFamily="2" charset="-78"/>
                          <a:cs typeface="Almarai" pitchFamily="2" charset="-78"/>
                        </a:rPr>
                        <a:t># ورش العمل</a:t>
                      </a:r>
                      <a:endParaRPr lang="en-US" sz="1100" dirty="0">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lmarai" pitchFamily="2" charset="-78"/>
                          <a:ea typeface="+mn-ea"/>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100" dirty="0">
                          <a:solidFill>
                            <a:schemeClr val="tx1"/>
                          </a:solidFill>
                          <a:latin typeface="Almarai" pitchFamily="2" charset="-78"/>
                          <a:cs typeface="Almarai" pitchFamily="2" charset="-78"/>
                        </a:rPr>
                        <a:t>سنوي</a:t>
                      </a:r>
                      <a:endParaRPr lang="en-US" sz="11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2732480"/>
                  </a:ext>
                </a:extLst>
              </a:tr>
              <a:tr h="1355935">
                <a:tc>
                  <a:txBody>
                    <a:bodyPr/>
                    <a:lstStyle/>
                    <a:p>
                      <a:pPr marL="0" marR="0" lvl="0" indent="0" algn="r" defTabSz="914400" rtl="1" eaLnBrk="1" fontAlgn="b" latinLnBrk="0" hangingPunct="1">
                        <a:lnSpc>
                          <a:spcPct val="150000"/>
                        </a:lnSpc>
                        <a:spcBef>
                          <a:spcPts val="0"/>
                        </a:spcBef>
                        <a:spcAft>
                          <a:spcPts val="0"/>
                        </a:spcAft>
                        <a:buClrTx/>
                        <a:buSzTx/>
                        <a:buFont typeface="Arial" panose="020B0604020202020204" pitchFamily="34" charset="0"/>
                        <a:buNone/>
                        <a:tabLst/>
                        <a:defRPr/>
                      </a:pPr>
                      <a:r>
                        <a:rPr lang="en-US" sz="1100" b="0" i="0" kern="1200" dirty="0">
                          <a:solidFill>
                            <a:schemeClr val="tx1"/>
                          </a:solidFill>
                          <a:effectLst/>
                          <a:latin typeface="Almarai" pitchFamily="2" charset="-78"/>
                          <a:ea typeface="+mn-ea"/>
                          <a:cs typeface="Almarai" pitchFamily="2" charset="-78"/>
                        </a:rPr>
                        <a:t> -</a:t>
                      </a:r>
                      <a:r>
                        <a:rPr lang="en-US" sz="1100" b="1" i="0" kern="1200" dirty="0">
                          <a:solidFill>
                            <a:schemeClr val="tx1"/>
                          </a:solidFill>
                          <a:effectLst/>
                          <a:latin typeface="Almarai" pitchFamily="2" charset="-78"/>
                          <a:ea typeface="+mn-ea"/>
                          <a:cs typeface="Almarai" pitchFamily="2" charset="-78"/>
                        </a:rPr>
                        <a:t>Q1</a:t>
                      </a:r>
                      <a:r>
                        <a:rPr lang="ar-SA" sz="1100" b="0" i="0" kern="1200" dirty="0">
                          <a:solidFill>
                            <a:schemeClr val="tx1"/>
                          </a:solidFill>
                          <a:effectLst/>
                          <a:latin typeface="Almarai" pitchFamily="2" charset="-78"/>
                          <a:ea typeface="+mn-ea"/>
                          <a:cs typeface="Almarai" pitchFamily="2" charset="-78"/>
                        </a:rPr>
                        <a:t>تم تحقيق أكثر من النسبة المطلوبة في الربع الأول بمقدار 23%</a:t>
                      </a:r>
                      <a:endParaRPr lang="en-US" sz="1100" b="0" i="0" kern="1200" dirty="0">
                        <a:solidFill>
                          <a:schemeClr val="tx1"/>
                        </a:solidFill>
                        <a:effectLst/>
                        <a:latin typeface="Almarai" pitchFamily="2" charset="-78"/>
                        <a:ea typeface="+mn-ea"/>
                        <a:cs typeface="Almarai" pitchFamily="2" charset="-78"/>
                      </a:endParaRPr>
                    </a:p>
                    <a:p>
                      <a:pPr marL="0" marR="0" lvl="0" indent="0" algn="r" defTabSz="914400" rtl="1" eaLnBrk="1" fontAlgn="b" latinLnBrk="0" hangingPunct="1">
                        <a:lnSpc>
                          <a:spcPct val="150000"/>
                        </a:lnSpc>
                        <a:spcBef>
                          <a:spcPts val="0"/>
                        </a:spcBef>
                        <a:spcAft>
                          <a:spcPts val="0"/>
                        </a:spcAft>
                        <a:buClrTx/>
                        <a:buSzTx/>
                        <a:buFont typeface="Arial" panose="020B0604020202020204" pitchFamily="34" charset="0"/>
                        <a:buNone/>
                        <a:tabLst/>
                        <a:defRPr/>
                      </a:pPr>
                      <a:r>
                        <a:rPr lang="en-US" sz="1100" b="0" i="0" kern="1200" dirty="0">
                          <a:solidFill>
                            <a:schemeClr val="tx1"/>
                          </a:solidFill>
                          <a:effectLst/>
                          <a:latin typeface="Almarai" pitchFamily="2" charset="-78"/>
                          <a:ea typeface="+mn-ea"/>
                          <a:cs typeface="Almarai" pitchFamily="2" charset="-78"/>
                        </a:rPr>
                        <a:t>-</a:t>
                      </a:r>
                      <a:r>
                        <a:rPr lang="en-US" sz="1100" b="1" i="0" kern="1200" dirty="0">
                          <a:solidFill>
                            <a:schemeClr val="tx1"/>
                          </a:solidFill>
                          <a:effectLst/>
                          <a:latin typeface="Almarai" pitchFamily="2" charset="-78"/>
                          <a:ea typeface="+mn-ea"/>
                          <a:cs typeface="Almarai" pitchFamily="2" charset="-78"/>
                        </a:rPr>
                        <a:t>Q2</a:t>
                      </a:r>
                      <a:r>
                        <a:rPr lang="ar-SA" sz="1100" b="0" i="0" kern="1200" dirty="0">
                          <a:solidFill>
                            <a:schemeClr val="tx1"/>
                          </a:solidFill>
                          <a:effectLst/>
                          <a:latin typeface="Almarai" pitchFamily="2" charset="-78"/>
                          <a:ea typeface="+mn-ea"/>
                          <a:cs typeface="Almarai" pitchFamily="2" charset="-78"/>
                        </a:rPr>
                        <a:t>تم تحقيق أكثر من النسبة المطلوبة في الربع الثاني  بمقدار </a:t>
                      </a:r>
                      <a:r>
                        <a:rPr lang="en-US" sz="1100" b="0" i="0" kern="1200" dirty="0">
                          <a:solidFill>
                            <a:schemeClr val="tx1"/>
                          </a:solidFill>
                          <a:effectLst/>
                          <a:latin typeface="Almarai" pitchFamily="2" charset="-78"/>
                          <a:ea typeface="+mn-ea"/>
                          <a:cs typeface="Almarai" pitchFamily="2" charset="-78"/>
                        </a:rPr>
                        <a:t>33%</a:t>
                      </a:r>
                    </a:p>
                    <a:p>
                      <a:pPr marL="0" marR="0" lvl="0" indent="0" algn="r" defTabSz="914400" rtl="1" eaLnBrk="1" fontAlgn="b" latinLnBrk="0" hangingPunct="1">
                        <a:lnSpc>
                          <a:spcPct val="150000"/>
                        </a:lnSpc>
                        <a:spcBef>
                          <a:spcPts val="0"/>
                        </a:spcBef>
                        <a:spcAft>
                          <a:spcPts val="0"/>
                        </a:spcAft>
                        <a:buClrTx/>
                        <a:buSzTx/>
                        <a:buFont typeface="Arial" panose="020B0604020202020204" pitchFamily="34" charset="0"/>
                        <a:buNone/>
                        <a:tabLst/>
                        <a:defRPr/>
                      </a:pPr>
                      <a:r>
                        <a:rPr lang="ar-SA" sz="1100" b="0" i="0" kern="1200" noProof="0" dirty="0">
                          <a:solidFill>
                            <a:schemeClr val="tx1"/>
                          </a:solidFill>
                          <a:effectLst/>
                          <a:latin typeface="Almarai" pitchFamily="2" charset="-78"/>
                          <a:ea typeface="+mn-ea"/>
                          <a:cs typeface="Almarai" pitchFamily="2" charset="-78"/>
                        </a:rPr>
                        <a:t>حسب توجه الرئيس التنفيذي تم تعليق خطة الاندماج الوظيفي 2025م </a:t>
                      </a:r>
                    </a:p>
                  </a:txBody>
                  <a:tcPr marL="91437" marR="91437" marT="30387" marB="30387">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100" b="0" i="0" u="none" strike="noStrike" dirty="0">
                        <a:solidFill>
                          <a:srgbClr val="000000"/>
                        </a:solidFill>
                        <a:effectLst/>
                        <a:latin typeface="Almarai" pitchFamily="2" charset="-78"/>
                        <a:cs typeface="Almarai" pitchFamily="2" charset="-78"/>
                      </a:endParaRPr>
                    </a:p>
                  </a:txBody>
                  <a:tcPr marL="9525" marR="9525" marT="9525" marB="0">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100" b="0" i="0" u="none" strike="noStrike" kern="1200" dirty="0">
                          <a:solidFill>
                            <a:srgbClr val="000000"/>
                          </a:solidFill>
                          <a:effectLst/>
                          <a:latin typeface="Almarai" pitchFamily="2" charset="-78"/>
                          <a:ea typeface="+mn-ea"/>
                          <a:cs typeface="Almarai" pitchFamily="2" charset="-78"/>
                        </a:rPr>
                        <a:t>53%</a:t>
                      </a: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100" b="0" i="0" u="none" strike="noStrike" kern="1200" dirty="0">
                          <a:solidFill>
                            <a:srgbClr val="000000"/>
                          </a:solidFill>
                          <a:effectLst/>
                          <a:latin typeface="Almarai" pitchFamily="2" charset="-78"/>
                          <a:ea typeface="+mn-ea"/>
                          <a:cs typeface="Almarai" pitchFamily="2" charset="-78"/>
                        </a:rPr>
                        <a:t>48%</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100" dirty="0">
                          <a:latin typeface="Almarai" pitchFamily="2" charset="-78"/>
                          <a:cs typeface="Almarai" pitchFamily="2" charset="-78"/>
                        </a:rPr>
                        <a:t>80%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en-US" sz="1100" dirty="0">
                          <a:latin typeface="Almarai" pitchFamily="2" charset="-78"/>
                          <a:cs typeface="Almarai" pitchFamily="2" charset="-78"/>
                        </a:rPr>
                        <a:t>%</a:t>
                      </a:r>
                      <a:r>
                        <a:rPr lang="ar-SA" sz="1100" dirty="0">
                          <a:latin typeface="Almarai" pitchFamily="2" charset="-78"/>
                          <a:cs typeface="Almarai" pitchFamily="2" charset="-78"/>
                        </a:rPr>
                        <a:t> مبادرات الاندماج الوظيفي  خلال السنة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lmarai" pitchFamily="2" charset="-78"/>
                          <a:ea typeface="+mn-ea"/>
                          <a:cs typeface="Almarai" pitchFamily="2" charset="-78"/>
                        </a:rPr>
                        <a:t>25%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100" dirty="0">
                          <a:solidFill>
                            <a:schemeClr val="tx1"/>
                          </a:solidFill>
                          <a:latin typeface="Almarai" pitchFamily="2" charset="-78"/>
                          <a:cs typeface="Almarai" pitchFamily="2" charset="-78"/>
                        </a:rPr>
                        <a:t>سنوي</a:t>
                      </a:r>
                      <a:endParaRPr lang="en-US" sz="11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1117382"/>
                  </a:ext>
                </a:extLst>
              </a:tr>
              <a:tr h="908067">
                <a:tc>
                  <a:txBody>
                    <a:bodyPr/>
                    <a:lstStyle/>
                    <a:p>
                      <a:pPr marL="0" marR="0" lvl="0" indent="0" algn="r" defTabSz="914400" rtl="1" eaLnBrk="1" fontAlgn="b" latinLnBrk="0" hangingPunct="1">
                        <a:lnSpc>
                          <a:spcPct val="150000"/>
                        </a:lnSpc>
                        <a:spcBef>
                          <a:spcPts val="0"/>
                        </a:spcBef>
                        <a:spcAft>
                          <a:spcPts val="0"/>
                        </a:spcAft>
                        <a:buClrTx/>
                        <a:buSzTx/>
                        <a:buFontTx/>
                        <a:buNone/>
                        <a:tabLst/>
                        <a:defRPr/>
                      </a:pPr>
                      <a:r>
                        <a:rPr kumimoji="0" lang="en-US" sz="1100" b="0"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rPr>
                        <a:t> </a:t>
                      </a:r>
                      <a:r>
                        <a:rPr kumimoji="0" lang="ar-SA" sz="1100" b="0"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rPr>
                        <a:t> </a:t>
                      </a:r>
                      <a:r>
                        <a:rPr kumimoji="0" lang="en-US" sz="1100" b="0"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rPr>
                        <a:t>- </a:t>
                      </a:r>
                      <a:r>
                        <a:rPr lang="en-US" sz="1100" b="1" i="0" kern="1200" dirty="0">
                          <a:solidFill>
                            <a:schemeClr val="tx1"/>
                          </a:solidFill>
                          <a:effectLst/>
                          <a:latin typeface="Almarai" pitchFamily="2" charset="-78"/>
                          <a:ea typeface="+mn-ea"/>
                          <a:cs typeface="Almarai" pitchFamily="2" charset="-78"/>
                        </a:rPr>
                        <a:t>Q2</a:t>
                      </a:r>
                      <a:r>
                        <a:rPr kumimoji="0" lang="en-US" sz="1100" b="1"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rPr>
                        <a:t>+</a:t>
                      </a:r>
                      <a:r>
                        <a:rPr lang="en-US" sz="1100" b="1" i="0" kern="1200" dirty="0">
                          <a:solidFill>
                            <a:schemeClr val="tx1"/>
                          </a:solidFill>
                          <a:effectLst/>
                          <a:latin typeface="Almarai" pitchFamily="2" charset="-78"/>
                          <a:ea typeface="+mn-ea"/>
                          <a:cs typeface="Almarai" pitchFamily="2" charset="-78"/>
                        </a:rPr>
                        <a:t>Q1</a:t>
                      </a:r>
                      <a:r>
                        <a:rPr kumimoji="0" lang="ar-SA" sz="1100" b="0"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rPr>
                        <a:t>الاستبيان يتم نهاية السنة عن طريق الشركة القابضة وعليه قياس المؤشر يتم بشكل سنوي</a:t>
                      </a:r>
                    </a:p>
                    <a:p>
                      <a:pPr marL="0" marR="0" lvl="0" indent="0" algn="r" defTabSz="914400" rtl="1" eaLnBrk="1" fontAlgn="b" latinLnBrk="0" hangingPunct="1">
                        <a:lnSpc>
                          <a:spcPct val="150000"/>
                        </a:lnSpc>
                        <a:spcBef>
                          <a:spcPts val="0"/>
                        </a:spcBef>
                        <a:spcAft>
                          <a:spcPts val="0"/>
                        </a:spcAft>
                        <a:buClrTx/>
                        <a:buSzTx/>
                        <a:buFontTx/>
                        <a:buNone/>
                        <a:tabLst/>
                        <a:defRPr/>
                      </a:pPr>
                      <a:r>
                        <a:rPr lang="ar-SA" sz="1100" b="0" i="0" kern="1200" noProof="0" dirty="0">
                          <a:solidFill>
                            <a:schemeClr val="tx1"/>
                          </a:solidFill>
                          <a:effectLst/>
                          <a:latin typeface="Almarai" pitchFamily="2" charset="-78"/>
                          <a:ea typeface="+mn-ea"/>
                          <a:cs typeface="Almarai" pitchFamily="2" charset="-78"/>
                        </a:rPr>
                        <a:t>حسب توجه الرئيس التنفيذي تم تعليق خطة الاندماج الوظيفي 2025م </a:t>
                      </a:r>
                    </a:p>
                  </a:txBody>
                  <a:tcPr marL="91437" marR="91437" marT="30387" marB="30387">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100" b="0" i="0" u="none" strike="noStrike" dirty="0">
                        <a:solidFill>
                          <a:srgbClr val="000000"/>
                        </a:solidFill>
                        <a:effectLst/>
                        <a:latin typeface="Almarai" pitchFamily="2" charset="-78"/>
                        <a:cs typeface="Almarai" pitchFamily="2" charset="-78"/>
                      </a:endParaRPr>
                    </a:p>
                  </a:txBody>
                  <a:tcPr marL="9525" marR="9525" marT="9525" marB="0">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100" b="0" i="0" u="none" strike="noStrike" kern="1200" dirty="0">
                          <a:solidFill>
                            <a:srgbClr val="000000"/>
                          </a:solidFill>
                          <a:effectLst/>
                          <a:latin typeface="Almarai" pitchFamily="2" charset="-78"/>
                          <a:ea typeface="+mn-ea"/>
                          <a:cs typeface="Almarai" pitchFamily="2" charset="-78"/>
                        </a:rPr>
                        <a:t>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100" b="0" i="0" u="none" strike="noStrike" kern="1200" dirty="0">
                          <a:solidFill>
                            <a:srgbClr val="000000"/>
                          </a:solidFill>
                          <a:effectLst/>
                          <a:latin typeface="Almarai" pitchFamily="2" charset="-78"/>
                          <a:ea typeface="+mn-ea"/>
                          <a:cs typeface="Almarai" pitchFamily="2" charset="-78"/>
                        </a:rPr>
                        <a:t>0%</a:t>
                      </a: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100" dirty="0">
                          <a:latin typeface="Almarai" pitchFamily="2" charset="-78"/>
                          <a:cs typeface="Almarai" pitchFamily="2" charset="-78"/>
                        </a:rPr>
                        <a:t>80%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100" dirty="0">
                          <a:latin typeface="Almarai" pitchFamily="2" charset="-78"/>
                          <a:cs typeface="Almarai" pitchFamily="2" charset="-78"/>
                        </a:rPr>
                        <a:t>% الارتباط الوظيفي</a:t>
                      </a:r>
                      <a:endParaRPr lang="en-US" sz="1100" dirty="0">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lmarai" pitchFamily="2" charset="-78"/>
                          <a:ea typeface="+mn-ea"/>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100" dirty="0">
                          <a:solidFill>
                            <a:schemeClr val="tx1"/>
                          </a:solidFill>
                          <a:latin typeface="Almarai" pitchFamily="2" charset="-78"/>
                          <a:cs typeface="Almarai" pitchFamily="2" charset="-78"/>
                        </a:rPr>
                        <a:t>سنوي</a:t>
                      </a:r>
                      <a:endParaRPr lang="en-US" sz="11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519002"/>
                  </a:ext>
                </a:extLst>
              </a:tr>
              <a:tr h="352700">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en-US" sz="1100" b="1" i="0" kern="1200" dirty="0">
                          <a:solidFill>
                            <a:schemeClr val="tx1"/>
                          </a:solidFill>
                          <a:effectLst/>
                          <a:latin typeface="Almarai" pitchFamily="2" charset="-78"/>
                          <a:ea typeface="+mn-ea"/>
                          <a:cs typeface="Almarai" pitchFamily="2" charset="-78"/>
                        </a:rPr>
                        <a:t>Q1</a:t>
                      </a:r>
                      <a:r>
                        <a:rPr lang="en-US" sz="1100" b="0" i="0" kern="1200" dirty="0">
                          <a:solidFill>
                            <a:schemeClr val="tx1"/>
                          </a:solidFill>
                          <a:effectLst/>
                          <a:latin typeface="Almarai" pitchFamily="2" charset="-78"/>
                          <a:ea typeface="+mn-ea"/>
                          <a:cs typeface="Almarai" pitchFamily="2" charset="-78"/>
                        </a:rPr>
                        <a:t> </a:t>
                      </a:r>
                      <a:r>
                        <a:rPr lang="ar-SA" sz="1100" b="0" i="0" kern="1200" dirty="0">
                          <a:solidFill>
                            <a:schemeClr val="tx1"/>
                          </a:solidFill>
                          <a:effectLst/>
                          <a:latin typeface="Almarai" pitchFamily="2" charset="-78"/>
                          <a:ea typeface="+mn-ea"/>
                          <a:cs typeface="Almarai" pitchFamily="2" charset="-78"/>
                        </a:rPr>
                        <a:t> عدد الاستقالات 2</a:t>
                      </a:r>
                    </a:p>
                    <a:p>
                      <a:pPr marL="0" marR="0" lvl="0" indent="0" algn="r" defTabSz="914400" rtl="1" eaLnBrk="1" fontAlgn="b" latinLnBrk="0" hangingPunct="1">
                        <a:lnSpc>
                          <a:spcPct val="100000"/>
                        </a:lnSpc>
                        <a:spcBef>
                          <a:spcPts val="0"/>
                        </a:spcBef>
                        <a:spcAft>
                          <a:spcPts val="0"/>
                        </a:spcAft>
                        <a:buClrTx/>
                        <a:buSzTx/>
                        <a:buFontTx/>
                        <a:buNone/>
                        <a:tabLst/>
                        <a:defRPr/>
                      </a:pPr>
                      <a:r>
                        <a:rPr lang="en-US" sz="1100" b="1" i="0" kern="1200" dirty="0">
                          <a:solidFill>
                            <a:schemeClr val="tx1"/>
                          </a:solidFill>
                          <a:effectLst/>
                          <a:latin typeface="Almarai" pitchFamily="2" charset="-78"/>
                          <a:ea typeface="+mn-ea"/>
                          <a:cs typeface="Almarai" pitchFamily="2" charset="-78"/>
                        </a:rPr>
                        <a:t>Q2 </a:t>
                      </a:r>
                      <a:r>
                        <a:rPr lang="ar-SA" sz="1100" b="0" i="0" kern="1200" dirty="0">
                          <a:solidFill>
                            <a:schemeClr val="tx1"/>
                          </a:solidFill>
                          <a:effectLst/>
                          <a:latin typeface="Almarai" pitchFamily="2" charset="-78"/>
                          <a:ea typeface="+mn-ea"/>
                          <a:cs typeface="Almarai" pitchFamily="2" charset="-78"/>
                        </a:rPr>
                        <a:t> عدد الاستقالات 3</a:t>
                      </a:r>
                      <a:endParaRPr lang="ar-SA" sz="1100" b="1" i="0" kern="1200" dirty="0">
                        <a:solidFill>
                          <a:schemeClr val="tx1"/>
                        </a:solidFill>
                        <a:effectLst/>
                        <a:latin typeface="Almarai" pitchFamily="2" charset="-78"/>
                        <a:ea typeface="+mn-ea"/>
                        <a:cs typeface="Almarai" pitchFamily="2" charset="-78"/>
                      </a:endParaRPr>
                    </a:p>
                  </a:txBody>
                  <a:tcPr marL="91437" marR="91437" marT="30387" marB="30387">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100" b="0" i="0" u="none" strike="noStrike" dirty="0">
                        <a:solidFill>
                          <a:srgbClr val="000000"/>
                        </a:solidFill>
                        <a:effectLst/>
                        <a:latin typeface="Almarai" pitchFamily="2" charset="-78"/>
                        <a:cs typeface="Almarai" pitchFamily="2" charset="-78"/>
                      </a:endParaRPr>
                    </a:p>
                  </a:txBody>
                  <a:tcPr marL="9525" marR="9525" marT="9525" marB="0">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rgbClr val="000000"/>
                          </a:solidFill>
                          <a:effectLst/>
                          <a:latin typeface="Almarai" pitchFamily="2" charset="-78"/>
                          <a:ea typeface="+mn-ea"/>
                          <a:cs typeface="Almarai" pitchFamily="2" charset="-78"/>
                        </a:rPr>
                        <a:t>3.80 %</a:t>
                      </a:r>
                      <a:endParaRPr lang="ar-SA" sz="12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100" b="0" i="0" u="none" strike="noStrike" kern="1200" dirty="0">
                          <a:solidFill>
                            <a:srgbClr val="000000"/>
                          </a:solidFill>
                          <a:effectLst/>
                          <a:latin typeface="Almarai" pitchFamily="2" charset="-78"/>
                          <a:ea typeface="+mn-ea"/>
                          <a:cs typeface="Almarai" pitchFamily="2" charset="-78"/>
                        </a:rPr>
                        <a:t>2.53 % </a:t>
                      </a: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100" dirty="0">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100" dirty="0">
                          <a:latin typeface="Almarai" pitchFamily="2" charset="-78"/>
                          <a:cs typeface="Almarai" pitchFamily="2" charset="-78"/>
                        </a:rPr>
                        <a:t>% الاستقالات (الادارية)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lmarai" pitchFamily="2" charset="-78"/>
                          <a:ea typeface="+mn-ea"/>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100" dirty="0">
                          <a:solidFill>
                            <a:schemeClr val="tx1"/>
                          </a:solidFill>
                          <a:latin typeface="Almarai" pitchFamily="2" charset="-78"/>
                          <a:cs typeface="Almarai" pitchFamily="2" charset="-78"/>
                        </a:rPr>
                        <a:t>سنوي</a:t>
                      </a:r>
                      <a:endParaRPr lang="en-US" sz="11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0065364"/>
                  </a:ext>
                </a:extLst>
              </a:tr>
              <a:tr h="277712">
                <a:tc>
                  <a:txBody>
                    <a:bodyPr/>
                    <a:lstStyle/>
                    <a:p>
                      <a:pPr marL="0" marR="0" lvl="0" indent="0" algn="r" defTabSz="914400" rtl="1" eaLnBrk="1" fontAlgn="b" latinLnBrk="0" hangingPunct="1">
                        <a:lnSpc>
                          <a:spcPct val="150000"/>
                        </a:lnSpc>
                        <a:spcBef>
                          <a:spcPts val="0"/>
                        </a:spcBef>
                        <a:spcAft>
                          <a:spcPts val="0"/>
                        </a:spcAft>
                        <a:buClrTx/>
                        <a:buSzTx/>
                        <a:buFontTx/>
                        <a:buNone/>
                        <a:tabLst/>
                        <a:defRPr/>
                      </a:pPr>
                      <a:r>
                        <a:rPr lang="en-US" sz="1100" b="1" i="0" kern="1200" dirty="0">
                          <a:solidFill>
                            <a:schemeClr val="tx1"/>
                          </a:solidFill>
                          <a:effectLst/>
                          <a:latin typeface="Almarai" pitchFamily="2" charset="-78"/>
                          <a:ea typeface="+mn-ea"/>
                          <a:cs typeface="Almarai" pitchFamily="2" charset="-78"/>
                        </a:rPr>
                        <a:t>Q1</a:t>
                      </a:r>
                      <a:r>
                        <a:rPr lang="ar-SA" sz="1100" b="0" i="0" kern="1200" dirty="0">
                          <a:solidFill>
                            <a:schemeClr val="tx1"/>
                          </a:solidFill>
                          <a:effectLst/>
                          <a:latin typeface="Almarai" pitchFamily="2" charset="-78"/>
                          <a:ea typeface="+mn-ea"/>
                          <a:cs typeface="Almarai" pitchFamily="2" charset="-78"/>
                        </a:rPr>
                        <a:t>- عدد الاستقالات 1</a:t>
                      </a:r>
                    </a:p>
                  </a:txBody>
                  <a:tcPr marL="91437" marR="91437" marT="30387" marB="30387">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100" b="0" i="0" u="none" strike="noStrike" dirty="0">
                        <a:solidFill>
                          <a:srgbClr val="000000"/>
                        </a:solidFill>
                        <a:effectLst/>
                        <a:latin typeface="Almarai" pitchFamily="2" charset="-78"/>
                        <a:cs typeface="Almarai" pitchFamily="2" charset="-78"/>
                      </a:endParaRPr>
                    </a:p>
                  </a:txBody>
                  <a:tcPr marL="9525" marR="9525" marT="9525" marB="0">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rgbClr val="000000"/>
                          </a:solidFill>
                          <a:effectLst/>
                          <a:latin typeface="Almarai" pitchFamily="2" charset="-78"/>
                          <a:ea typeface="+mn-ea"/>
                          <a:cs typeface="Almarai" pitchFamily="2" charset="-78"/>
                        </a:rPr>
                        <a:t>0 %</a:t>
                      </a:r>
                      <a:endParaRPr lang="ar-SA" sz="12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100" b="0" i="0" u="none" strike="noStrike" kern="1200" dirty="0">
                          <a:solidFill>
                            <a:srgbClr val="000000"/>
                          </a:solidFill>
                          <a:effectLst/>
                          <a:latin typeface="Almarai" pitchFamily="2" charset="-78"/>
                          <a:ea typeface="+mn-ea"/>
                          <a:cs typeface="Almarai" pitchFamily="2" charset="-78"/>
                        </a:rPr>
                        <a:t>0.42 %</a:t>
                      </a: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100" dirty="0">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100" dirty="0">
                          <a:latin typeface="Almarai" pitchFamily="2" charset="-78"/>
                          <a:cs typeface="Almarai" pitchFamily="2" charset="-78"/>
                        </a:rPr>
                        <a:t>% الاستقالات (التشغيلية)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100" dirty="0">
                          <a:solidFill>
                            <a:schemeClr val="tx1"/>
                          </a:solidFill>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100" dirty="0">
                          <a:solidFill>
                            <a:schemeClr val="tx1"/>
                          </a:solidFill>
                          <a:latin typeface="Almarai" pitchFamily="2" charset="-78"/>
                          <a:cs typeface="Almarai" pitchFamily="2" charset="-78"/>
                        </a:rPr>
                        <a:t>سنوي</a:t>
                      </a:r>
                      <a:endParaRPr lang="en-US" sz="11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032384"/>
                  </a:ext>
                </a:extLst>
              </a:tr>
              <a:tr h="1132001">
                <a:tc>
                  <a:txBody>
                    <a:bodyPr/>
                    <a:lstStyle/>
                    <a:p>
                      <a:pPr marL="0" marR="0" lvl="0" indent="0" algn="r" defTabSz="914400" rtl="1" eaLnBrk="1" fontAlgn="b" latinLnBrk="0" hangingPunct="1">
                        <a:lnSpc>
                          <a:spcPct val="150000"/>
                        </a:lnSpc>
                        <a:spcBef>
                          <a:spcPts val="0"/>
                        </a:spcBef>
                        <a:spcAft>
                          <a:spcPts val="0"/>
                        </a:spcAft>
                        <a:buClrTx/>
                        <a:buSzTx/>
                        <a:buFontTx/>
                        <a:buNone/>
                        <a:tabLst/>
                        <a:defRPr/>
                      </a:pPr>
                      <a:r>
                        <a:rPr kumimoji="0" lang="en-US" sz="1100" b="0" i="0" u="none" strike="noStrike" kern="1200" cap="none" spc="40" normalizeH="0" baseline="0" noProof="0" dirty="0">
                          <a:ln>
                            <a:noFill/>
                          </a:ln>
                          <a:solidFill>
                            <a:srgbClr val="262626"/>
                          </a:solidFill>
                          <a:effectLst/>
                          <a:uLnTx/>
                          <a:uFillTx/>
                          <a:latin typeface="Almarai" pitchFamily="2" charset="-78"/>
                          <a:ea typeface="+mn-ea"/>
                          <a:cs typeface="Almarai" pitchFamily="2" charset="-78"/>
                        </a:rPr>
                        <a:t> -</a:t>
                      </a:r>
                      <a:r>
                        <a:rPr kumimoji="0" lang="en-US" sz="1100" b="1" i="0" u="none" strike="noStrike" kern="1200" cap="none" spc="40" normalizeH="0" baseline="0" noProof="0" dirty="0">
                          <a:ln>
                            <a:noFill/>
                          </a:ln>
                          <a:solidFill>
                            <a:srgbClr val="262626"/>
                          </a:solidFill>
                          <a:effectLst/>
                          <a:uLnTx/>
                          <a:uFillTx/>
                          <a:latin typeface="Almarai" pitchFamily="2" charset="-78"/>
                          <a:ea typeface="+mn-ea"/>
                          <a:cs typeface="Almarai" pitchFamily="2" charset="-78"/>
                        </a:rPr>
                        <a:t>Q1</a:t>
                      </a:r>
                      <a:r>
                        <a:rPr kumimoji="0" lang="ar-SA" sz="1100" b="0" i="0" u="none" strike="noStrike" kern="1200" cap="none" spc="40" normalizeH="0" baseline="0" noProof="0" dirty="0">
                          <a:ln>
                            <a:noFill/>
                          </a:ln>
                          <a:solidFill>
                            <a:srgbClr val="262626"/>
                          </a:solidFill>
                          <a:effectLst/>
                          <a:uLnTx/>
                          <a:uFillTx/>
                          <a:latin typeface="Almarai" pitchFamily="2" charset="-78"/>
                          <a:ea typeface="+mn-ea"/>
                          <a:cs typeface="Almarai" pitchFamily="2" charset="-78"/>
                        </a:rPr>
                        <a:t>ومبادرة على خطة الاندماج الوظيفي وسيتم العمل على تنفيذ مبادرات المسؤولية المجتمعي حسب الخطة</a:t>
                      </a:r>
                    </a:p>
                    <a:p>
                      <a:pPr marL="0" marR="0" lvl="0" indent="0" algn="r" defTabSz="914400" rtl="1" eaLnBrk="1" fontAlgn="b" latinLnBrk="0" hangingPunct="1">
                        <a:lnSpc>
                          <a:spcPct val="150000"/>
                        </a:lnSpc>
                        <a:spcBef>
                          <a:spcPts val="0"/>
                        </a:spcBef>
                        <a:spcAft>
                          <a:spcPts val="0"/>
                        </a:spcAft>
                        <a:buClrTx/>
                        <a:buSzTx/>
                        <a:buFontTx/>
                        <a:buNone/>
                        <a:tabLst/>
                        <a:defRPr/>
                      </a:pPr>
                      <a:r>
                        <a:rPr lang="en-US" sz="1100" b="1" i="0" kern="1200" dirty="0">
                          <a:solidFill>
                            <a:schemeClr val="tx1"/>
                          </a:solidFill>
                          <a:effectLst/>
                          <a:latin typeface="Almarai" pitchFamily="2" charset="-78"/>
                          <a:ea typeface="+mn-ea"/>
                          <a:cs typeface="Almarai" pitchFamily="2" charset="-78"/>
                        </a:rPr>
                        <a:t>Q2</a:t>
                      </a:r>
                      <a:r>
                        <a:rPr lang="en-US" sz="1100" b="0" i="0" kern="1200" dirty="0">
                          <a:solidFill>
                            <a:schemeClr val="tx1"/>
                          </a:solidFill>
                          <a:effectLst/>
                          <a:latin typeface="Almarai" pitchFamily="2" charset="-78"/>
                          <a:ea typeface="+mn-ea"/>
                          <a:cs typeface="Almarai" pitchFamily="2" charset="-78"/>
                        </a:rPr>
                        <a:t>-</a:t>
                      </a:r>
                      <a:r>
                        <a:rPr lang="ar-SA" sz="1100" b="0" i="0" kern="1200" dirty="0">
                          <a:solidFill>
                            <a:schemeClr val="tx1"/>
                          </a:solidFill>
                          <a:effectLst/>
                          <a:latin typeface="Almarai" pitchFamily="2" charset="-78"/>
                          <a:ea typeface="+mn-ea"/>
                          <a:cs typeface="Almarai" pitchFamily="2" charset="-78"/>
                        </a:rPr>
                        <a:t> مبادرة حجاج رافد</a:t>
                      </a:r>
                    </a:p>
                    <a:p>
                      <a:pPr marL="0" marR="0" lvl="0" indent="0" algn="r" defTabSz="914400" rtl="1" eaLnBrk="1" fontAlgn="b" latinLnBrk="0" hangingPunct="1">
                        <a:lnSpc>
                          <a:spcPct val="150000"/>
                        </a:lnSpc>
                        <a:spcBef>
                          <a:spcPts val="0"/>
                        </a:spcBef>
                        <a:spcAft>
                          <a:spcPts val="0"/>
                        </a:spcAft>
                        <a:buClrTx/>
                        <a:buSzTx/>
                        <a:buFontTx/>
                        <a:buNone/>
                        <a:tabLst/>
                        <a:defRPr/>
                      </a:pPr>
                      <a:r>
                        <a:rPr lang="ar-SA" sz="1100" b="0" i="0" kern="1200" noProof="0" dirty="0">
                          <a:solidFill>
                            <a:schemeClr val="tx1"/>
                          </a:solidFill>
                          <a:effectLst/>
                          <a:latin typeface="Almarai" pitchFamily="2" charset="-78"/>
                          <a:ea typeface="+mn-ea"/>
                          <a:cs typeface="Almarai" pitchFamily="2" charset="-78"/>
                        </a:rPr>
                        <a:t>حسب توجه الرئيس التنفيذي تم تعليق خطة الاندماج الوظيفي 2025م </a:t>
                      </a:r>
                    </a:p>
                  </a:txBody>
                  <a:tcPr marL="91437" marR="91437" marT="30387" marB="30387">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100" b="0" i="0" u="none" strike="noStrike" dirty="0">
                        <a:solidFill>
                          <a:srgbClr val="000000"/>
                        </a:solidFill>
                        <a:effectLst/>
                        <a:latin typeface="Almarai" pitchFamily="2" charset="-78"/>
                        <a:cs typeface="Almarai" pitchFamily="2" charset="-78"/>
                      </a:endParaRPr>
                    </a:p>
                  </a:txBody>
                  <a:tcPr marL="9525" marR="9525" marT="9525" marB="0">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100" b="0" i="0" u="none" strike="noStrike" kern="1200" dirty="0">
                          <a:solidFill>
                            <a:srgbClr val="000000"/>
                          </a:solidFill>
                          <a:effectLst/>
                          <a:latin typeface="Almarai" pitchFamily="2" charset="-78"/>
                          <a:ea typeface="+mn-ea"/>
                          <a:cs typeface="Almarai" pitchFamily="2" charset="-78"/>
                        </a:rPr>
                        <a:t>1</a:t>
                      </a: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50000"/>
                        </a:lnSpc>
                        <a:spcBef>
                          <a:spcPts val="0"/>
                        </a:spcBef>
                        <a:spcAft>
                          <a:spcPts val="0"/>
                        </a:spcAft>
                        <a:buClrTx/>
                        <a:buSzTx/>
                        <a:buFont typeface="Arial" panose="020B0604020202020204" pitchFamily="34" charset="0"/>
                        <a:buNone/>
                        <a:tabLst/>
                        <a:defRPr/>
                      </a:pPr>
                      <a:r>
                        <a:rPr lang="en-US" sz="1100" b="0" i="0" u="none" strike="noStrike" kern="1200" dirty="0">
                          <a:solidFill>
                            <a:srgbClr val="000000"/>
                          </a:solidFill>
                          <a:effectLst/>
                          <a:latin typeface="Almarai" pitchFamily="2" charset="-78"/>
                          <a:ea typeface="+mn-ea"/>
                          <a:cs typeface="Almarai" pitchFamily="2" charset="-78"/>
                        </a:rPr>
                        <a:t>0%</a:t>
                      </a:r>
                      <a:endParaRPr lang="ar-SA" sz="11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100" b="0" dirty="0">
                          <a:latin typeface="Almarai" pitchFamily="2" charset="-78"/>
                          <a:cs typeface="Almarai" pitchFamily="2" charset="-78"/>
                        </a:rPr>
                        <a:t>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100" b="0" dirty="0">
                          <a:latin typeface="Almarai" pitchFamily="2" charset="-78"/>
                          <a:cs typeface="Almarai" pitchFamily="2" charset="-78"/>
                        </a:rPr>
                        <a:t># أنشطة المسؤولية الاجتماعية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100" b="0" dirty="0">
                          <a:solidFill>
                            <a:schemeClr val="tx1"/>
                          </a:solidFill>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100" b="0" dirty="0">
                          <a:solidFill>
                            <a:schemeClr val="tx1"/>
                          </a:solidFill>
                          <a:latin typeface="Almarai" pitchFamily="2" charset="-78"/>
                          <a:cs typeface="Almarai" pitchFamily="2" charset="-78"/>
                        </a:rPr>
                        <a:t>سنوي</a:t>
                      </a:r>
                      <a:endParaRPr lang="en-US" sz="11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3618700"/>
                  </a:ext>
                </a:extLst>
              </a:tr>
            </a:tbl>
          </a:graphicData>
        </a:graphic>
      </p:graphicFrame>
    </p:spTree>
    <p:extLst>
      <p:ext uri="{BB962C8B-B14F-4D97-AF65-F5344CB8AC3E}">
        <p14:creationId xmlns:p14="http://schemas.microsoft.com/office/powerpoint/2010/main" val="7557184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B57B034-C7F8-9A2D-80B8-BBAE67037DAB}"/>
              </a:ext>
            </a:extLst>
          </p:cNvPr>
          <p:cNvSpPr/>
          <p:nvPr/>
        </p:nvSpPr>
        <p:spPr>
          <a:xfrm>
            <a:off x="5813660" y="0"/>
            <a:ext cx="6196704" cy="600164"/>
          </a:xfrm>
          <a:prstGeom prst="rect">
            <a:avLst/>
          </a:prstGeom>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endParaRPr kumimoji="0" lang="ar-SA" sz="2400" b="0" i="0" u="none" strike="noStrike" kern="1200" cap="none" spc="0" normalizeH="0" baseline="0" noProof="0" dirty="0">
              <a:ln>
                <a:noFill/>
              </a:ln>
              <a:solidFill>
                <a:srgbClr val="002959"/>
              </a:solidFill>
              <a:effectLst/>
              <a:uLnTx/>
              <a:uFillTx/>
              <a:latin typeface="Almarai Bold" pitchFamily="2" charset="-78"/>
              <a:ea typeface="+mn-ea"/>
              <a:cs typeface="Almarai Bold" pitchFamily="2" charset="-78"/>
            </a:endParaRPr>
          </a:p>
        </p:txBody>
      </p:sp>
      <p:graphicFrame>
        <p:nvGraphicFramePr>
          <p:cNvPr id="7" name="Table 2">
            <a:extLst>
              <a:ext uri="{FF2B5EF4-FFF2-40B4-BE49-F238E27FC236}">
                <a16:creationId xmlns:a16="http://schemas.microsoft.com/office/drawing/2014/main" id="{1E4FCB29-3777-5B99-A0EC-B06E4B48F4D0}"/>
              </a:ext>
            </a:extLst>
          </p:cNvPr>
          <p:cNvGraphicFramePr>
            <a:graphicFrameLocks noGrp="1"/>
          </p:cNvGraphicFramePr>
          <p:nvPr>
            <p:extLst>
              <p:ext uri="{D42A27DB-BD31-4B8C-83A1-F6EECF244321}">
                <p14:modId xmlns:p14="http://schemas.microsoft.com/office/powerpoint/2010/main" val="2299133934"/>
              </p:ext>
            </p:extLst>
          </p:nvPr>
        </p:nvGraphicFramePr>
        <p:xfrm>
          <a:off x="0" y="812721"/>
          <a:ext cx="12192000" cy="5536954"/>
        </p:xfrm>
        <a:graphic>
          <a:graphicData uri="http://schemas.openxmlformats.org/drawingml/2006/table">
            <a:tbl>
              <a:tblPr firstRow="1" bandRow="1">
                <a:tableStyleId>{5C22544A-7EE6-4342-B048-85BDC9FD1C3A}</a:tableStyleId>
              </a:tblPr>
              <a:tblGrid>
                <a:gridCol w="3102623">
                  <a:extLst>
                    <a:ext uri="{9D8B030D-6E8A-4147-A177-3AD203B41FA5}">
                      <a16:colId xmlns:a16="http://schemas.microsoft.com/office/drawing/2014/main" val="276634163"/>
                    </a:ext>
                  </a:extLst>
                </a:gridCol>
                <a:gridCol w="6635737">
                  <a:extLst>
                    <a:ext uri="{9D8B030D-6E8A-4147-A177-3AD203B41FA5}">
                      <a16:colId xmlns:a16="http://schemas.microsoft.com/office/drawing/2014/main" val="1759313315"/>
                    </a:ext>
                  </a:extLst>
                </a:gridCol>
                <a:gridCol w="2453640">
                  <a:extLst>
                    <a:ext uri="{9D8B030D-6E8A-4147-A177-3AD203B41FA5}">
                      <a16:colId xmlns:a16="http://schemas.microsoft.com/office/drawing/2014/main" val="3157918808"/>
                    </a:ext>
                  </a:extLst>
                </a:gridCol>
              </a:tblGrid>
              <a:tr h="555742">
                <a:tc>
                  <a:txBody>
                    <a:bodyPr/>
                    <a:lstStyle/>
                    <a:p>
                      <a:pPr algn="ctr">
                        <a:lnSpc>
                          <a:spcPct val="150000"/>
                        </a:lnSpc>
                      </a:pPr>
                      <a:r>
                        <a:rPr lang="ar-SA" sz="1400" dirty="0">
                          <a:latin typeface="Almarai" pitchFamily="2" charset="-78"/>
                          <a:cs typeface="Almarai" pitchFamily="2" charset="-78"/>
                        </a:rPr>
                        <a:t>الهدف التشغيلي</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شرح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837534">
                <a:tc>
                  <a:txBody>
                    <a:bodyPr/>
                    <a:lstStyle/>
                    <a:p>
                      <a:pPr algn="r" rtl="1">
                        <a:lnSpc>
                          <a:spcPct val="150000"/>
                        </a:lnSpc>
                      </a:pPr>
                      <a:r>
                        <a:rPr lang="ar-SA" sz="1200" dirty="0">
                          <a:solidFill>
                            <a:schemeClr val="tx1"/>
                          </a:solidFill>
                          <a:latin typeface="Almarai" pitchFamily="2" charset="-78"/>
                          <a:cs typeface="Almarai" pitchFamily="2" charset="-78"/>
                        </a:rPr>
                        <a:t>• تطبيق وتحسين جودة العمليات الداخلية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نسبة إغلاق طلبات الصيانة المستلمة (كما هي موضحة في دليل قطاع الخدمات المؤسسية) </a:t>
                      </a:r>
                      <a:endParaRPr lang="en-US" sz="1200" kern="1200" dirty="0">
                        <a:solidFill>
                          <a:schemeClr val="tx1"/>
                        </a:solidFill>
                        <a:latin typeface="Almarai" pitchFamily="2" charset="-78"/>
                        <a:ea typeface="+mn-ea"/>
                        <a:cs typeface="Almarai" pitchFamily="2" charset="-78"/>
                      </a:endParaRPr>
                    </a:p>
                    <a:p>
                      <a:pPr algn="r" rtl="1" fontAlgn="ctr"/>
                      <a:r>
                        <a:rPr lang="ar-SA" sz="1200" kern="1200" dirty="0">
                          <a:solidFill>
                            <a:schemeClr val="tx1"/>
                          </a:solidFill>
                          <a:latin typeface="Almarai" pitchFamily="2" charset="-78"/>
                          <a:ea typeface="+mn-ea"/>
                          <a:cs typeface="Almarai" pitchFamily="2" charset="-78"/>
                        </a:rPr>
                        <a:t>على البريد الإلكتروني أو على النظام في مدة أقصاها 4 أيام عمل.</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إغلاق الطلبات في الوقت المحدد</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935710478"/>
                  </a:ext>
                </a:extLst>
              </a:tr>
              <a:tr h="683234">
                <a:tc>
                  <a:txBody>
                    <a:bodyPr/>
                    <a:lstStyle/>
                    <a:p>
                      <a:pPr algn="r" rtl="1">
                        <a:lnSpc>
                          <a:spcPct val="150000"/>
                        </a:lnSpc>
                      </a:pPr>
                      <a:r>
                        <a:rPr lang="ar-SA" sz="1200" dirty="0">
                          <a:solidFill>
                            <a:schemeClr val="tx1"/>
                          </a:solidFill>
                          <a:latin typeface="Almarai" pitchFamily="2" charset="-78"/>
                          <a:cs typeface="Almarai" pitchFamily="2" charset="-78"/>
                        </a:rPr>
                        <a:t>•رفع مستوى جودة الخدمة والأمن والسلامة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عدد تمارين الإخلاء للمبنى الرئيسي والمكاتب الإقليمية بنجاح.</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تمارين الإخلاء المكتملة بنجاح</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082658606"/>
                  </a:ext>
                </a:extLst>
              </a:tr>
              <a:tr h="697947">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•رفع مستوى جودة الخدمة والأمن والسلامة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عدد الدورات التوعوية بالأمن والسلامة في المركز الرئيسي والفروع.</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الدورات التوعوية بالأمن والسلامة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016508191"/>
                  </a:ext>
                </a:extLst>
              </a:tr>
              <a:tr h="826346">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•تحسين سمعة الشركة وتعزيز علامتها التجارية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عدد مشاركات الشركة في المعارض والمؤتمرات الخاصة في قطاع النقل والقطاع التعليمي أو الفعاليات الداخلية.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الفعاليات الداخلية والمشاركات الخارجية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722397247"/>
                  </a:ext>
                </a:extLst>
              </a:tr>
              <a:tr h="807036">
                <a:tc>
                  <a:txBody>
                    <a:bodyPr/>
                    <a:lstStyle/>
                    <a:p>
                      <a:pPr algn="r" rtl="1">
                        <a:lnSpc>
                          <a:spcPct val="150000"/>
                        </a:lnSpc>
                      </a:pPr>
                      <a:r>
                        <a:rPr lang="ar-SA" sz="1200" dirty="0">
                          <a:solidFill>
                            <a:schemeClr val="tx1"/>
                          </a:solidFill>
                          <a:latin typeface="Almarai" pitchFamily="2" charset="-78"/>
                          <a:cs typeface="Almarai" pitchFamily="2" charset="-78"/>
                        </a:rPr>
                        <a:t>•تحسين سمعة الشركة وتعزيز علامتها التجارية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tc>
                  <a:txBody>
                    <a:bodyPr/>
                    <a:lstStyle/>
                    <a:p>
                      <a:pPr algn="r" rtl="1" fontAlgn="ctr"/>
                      <a:r>
                        <a:rPr lang="ar-SA" sz="1200" kern="1200" dirty="0">
                          <a:solidFill>
                            <a:schemeClr val="tx1"/>
                          </a:solidFill>
                          <a:latin typeface="Almarai" pitchFamily="2" charset="-78"/>
                          <a:ea typeface="+mn-ea"/>
                          <a:cs typeface="Almarai" pitchFamily="2" charset="-78"/>
                        </a:rPr>
                        <a:t>مجموع الظهور والمشاهدات في منصات التواصل الاجتماعية والمنصات الإعلامية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tc>
                  <a:txBody>
                    <a:bodyPr/>
                    <a:lstStyle/>
                    <a:p>
                      <a:pPr lvl="0" algn="r" rtl="1">
                        <a:lnSpc>
                          <a:spcPct val="150000"/>
                        </a:lnSpc>
                      </a:pPr>
                      <a:r>
                        <a:rPr lang="ar-SA" sz="1200" dirty="0">
                          <a:solidFill>
                            <a:schemeClr val="tx1"/>
                          </a:solidFill>
                          <a:latin typeface="Almarai" pitchFamily="2" charset="-78"/>
                          <a:cs typeface="Almarai" pitchFamily="2" charset="-78"/>
                        </a:rPr>
                        <a:t>#</a:t>
                      </a:r>
                      <a:r>
                        <a:rPr lang="en-US" sz="1200" dirty="0">
                          <a:solidFill>
                            <a:schemeClr val="tx1"/>
                          </a:solidFill>
                          <a:latin typeface="Almarai" pitchFamily="2" charset="-78"/>
                          <a:cs typeface="Almarai" pitchFamily="2" charset="-78"/>
                        </a:rPr>
                        <a:t> </a:t>
                      </a:r>
                      <a:r>
                        <a:rPr lang="ar-SA" sz="1200" dirty="0">
                          <a:solidFill>
                            <a:schemeClr val="tx1"/>
                          </a:solidFill>
                          <a:latin typeface="Almarai" pitchFamily="2" charset="-78"/>
                          <a:cs typeface="Almarai" pitchFamily="2" charset="-78"/>
                        </a:rPr>
                        <a:t>الظهور في وسائل التواصل </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456872940"/>
                  </a:ext>
                </a:extLst>
              </a:tr>
              <a:tr h="1129115">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•تحسين سمعة الشركة وتعزيز علامتها التجارية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عدد الحملات التسويقية الخارجية التي تغطي جميع الخدمات والمنتجات (حملة تسجيل + حملة المدارس الأهلية).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b="0" dirty="0">
                          <a:solidFill>
                            <a:schemeClr val="tx1"/>
                          </a:solidFill>
                          <a:latin typeface="Almarai" pitchFamily="2" charset="-78"/>
                          <a:cs typeface="Almarai" pitchFamily="2" charset="-78"/>
                        </a:rPr>
                        <a:t># الحملات التسويقية</a:t>
                      </a:r>
                      <a:endParaRPr lang="en-US" sz="1200" b="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938899"/>
                  </a:ext>
                </a:extLst>
              </a:tr>
            </a:tbl>
          </a:graphicData>
        </a:graphic>
      </p:graphicFrame>
      <p:pic>
        <p:nvPicPr>
          <p:cNvPr id="3" name="Picture 2" descr="A picture containing graphical user interface&#10;&#10;Description automatically generated">
            <a:extLst>
              <a:ext uri="{FF2B5EF4-FFF2-40B4-BE49-F238E27FC236}">
                <a16:creationId xmlns:a16="http://schemas.microsoft.com/office/drawing/2014/main" id="{D4918CAB-7589-3761-33C4-512DC2153579}"/>
              </a:ext>
            </a:extLst>
          </p:cNvPr>
          <p:cNvPicPr>
            <a:picLocks noChangeAspect="1"/>
          </p:cNvPicPr>
          <p:nvPr/>
        </p:nvPicPr>
        <p:blipFill rotWithShape="1">
          <a:blip r:embed="rId2"/>
          <a:srcRect l="23677" t="39057" b="28402"/>
          <a:stretch/>
        </p:blipFill>
        <p:spPr>
          <a:xfrm>
            <a:off x="0" y="6477595"/>
            <a:ext cx="5382126" cy="380404"/>
          </a:xfrm>
          <a:prstGeom prst="rect">
            <a:avLst/>
          </a:prstGeom>
        </p:spPr>
      </p:pic>
      <p:sp>
        <p:nvSpPr>
          <p:cNvPr id="6" name="TextBox 5">
            <a:extLst>
              <a:ext uri="{FF2B5EF4-FFF2-40B4-BE49-F238E27FC236}">
                <a16:creationId xmlns:a16="http://schemas.microsoft.com/office/drawing/2014/main" id="{75C0D240-3A56-7D81-A2FF-3479C65B6252}"/>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الخدمات المؤسسية</a:t>
            </a:r>
          </a:p>
        </p:txBody>
      </p:sp>
      <p:pic>
        <p:nvPicPr>
          <p:cNvPr id="10" name="Picture 9" descr="Text&#10;&#10;Description automatically generated with medium confidence">
            <a:extLst>
              <a:ext uri="{FF2B5EF4-FFF2-40B4-BE49-F238E27FC236}">
                <a16:creationId xmlns:a16="http://schemas.microsoft.com/office/drawing/2014/main" id="{E0B6FBA0-FE57-B591-F531-6364FC15EA9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spTree>
    <p:extLst>
      <p:ext uri="{BB962C8B-B14F-4D97-AF65-F5344CB8AC3E}">
        <p14:creationId xmlns:p14="http://schemas.microsoft.com/office/powerpoint/2010/main" val="41861115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85E6DC5-4D72-6F86-2B48-BF89DAA6400B}"/>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الخدمات المؤسسية</a:t>
            </a:r>
          </a:p>
        </p:txBody>
      </p:sp>
      <p:pic>
        <p:nvPicPr>
          <p:cNvPr id="6" name="Picture 5" descr="Text&#10;&#10;Description automatically generated with medium confidence">
            <a:extLst>
              <a:ext uri="{FF2B5EF4-FFF2-40B4-BE49-F238E27FC236}">
                <a16:creationId xmlns:a16="http://schemas.microsoft.com/office/drawing/2014/main" id="{58B90CE4-A309-E738-B1D1-3CED9262746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graphicFrame>
        <p:nvGraphicFramePr>
          <p:cNvPr id="32" name="Table 2">
            <a:extLst>
              <a:ext uri="{FF2B5EF4-FFF2-40B4-BE49-F238E27FC236}">
                <a16:creationId xmlns:a16="http://schemas.microsoft.com/office/drawing/2014/main" id="{6E726AE5-756A-9E39-3065-70EB801487B9}"/>
              </a:ext>
            </a:extLst>
          </p:cNvPr>
          <p:cNvGraphicFramePr>
            <a:graphicFrameLocks noGrp="1"/>
          </p:cNvGraphicFramePr>
          <p:nvPr>
            <p:extLst>
              <p:ext uri="{D42A27DB-BD31-4B8C-83A1-F6EECF244321}">
                <p14:modId xmlns:p14="http://schemas.microsoft.com/office/powerpoint/2010/main" val="1794953275"/>
              </p:ext>
            </p:extLst>
          </p:nvPr>
        </p:nvGraphicFramePr>
        <p:xfrm>
          <a:off x="0" y="928153"/>
          <a:ext cx="12192000" cy="5929848"/>
        </p:xfrm>
        <a:graphic>
          <a:graphicData uri="http://schemas.openxmlformats.org/drawingml/2006/table">
            <a:tbl>
              <a:tblPr firstRow="1" bandRow="1">
                <a:tableStyleId>{5C22544A-7EE6-4342-B048-85BDC9FD1C3A}</a:tableStyleId>
              </a:tblPr>
              <a:tblGrid>
                <a:gridCol w="1253447">
                  <a:extLst>
                    <a:ext uri="{9D8B030D-6E8A-4147-A177-3AD203B41FA5}">
                      <a16:colId xmlns:a16="http://schemas.microsoft.com/office/drawing/2014/main" val="2055658794"/>
                    </a:ext>
                  </a:extLst>
                </a:gridCol>
                <a:gridCol w="1130157">
                  <a:extLst>
                    <a:ext uri="{9D8B030D-6E8A-4147-A177-3AD203B41FA5}">
                      <a16:colId xmlns:a16="http://schemas.microsoft.com/office/drawing/2014/main" val="3919127931"/>
                    </a:ext>
                  </a:extLst>
                </a:gridCol>
                <a:gridCol w="5695526">
                  <a:extLst>
                    <a:ext uri="{9D8B030D-6E8A-4147-A177-3AD203B41FA5}">
                      <a16:colId xmlns:a16="http://schemas.microsoft.com/office/drawing/2014/main" val="1759313315"/>
                    </a:ext>
                  </a:extLst>
                </a:gridCol>
                <a:gridCol w="3261970">
                  <a:extLst>
                    <a:ext uri="{9D8B030D-6E8A-4147-A177-3AD203B41FA5}">
                      <a16:colId xmlns:a16="http://schemas.microsoft.com/office/drawing/2014/main" val="3157918808"/>
                    </a:ext>
                  </a:extLst>
                </a:gridCol>
                <a:gridCol w="850900">
                  <a:extLst>
                    <a:ext uri="{9D8B030D-6E8A-4147-A177-3AD203B41FA5}">
                      <a16:colId xmlns:a16="http://schemas.microsoft.com/office/drawing/2014/main" val="635944514"/>
                    </a:ext>
                  </a:extLst>
                </a:gridCol>
              </a:tblGrid>
              <a:tr h="638626">
                <a:tc>
                  <a:txBody>
                    <a:bodyPr/>
                    <a:lstStyle/>
                    <a:p>
                      <a:pPr algn="ctr">
                        <a:lnSpc>
                          <a:spcPct val="150000"/>
                        </a:lnSpc>
                      </a:pPr>
                      <a:r>
                        <a:rPr lang="ar-SA" sz="1400" dirty="0">
                          <a:latin typeface="Almarai" pitchFamily="2" charset="-78"/>
                          <a:cs typeface="Almarai" pitchFamily="2" charset="-78"/>
                        </a:rPr>
                        <a:t>نوع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الهدف</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المعادلة</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الوزن</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853047">
                <a:tc>
                  <a:txBody>
                    <a:bodyPr/>
                    <a:lstStyle/>
                    <a:p>
                      <a:pPr algn="ctr" rtl="1">
                        <a:lnSpc>
                          <a:spcPct val="150000"/>
                        </a:lnSpc>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solidFill>
                            <a:schemeClr val="tx1"/>
                          </a:solidFill>
                          <a:latin typeface="Almarai" pitchFamily="2" charset="-78"/>
                          <a:cs typeface="Almarai" pitchFamily="2" charset="-78"/>
                        </a:rPr>
                        <a:t>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(طلبات الصيانة المستلمة المغلقة / إجمالي طالبات الصيانة المستلمة) *100</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إغلاق الطلبات في الوقت المحدد</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935710478"/>
                  </a:ext>
                </a:extLst>
              </a:tr>
              <a:tr h="853047">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solidFill>
                            <a:schemeClr val="tx1"/>
                          </a:solidFill>
                          <a:latin typeface="Almarai" pitchFamily="2" charset="-78"/>
                          <a:cs typeface="Almarai" pitchFamily="2" charset="-78"/>
                        </a:rPr>
                        <a:t>6</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لا يوجد معادلة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تمارين الإخلاء المكتملة بنجاح</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082658606"/>
                  </a:ext>
                </a:extLst>
              </a:tr>
              <a:tr h="853047">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solidFill>
                            <a:schemeClr val="tx1"/>
                          </a:solidFill>
                          <a:latin typeface="Almarai" pitchFamily="2" charset="-78"/>
                          <a:cs typeface="Almarai" pitchFamily="2" charset="-78"/>
                        </a:rPr>
                        <a:t>2</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لا يوجد معادلة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الدورات التوعوية بالأمن والسلامة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175398007"/>
                  </a:ext>
                </a:extLst>
              </a:tr>
              <a:tr h="796283">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ar-SA" sz="1200" dirty="0">
                          <a:solidFill>
                            <a:schemeClr val="tx1"/>
                          </a:solidFill>
                          <a:latin typeface="Almarai" pitchFamily="2" charset="-78"/>
                          <a:cs typeface="Almarai" pitchFamily="2" charset="-78"/>
                        </a:rPr>
                        <a:t>9</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لا يوجد معادلة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الفعاليات الداخلية والمشاركات الخارجية</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30%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016508191"/>
                  </a:ext>
                </a:extLst>
              </a:tr>
              <a:tr h="1082751">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tc>
                  <a:txBody>
                    <a:bodyPr/>
                    <a:lstStyle/>
                    <a:p>
                      <a:pPr algn="ctr" rtl="0">
                        <a:lnSpc>
                          <a:spcPct val="150000"/>
                        </a:lnSpc>
                      </a:pPr>
                      <a:r>
                        <a:rPr lang="ar-SA" sz="1200" dirty="0">
                          <a:solidFill>
                            <a:schemeClr val="tx1"/>
                          </a:solidFill>
                          <a:latin typeface="Almarai" pitchFamily="2" charset="-78"/>
                          <a:cs typeface="Almarai" pitchFamily="2" charset="-78"/>
                        </a:rPr>
                        <a:t>30 مليون</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tc>
                  <a:txBody>
                    <a:bodyPr/>
                    <a:lstStyle/>
                    <a:p>
                      <a:pPr lvl="0" algn="r" rtl="1">
                        <a:lnSpc>
                          <a:spcPct val="150000"/>
                        </a:lnSpc>
                      </a:pPr>
                      <a:r>
                        <a:rPr lang="ar-SA" sz="1200" dirty="0">
                          <a:solidFill>
                            <a:schemeClr val="tx1"/>
                          </a:solidFill>
                          <a:latin typeface="Almarai" pitchFamily="2" charset="-78"/>
                          <a:cs typeface="Almarai" pitchFamily="2" charset="-78"/>
                        </a:rPr>
                        <a:t>لا يوجد معادلة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tc>
                  <a:txBody>
                    <a:bodyPr/>
                    <a:lstStyle/>
                    <a:p>
                      <a:pPr lvl="0" algn="r" rtl="1">
                        <a:lnSpc>
                          <a:spcPct val="150000"/>
                        </a:lnSpc>
                      </a:pPr>
                      <a:r>
                        <a:rPr lang="ar-SA" sz="1200" dirty="0">
                          <a:solidFill>
                            <a:schemeClr val="tx1"/>
                          </a:solidFill>
                          <a:latin typeface="Almarai" pitchFamily="2" charset="-78"/>
                          <a:cs typeface="Almarai" pitchFamily="2" charset="-78"/>
                        </a:rPr>
                        <a:t># الظهور في وسائل التواصل </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tc>
                  <a:txBody>
                    <a:bodyPr/>
                    <a:lstStyle/>
                    <a:p>
                      <a:pPr lvl="0" algn="ctr" rtl="1">
                        <a:lnSpc>
                          <a:spcPct val="150000"/>
                        </a:lnSpc>
                      </a:pPr>
                      <a:r>
                        <a:rPr lang="en-US" sz="120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569007360"/>
                  </a:ext>
                </a:extLst>
              </a:tr>
              <a:tr h="853047">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ar-SA" sz="1200" b="0" dirty="0">
                          <a:solidFill>
                            <a:schemeClr val="tx1"/>
                          </a:solidFill>
                          <a:latin typeface="Almarai" pitchFamily="2" charset="-78"/>
                          <a:cs typeface="Almarai" pitchFamily="2" charset="-78"/>
                        </a:rPr>
                        <a:t>2</a:t>
                      </a:r>
                      <a:endParaRPr lang="en-US" sz="1200" b="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لا يوجد معادلة</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r" rtl="1">
                        <a:lnSpc>
                          <a:spcPct val="150000"/>
                        </a:lnSpc>
                      </a:pPr>
                      <a:r>
                        <a:rPr lang="ar-SA" sz="1200" b="0" dirty="0">
                          <a:solidFill>
                            <a:schemeClr val="tx1"/>
                          </a:solidFill>
                          <a:latin typeface="Almarai" pitchFamily="2" charset="-78"/>
                          <a:cs typeface="Almarai" pitchFamily="2" charset="-78"/>
                        </a:rPr>
                        <a:t># الحملات التسويقية</a:t>
                      </a:r>
                      <a:endParaRPr lang="en-US" sz="1200" b="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25%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456872940"/>
                  </a:ext>
                </a:extLst>
              </a:tr>
            </a:tbl>
          </a:graphicData>
        </a:graphic>
      </p:graphicFrame>
    </p:spTree>
    <p:extLst>
      <p:ext uri="{BB962C8B-B14F-4D97-AF65-F5344CB8AC3E}">
        <p14:creationId xmlns:p14="http://schemas.microsoft.com/office/powerpoint/2010/main" val="14783067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789BD45-5C08-4000-8B10-38CE89618E2B}"/>
              </a:ext>
            </a:extLst>
          </p:cNvPr>
          <p:cNvGraphicFramePr>
            <a:graphicFrameLocks noGrp="1"/>
          </p:cNvGraphicFramePr>
          <p:nvPr>
            <p:extLst>
              <p:ext uri="{D42A27DB-BD31-4B8C-83A1-F6EECF244321}">
                <p14:modId xmlns:p14="http://schemas.microsoft.com/office/powerpoint/2010/main" val="3656585992"/>
              </p:ext>
            </p:extLst>
          </p:nvPr>
        </p:nvGraphicFramePr>
        <p:xfrm>
          <a:off x="0" y="716154"/>
          <a:ext cx="12192000" cy="6141845"/>
        </p:xfrm>
        <a:graphic>
          <a:graphicData uri="http://schemas.openxmlformats.org/drawingml/2006/table">
            <a:tbl>
              <a:tblPr firstRow="1" lastRow="1" bandRow="1">
                <a:tableStyleId>{BC89EF96-8CEA-46FF-86C4-4CE0E7609802}</a:tableStyleId>
              </a:tblPr>
              <a:tblGrid>
                <a:gridCol w="3115184">
                  <a:extLst>
                    <a:ext uri="{9D8B030D-6E8A-4147-A177-3AD203B41FA5}">
                      <a16:colId xmlns:a16="http://schemas.microsoft.com/office/drawing/2014/main" val="3528422332"/>
                    </a:ext>
                  </a:extLst>
                </a:gridCol>
                <a:gridCol w="265969">
                  <a:extLst>
                    <a:ext uri="{9D8B030D-6E8A-4147-A177-3AD203B41FA5}">
                      <a16:colId xmlns:a16="http://schemas.microsoft.com/office/drawing/2014/main" val="1625882643"/>
                    </a:ext>
                  </a:extLst>
                </a:gridCol>
                <a:gridCol w="1169582">
                  <a:extLst>
                    <a:ext uri="{9D8B030D-6E8A-4147-A177-3AD203B41FA5}">
                      <a16:colId xmlns:a16="http://schemas.microsoft.com/office/drawing/2014/main" val="2788527714"/>
                    </a:ext>
                  </a:extLst>
                </a:gridCol>
                <a:gridCol w="797442">
                  <a:extLst>
                    <a:ext uri="{9D8B030D-6E8A-4147-A177-3AD203B41FA5}">
                      <a16:colId xmlns:a16="http://schemas.microsoft.com/office/drawing/2014/main" val="290041181"/>
                    </a:ext>
                  </a:extLst>
                </a:gridCol>
                <a:gridCol w="826286">
                  <a:extLst>
                    <a:ext uri="{9D8B030D-6E8A-4147-A177-3AD203B41FA5}">
                      <a16:colId xmlns:a16="http://schemas.microsoft.com/office/drawing/2014/main" val="986504599"/>
                    </a:ext>
                  </a:extLst>
                </a:gridCol>
                <a:gridCol w="715224">
                  <a:extLst>
                    <a:ext uri="{9D8B030D-6E8A-4147-A177-3AD203B41FA5}">
                      <a16:colId xmlns:a16="http://schemas.microsoft.com/office/drawing/2014/main" val="3691410578"/>
                    </a:ext>
                  </a:extLst>
                </a:gridCol>
                <a:gridCol w="760491">
                  <a:extLst>
                    <a:ext uri="{9D8B030D-6E8A-4147-A177-3AD203B41FA5}">
                      <a16:colId xmlns:a16="http://schemas.microsoft.com/office/drawing/2014/main" val="692657871"/>
                    </a:ext>
                  </a:extLst>
                </a:gridCol>
                <a:gridCol w="1086416">
                  <a:extLst>
                    <a:ext uri="{9D8B030D-6E8A-4147-A177-3AD203B41FA5}">
                      <a16:colId xmlns:a16="http://schemas.microsoft.com/office/drawing/2014/main" val="786455139"/>
                    </a:ext>
                  </a:extLst>
                </a:gridCol>
                <a:gridCol w="1825626">
                  <a:extLst>
                    <a:ext uri="{9D8B030D-6E8A-4147-A177-3AD203B41FA5}">
                      <a16:colId xmlns:a16="http://schemas.microsoft.com/office/drawing/2014/main" val="313549563"/>
                    </a:ext>
                  </a:extLst>
                </a:gridCol>
                <a:gridCol w="618086">
                  <a:extLst>
                    <a:ext uri="{9D8B030D-6E8A-4147-A177-3AD203B41FA5}">
                      <a16:colId xmlns:a16="http://schemas.microsoft.com/office/drawing/2014/main" val="2142733880"/>
                    </a:ext>
                  </a:extLst>
                </a:gridCol>
                <a:gridCol w="1011694">
                  <a:extLst>
                    <a:ext uri="{9D8B030D-6E8A-4147-A177-3AD203B41FA5}">
                      <a16:colId xmlns:a16="http://schemas.microsoft.com/office/drawing/2014/main" val="481353969"/>
                    </a:ext>
                  </a:extLst>
                </a:gridCol>
              </a:tblGrid>
              <a:tr h="638633">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dirty="0">
                          <a:ln>
                            <a:noFill/>
                          </a:ln>
                          <a:solidFill>
                            <a:schemeClr val="bg1"/>
                          </a:solidFill>
                          <a:effectLst/>
                          <a:uLnTx/>
                          <a:uFillTx/>
                          <a:latin typeface="Almarai" pitchFamily="2" charset="-78"/>
                          <a:ea typeface="+mn-ea"/>
                          <a:cs typeface="Almarai" pitchFamily="2" charset="-78"/>
                        </a:rPr>
                        <a:t>الملاحظات</a:t>
                      </a:r>
                      <a:endParaRPr kumimoji="0" lang="en-GB" sz="1400" b="1" i="0" u="none" strike="noStrike" kern="1200" cap="none" spc="40" normalizeH="0" baseline="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النتيجة النهائية</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Q4</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Q3</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400" dirty="0">
                          <a:solidFill>
                            <a:schemeClr val="bg1"/>
                          </a:solidFill>
                          <a:latin typeface="Almarai" pitchFamily="2" charset="-78"/>
                          <a:cs typeface="Almarai" pitchFamily="2" charset="-78"/>
                        </a:rPr>
                        <a:t>Q2</a:t>
                      </a:r>
                      <a:endParaRPr sz="1400" dirty="0">
                        <a:solidFill>
                          <a:schemeClr val="bg1"/>
                        </a:solidFill>
                        <a:latin typeface="Almarai" pitchFamily="2" charset="-78"/>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US" sz="1400" b="1" i="0" u="none" strike="noStrike" kern="1200" cap="none" spc="40" normalizeH="0" baseline="0" dirty="0">
                          <a:ln>
                            <a:noFill/>
                          </a:ln>
                          <a:solidFill>
                            <a:schemeClr val="bg1"/>
                          </a:solidFill>
                          <a:effectLst/>
                          <a:uLnTx/>
                          <a:uFillTx/>
                          <a:latin typeface="Almarai" pitchFamily="2" charset="-78"/>
                          <a:ea typeface="+mn-ea"/>
                          <a:cs typeface="Almarai" pitchFamily="2" charset="-78"/>
                        </a:rPr>
                        <a:t>Q1</a:t>
                      </a:r>
                      <a:endParaRPr kumimoji="0" sz="1400" b="1" i="0" u="none" strike="noStrike" kern="1200" cap="none" spc="40" normalizeH="0" baseline="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المستهدف</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الوزن</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نوع 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506390058"/>
                  </a:ext>
                </a:extLst>
              </a:tr>
              <a:tr h="648714">
                <a:tc>
                  <a:txBody>
                    <a:bodyPr/>
                    <a:lstStyle/>
                    <a:p>
                      <a:pPr marL="0" marR="0" lvl="0" indent="0" algn="justLow" defTabSz="914400" rtl="1" eaLnBrk="1" fontAlgn="b" latinLnBrk="0" hangingPunct="1">
                        <a:lnSpc>
                          <a:spcPct val="100000"/>
                        </a:lnSpc>
                        <a:spcBef>
                          <a:spcPts val="0"/>
                        </a:spcBef>
                        <a:spcAft>
                          <a:spcPts val="0"/>
                        </a:spcAft>
                        <a:buClrTx/>
                        <a:buSzTx/>
                        <a:buFontTx/>
                        <a:buNone/>
                        <a:tabLst/>
                        <a:defRPr/>
                      </a:pPr>
                      <a:endPar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100%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100%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en-US" sz="1200" dirty="0">
                          <a:solidFill>
                            <a:schemeClr val="tx1"/>
                          </a:solidFill>
                          <a:latin typeface="Almarai" pitchFamily="2" charset="-78"/>
                          <a:cs typeface="Almarai" pitchFamily="2" charset="-78"/>
                        </a:rPr>
                        <a:t>100%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إغلاق الطلبات في الوقت المحدد</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lnSpc>
                          <a:spcPct val="150000"/>
                        </a:lnSpc>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345933"/>
                  </a:ext>
                </a:extLst>
              </a:tr>
              <a:tr h="1570810">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kumimoji="0" lang="en-US" sz="1200" b="1"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Q2</a:t>
                      </a:r>
                      <a:r>
                        <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a:t>
                      </a: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Q1</a:t>
                      </a:r>
                      <a:r>
                        <a:rPr kumimoji="0" lang="ar-SA"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a:t>
                      </a: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تمت جدولة خطط الإخلاء خلال الربع الثالث والرابع</a:t>
                      </a: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p>
                      <a:pPr marL="0" marR="0" lvl="0" indent="0" algn="r" defTabSz="914400" rtl="1" eaLnBrk="1" fontAlgn="b" latinLnBrk="0" hangingPunct="1">
                        <a:lnSpc>
                          <a:spcPct val="100000"/>
                        </a:lnSpc>
                        <a:spcBef>
                          <a:spcPts val="0"/>
                        </a:spcBef>
                        <a:spcAft>
                          <a:spcPts val="0"/>
                        </a:spcAft>
                        <a:buClrTx/>
                        <a:buSzTx/>
                        <a:buFontTx/>
                        <a:buNone/>
                        <a:tabLst/>
                        <a:defRPr/>
                      </a:pP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en-US" sz="1200" dirty="0">
                          <a:solidFill>
                            <a:schemeClr val="tx1"/>
                          </a:solidFill>
                          <a:latin typeface="Almarai" pitchFamily="2" charset="-78"/>
                          <a:cs typeface="Almarai" pitchFamily="2" charset="-78"/>
                        </a:rPr>
                        <a:t>6</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تمارين الإخلاء المكتملة بنجاح</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2732480"/>
                  </a:ext>
                </a:extLst>
              </a:tr>
              <a:tr h="648714">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 </a:t>
                      </a:r>
                      <a:r>
                        <a:rPr kumimoji="0" lang="en-US" sz="1200" b="1"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Q2</a:t>
                      </a:r>
                      <a:r>
                        <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a:t>
                      </a: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Q1</a:t>
                      </a: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تمت جدولة الدورات خلال الربع الرابع </a:t>
                      </a: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kumimoji="0" lang="ar-SA" sz="1200" b="0" i="0" u="none" strike="noStrike" kern="1200" cap="none" spc="0" normalizeH="0" baseline="0" noProof="0" dirty="0">
                          <a:ln>
                            <a:noFill/>
                          </a:ln>
                          <a:solidFill>
                            <a:schemeClr val="tx1"/>
                          </a:solidFill>
                          <a:effectLst/>
                          <a:uLnTx/>
                          <a:uFillTx/>
                          <a:latin typeface="Almarai" pitchFamily="2" charset="-78"/>
                          <a:ea typeface="+mn-ea"/>
                          <a:cs typeface="Almarai" pitchFamily="2" charset="-78"/>
                        </a:rPr>
                        <a:t>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en-US" sz="1200" dirty="0">
                          <a:solidFill>
                            <a:schemeClr val="tx1"/>
                          </a:solidFill>
                          <a:latin typeface="Almarai" pitchFamily="2" charset="-78"/>
                          <a:cs typeface="Almarai" pitchFamily="2" charset="-78"/>
                        </a:rPr>
                        <a:t>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الدورات التوعوية بالأمن والسلامة</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1117382"/>
                  </a:ext>
                </a:extLst>
              </a:tr>
              <a:tr h="1166806">
                <a:tc>
                  <a:txBody>
                    <a:bodyPr/>
                    <a:lstStyle/>
                    <a:p>
                      <a:pPr marL="0" marR="0" lvl="0" indent="0" algn="r" defTabSz="914400" rtl="1" eaLnBrk="1" fontAlgn="b"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Q1</a:t>
                      </a:r>
                      <a:r>
                        <a:rPr kumimoji="0" lang="ar-SA"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-(الحفل السنوي - يوم العلم - يوم التأسيس – إفطار رمضان – حفل عيد الفطر المبارك – الكورة في ملعبنا – مؤتمر ليب 25 – </a:t>
                      </a:r>
                      <a:r>
                        <a:rPr kumimoji="0" lang="en-US"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beet</a:t>
                      </a:r>
                      <a:r>
                        <a:rPr kumimoji="0" lang="ar-SA"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a:t>
                      </a:r>
                      <a:endParaRPr kumimoji="0" lang="en-US"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endParaRPr>
                    </a:p>
                    <a:p>
                      <a:pPr marL="0" marR="0" lvl="0" indent="0" algn="r" defTabSz="914400" rtl="1" eaLnBrk="1" fontAlgn="b"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Q2</a:t>
                      </a:r>
                      <a:r>
                        <a:rPr kumimoji="0" lang="en-US"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a:t>
                      </a:r>
                      <a:r>
                        <a:rPr kumimoji="0" lang="ar-SA"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معرض الأمن والسلامة والمرافق (جدة) – مؤتمر التعليم الدولي 2025)</a:t>
                      </a:r>
                    </a:p>
                    <a:p>
                      <a:pPr marL="228600" marR="0" lvl="0" indent="-228600" algn="r" defTabSz="914400" rtl="1" eaLnBrk="1" fontAlgn="b" latinLnBrk="0" hangingPunct="1">
                        <a:lnSpc>
                          <a:spcPct val="100000"/>
                        </a:lnSpc>
                        <a:spcBef>
                          <a:spcPts val="0"/>
                        </a:spcBef>
                        <a:spcAft>
                          <a:spcPts val="0"/>
                        </a:spcAft>
                        <a:buClrTx/>
                        <a:buSzTx/>
                        <a:buFont typeface="Arial" panose="020B0604020202020204" pitchFamily="34" charset="0"/>
                        <a:buAutoNum type="arabicPeriod"/>
                        <a:tabLst/>
                        <a:defRPr/>
                      </a:pPr>
                      <a:endParaRPr kumimoji="0" lang="ar-SA"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2</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8</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ar-SA" sz="1200" dirty="0">
                          <a:solidFill>
                            <a:schemeClr val="tx1"/>
                          </a:solidFill>
                          <a:latin typeface="Almarai" pitchFamily="2" charset="-78"/>
                          <a:cs typeface="Almarai" pitchFamily="2" charset="-78"/>
                        </a:rPr>
                        <a:t>9</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الفعاليات الداخلية والمشاركات الخارجية</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dirty="0">
                          <a:solidFill>
                            <a:schemeClr val="tx1"/>
                          </a:solidFill>
                          <a:latin typeface="Almarai" pitchFamily="2" charset="-78"/>
                          <a:cs typeface="Almarai" pitchFamily="2" charset="-78"/>
                        </a:rPr>
                        <a:t>30%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0818292"/>
                  </a:ext>
                </a:extLst>
              </a:tr>
              <a:tr h="819454">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a:t>
                      </a:r>
                      <a:r>
                        <a:rPr kumimoji="0" lang="en-US" sz="1200" b="1"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Q2</a:t>
                      </a:r>
                      <a:r>
                        <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a:t>
                      </a: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Q1</a:t>
                      </a:r>
                      <a:r>
                        <a:rPr kumimoji="0" lang="ar-SA"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تمت جدولتها خلال الربع الثالث </a:t>
                      </a:r>
                      <a:endPar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5.915.070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1.352.893</a:t>
                      </a:r>
                      <a:r>
                        <a:rPr lang="ar-SA" sz="1200" b="0" i="0" u="none" strike="noStrike" kern="1200" dirty="0">
                          <a:solidFill>
                            <a:schemeClr val="tx1"/>
                          </a:solidFill>
                          <a:effectLst/>
                          <a:latin typeface="Almarai" pitchFamily="2" charset="-78"/>
                          <a:ea typeface="+mn-ea"/>
                          <a:cs typeface="Almarai" pitchFamily="2" charset="-78"/>
                        </a:rPr>
                        <a:t> </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0">
                        <a:lnSpc>
                          <a:spcPct val="150000"/>
                        </a:lnSpc>
                      </a:pPr>
                      <a:r>
                        <a:rPr lang="ar-SA" sz="1200" dirty="0">
                          <a:solidFill>
                            <a:schemeClr val="tx1"/>
                          </a:solidFill>
                          <a:latin typeface="Almarai" pitchFamily="2" charset="-78"/>
                          <a:cs typeface="Almarai" pitchFamily="2" charset="-78"/>
                        </a:rPr>
                        <a:t>30 مليون </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dirty="0">
                          <a:solidFill>
                            <a:schemeClr val="tx1"/>
                          </a:solidFill>
                          <a:latin typeface="Almarai" pitchFamily="2" charset="-78"/>
                          <a:cs typeface="Almarai" pitchFamily="2" charset="-78"/>
                        </a:rPr>
                        <a:t># الظهور في وسائل التواصل </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0065364"/>
                  </a:ext>
                </a:extLst>
              </a:tr>
              <a:tr h="648714">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kumimoji="0" lang="en-US" sz="1200" b="1"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-Q2</a:t>
                      </a:r>
                      <a:r>
                        <a:rPr kumimoji="0" lang="en-US" sz="1200" b="0" i="0" u="none" strike="noStrike" kern="1200" cap="none" spc="40" normalizeH="0" baseline="0" dirty="0">
                          <a:ln>
                            <a:noFill/>
                          </a:ln>
                          <a:solidFill>
                            <a:schemeClr val="tx1"/>
                          </a:solidFill>
                          <a:effectLst/>
                          <a:uLnTx/>
                          <a:uFillTx/>
                          <a:latin typeface="Almarai" pitchFamily="2" charset="-78"/>
                          <a:ea typeface="+mn-ea"/>
                          <a:cs typeface="Almarai" pitchFamily="2" charset="-78"/>
                        </a:rPr>
                        <a:t>+</a:t>
                      </a:r>
                      <a:r>
                        <a:rPr kumimoji="0" lang="en-US" sz="1200" b="1" i="0" u="none" strike="noStrike" kern="1200" cap="none" spc="40" normalizeH="0" baseline="0" dirty="0">
                          <a:ln>
                            <a:noFill/>
                          </a:ln>
                          <a:solidFill>
                            <a:schemeClr val="tx1"/>
                          </a:solidFill>
                          <a:effectLst/>
                          <a:uLnTx/>
                          <a:uFillTx/>
                          <a:latin typeface="Almarai" pitchFamily="2" charset="-78"/>
                          <a:ea typeface="+mn-ea"/>
                          <a:cs typeface="Almarai" pitchFamily="2" charset="-78"/>
                        </a:rPr>
                        <a:t>Q1</a:t>
                      </a:r>
                      <a:r>
                        <a:rPr kumimoji="0" lang="ar-SA"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تمت جدولتها خلال الربع الثالث</a:t>
                      </a:r>
                      <a:r>
                        <a:rPr kumimoji="0" lang="en-US"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 </a:t>
                      </a:r>
                      <a:r>
                        <a:rPr kumimoji="0" lang="ar-SA" sz="1200" b="0" i="0" u="none" strike="noStrike" kern="1200" cap="none" spc="40" normalizeH="0" baseline="0" noProof="0">
                          <a:ln>
                            <a:noFill/>
                          </a:ln>
                          <a:solidFill>
                            <a:schemeClr val="tx1"/>
                          </a:solidFill>
                          <a:effectLst/>
                          <a:uLnTx/>
                          <a:uFillTx/>
                          <a:latin typeface="Almarai" pitchFamily="2" charset="-78"/>
                          <a:ea typeface="+mn-ea"/>
                          <a:cs typeface="Almarai" pitchFamily="2" charset="-78"/>
                        </a:rPr>
                        <a:t> والرابع</a:t>
                      </a:r>
                      <a:endParaRPr kumimoji="0" lang="en-GB" sz="1200" b="0" i="0" u="none" strike="noStrike" kern="1200" cap="none" spc="40" normalizeH="0" baseline="0" noProof="0" dirty="0">
                        <a:ln>
                          <a:noFill/>
                        </a:ln>
                        <a:solidFill>
                          <a:schemeClr val="tx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1200" b="0" i="0" u="none" strike="noStrike" dirty="0">
                        <a:solidFill>
                          <a:schemeClr val="tx1"/>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chemeClr val="tx1"/>
                          </a:solidFill>
                          <a:effectLst/>
                          <a:latin typeface="Almarai" pitchFamily="2" charset="-78"/>
                          <a:ea typeface="+mn-ea"/>
                          <a:cs typeface="Almarai" pitchFamily="2" charset="-78"/>
                        </a:rPr>
                        <a:t>1</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chemeClr val="tx1"/>
                          </a:solidFill>
                          <a:effectLst/>
                          <a:latin typeface="Almarai" pitchFamily="2" charset="-78"/>
                          <a:ea typeface="+mn-ea"/>
                          <a:cs typeface="Almarai" pitchFamily="2" charset="-78"/>
                        </a:rPr>
                        <a:t>0</a:t>
                      </a:r>
                      <a:endParaRPr lang="ar-SA" sz="1200" b="0" i="0" u="none" strike="noStrike" kern="1200" dirty="0">
                        <a:solidFill>
                          <a:schemeClr val="tx1"/>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algn="ctr" rtl="1">
                        <a:lnSpc>
                          <a:spcPct val="150000"/>
                        </a:lnSpc>
                      </a:pPr>
                      <a:r>
                        <a:rPr lang="ar-SA" sz="1200" b="0" dirty="0">
                          <a:solidFill>
                            <a:schemeClr val="tx1"/>
                          </a:solidFill>
                          <a:latin typeface="Almarai" pitchFamily="2" charset="-78"/>
                          <a:cs typeface="Almarai" pitchFamily="2" charset="-78"/>
                        </a:rPr>
                        <a:t>2</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r" rtl="1">
                        <a:lnSpc>
                          <a:spcPct val="150000"/>
                        </a:lnSpc>
                      </a:pPr>
                      <a:r>
                        <a:rPr lang="ar-SA" sz="1200" b="0" dirty="0">
                          <a:solidFill>
                            <a:schemeClr val="tx1"/>
                          </a:solidFill>
                          <a:latin typeface="Almarai" pitchFamily="2" charset="-78"/>
                          <a:cs typeface="Almarai" pitchFamily="2" charset="-78"/>
                        </a:rPr>
                        <a:t># الحملات التسويقية</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25%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سنوي</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032384"/>
                  </a:ext>
                </a:extLst>
              </a:tr>
            </a:tbl>
          </a:graphicData>
        </a:graphic>
      </p:graphicFrame>
      <p:pic>
        <p:nvPicPr>
          <p:cNvPr id="26" name="Picture 25" descr="Text&#10;&#10;Description automatically generated with medium confidence">
            <a:extLst>
              <a:ext uri="{FF2B5EF4-FFF2-40B4-BE49-F238E27FC236}">
                <a16:creationId xmlns:a16="http://schemas.microsoft.com/office/drawing/2014/main" id="{4F4AF57B-9DE0-492B-9DB0-50C6A26A0F7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t="1" b="-21"/>
          <a:stretch/>
        </p:blipFill>
        <p:spPr>
          <a:xfrm>
            <a:off x="112358" y="84607"/>
            <a:ext cx="819076" cy="631548"/>
          </a:xfrm>
          <a:prstGeom prst="rect">
            <a:avLst/>
          </a:prstGeom>
        </p:spPr>
      </p:pic>
      <p:sp>
        <p:nvSpPr>
          <p:cNvPr id="10" name="Rectangle 9">
            <a:extLst>
              <a:ext uri="{FF2B5EF4-FFF2-40B4-BE49-F238E27FC236}">
                <a16:creationId xmlns:a16="http://schemas.microsoft.com/office/drawing/2014/main" id="{4D4FFFC4-E065-64A4-2E89-31676DB5159D}"/>
              </a:ext>
            </a:extLst>
          </p:cNvPr>
          <p:cNvSpPr/>
          <p:nvPr/>
        </p:nvSpPr>
        <p:spPr>
          <a:xfrm>
            <a:off x="5795380" y="31072"/>
            <a:ext cx="6396620" cy="509050"/>
          </a:xfrm>
          <a:prstGeom prst="rect">
            <a:avLst/>
          </a:prstGeom>
        </p:spPr>
        <p:txBody>
          <a:bodyPr wrap="square" anchor="ctr">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ar-SA" sz="1969"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قطاع الخدمات </a:t>
            </a: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المؤسسية</a:t>
            </a:r>
          </a:p>
        </p:txBody>
      </p:sp>
    </p:spTree>
    <p:extLst>
      <p:ext uri="{BB962C8B-B14F-4D97-AF65-F5344CB8AC3E}">
        <p14:creationId xmlns:p14="http://schemas.microsoft.com/office/powerpoint/2010/main" val="11410383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B57B034-C7F8-9A2D-80B8-BBAE67037DAB}"/>
              </a:ext>
            </a:extLst>
          </p:cNvPr>
          <p:cNvSpPr/>
          <p:nvPr/>
        </p:nvSpPr>
        <p:spPr>
          <a:xfrm>
            <a:off x="5813660" y="0"/>
            <a:ext cx="6196704" cy="600164"/>
          </a:xfrm>
          <a:prstGeom prst="rect">
            <a:avLst/>
          </a:prstGeom>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endParaRPr kumimoji="0" lang="ar-SA" sz="2400" b="0" i="0" u="none" strike="noStrike" kern="1200" cap="none" spc="0" normalizeH="0" baseline="0" noProof="0" dirty="0">
              <a:ln>
                <a:noFill/>
              </a:ln>
              <a:solidFill>
                <a:srgbClr val="002959"/>
              </a:solidFill>
              <a:effectLst/>
              <a:uLnTx/>
              <a:uFillTx/>
              <a:latin typeface="Almarai Bold" pitchFamily="2" charset="-78"/>
              <a:ea typeface="+mn-ea"/>
              <a:cs typeface="Almarai Bold" pitchFamily="2" charset="-78"/>
            </a:endParaRPr>
          </a:p>
        </p:txBody>
      </p:sp>
      <p:pic>
        <p:nvPicPr>
          <p:cNvPr id="5" name="Picture 4" descr="Text&#10;&#10;Description automatically generated with medium confidence">
            <a:extLst>
              <a:ext uri="{FF2B5EF4-FFF2-40B4-BE49-F238E27FC236}">
                <a16:creationId xmlns:a16="http://schemas.microsoft.com/office/drawing/2014/main" id="{12FF5556-D022-A92F-E156-77EF41FC938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sp>
        <p:nvSpPr>
          <p:cNvPr id="6" name="TextBox 5">
            <a:extLst>
              <a:ext uri="{FF2B5EF4-FFF2-40B4-BE49-F238E27FC236}">
                <a16:creationId xmlns:a16="http://schemas.microsoft.com/office/drawing/2014/main" id="{178C3AAD-E781-6EA8-703D-ABACF3EE7BB2}"/>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الإدارة القانونية</a:t>
            </a:r>
          </a:p>
        </p:txBody>
      </p:sp>
      <p:graphicFrame>
        <p:nvGraphicFramePr>
          <p:cNvPr id="12" name="Table 2">
            <a:extLst>
              <a:ext uri="{FF2B5EF4-FFF2-40B4-BE49-F238E27FC236}">
                <a16:creationId xmlns:a16="http://schemas.microsoft.com/office/drawing/2014/main" id="{1E4FCB29-3777-5B99-A0EC-B06E4B48F4D0}"/>
              </a:ext>
            </a:extLst>
          </p:cNvPr>
          <p:cNvGraphicFramePr>
            <a:graphicFrameLocks noGrp="1"/>
          </p:cNvGraphicFramePr>
          <p:nvPr>
            <p:extLst>
              <p:ext uri="{D42A27DB-BD31-4B8C-83A1-F6EECF244321}">
                <p14:modId xmlns:p14="http://schemas.microsoft.com/office/powerpoint/2010/main" val="1638660712"/>
              </p:ext>
            </p:extLst>
          </p:nvPr>
        </p:nvGraphicFramePr>
        <p:xfrm>
          <a:off x="1" y="812721"/>
          <a:ext cx="12191999" cy="5536955"/>
        </p:xfrm>
        <a:graphic>
          <a:graphicData uri="http://schemas.openxmlformats.org/drawingml/2006/table">
            <a:tbl>
              <a:tblPr firstRow="1" bandRow="1">
                <a:tableStyleId>{5C22544A-7EE6-4342-B048-85BDC9FD1C3A}</a:tableStyleId>
              </a:tblPr>
              <a:tblGrid>
                <a:gridCol w="3378198">
                  <a:extLst>
                    <a:ext uri="{9D8B030D-6E8A-4147-A177-3AD203B41FA5}">
                      <a16:colId xmlns:a16="http://schemas.microsoft.com/office/drawing/2014/main" val="276634163"/>
                    </a:ext>
                  </a:extLst>
                </a:gridCol>
                <a:gridCol w="5930901">
                  <a:extLst>
                    <a:ext uri="{9D8B030D-6E8A-4147-A177-3AD203B41FA5}">
                      <a16:colId xmlns:a16="http://schemas.microsoft.com/office/drawing/2014/main" val="1759313315"/>
                    </a:ext>
                  </a:extLst>
                </a:gridCol>
                <a:gridCol w="2882900">
                  <a:extLst>
                    <a:ext uri="{9D8B030D-6E8A-4147-A177-3AD203B41FA5}">
                      <a16:colId xmlns:a16="http://schemas.microsoft.com/office/drawing/2014/main" val="3157918808"/>
                    </a:ext>
                  </a:extLst>
                </a:gridCol>
              </a:tblGrid>
              <a:tr h="715855">
                <a:tc>
                  <a:txBody>
                    <a:bodyPr/>
                    <a:lstStyle/>
                    <a:p>
                      <a:pPr algn="ctr">
                        <a:lnSpc>
                          <a:spcPct val="150000"/>
                        </a:lnSpc>
                      </a:pPr>
                      <a:r>
                        <a:rPr lang="ar-SA" sz="1400" dirty="0">
                          <a:latin typeface="Almarai" pitchFamily="2" charset="-78"/>
                          <a:cs typeface="Almarai" pitchFamily="2" charset="-78"/>
                        </a:rPr>
                        <a:t>الهدف التشغيلي</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شرح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1088186">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kern="1200" dirty="0">
                          <a:solidFill>
                            <a:schemeClr val="tx1"/>
                          </a:solidFill>
                          <a:latin typeface="Almarai" pitchFamily="2" charset="-78"/>
                          <a:ea typeface="+mn-ea"/>
                          <a:cs typeface="Almarai" pitchFamily="2" charset="-78"/>
                        </a:rPr>
                        <a:t>• تطوير بيئة العمل الداخلية والقدرات البشرية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إصدار تقرير يشمل مراجعة السياسات والإجراءات والأنظمة واللوائح لجميع القطاعات ومدى التزامهم بها، ويقدم في الربع الأخير في السنة.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تقرير الالتزام</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3082658606"/>
                  </a:ext>
                </a:extLst>
              </a:tr>
              <a:tr h="1088186">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kern="1200" dirty="0">
                          <a:solidFill>
                            <a:schemeClr val="tx1"/>
                          </a:solidFill>
                          <a:latin typeface="Almarai" pitchFamily="2" charset="-78"/>
                          <a:ea typeface="+mn-ea"/>
                          <a:cs typeface="Almarai" pitchFamily="2" charset="-78"/>
                        </a:rPr>
                        <a:t>• تطوير بيئة العمل الداخلية والقدرات البشرية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عدد الحملات التوعوية في مجال القانون المقدمة لموظفي الشركة من قبل الإدارة القانونية.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الحملات التوعوية للموظفين</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055332767"/>
                  </a:ext>
                </a:extLst>
              </a:tr>
              <a:tr h="1322364">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kern="1200" dirty="0">
                          <a:solidFill>
                            <a:schemeClr val="tx1"/>
                          </a:solidFill>
                          <a:latin typeface="Almarai" pitchFamily="2" charset="-78"/>
                          <a:ea typeface="+mn-ea"/>
                          <a:cs typeface="Almarai" pitchFamily="2" charset="-78"/>
                        </a:rPr>
                        <a:t>• تطوير بيئة العمل الداخلية والقدرات البشرية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معدل الرد وإبداء الرأي القانوني لطلبات القطاعات في الوقت المحدد (5 أيام عمل).</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فترة إبداء الرأي القانوني</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2016508191"/>
                  </a:ext>
                </a:extLst>
              </a:tr>
              <a:tr h="1322364">
                <a:tc>
                  <a:txBody>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ar-SA" sz="1200" kern="1200" dirty="0">
                          <a:solidFill>
                            <a:schemeClr val="tx1"/>
                          </a:solidFill>
                          <a:latin typeface="Almarai" pitchFamily="2" charset="-78"/>
                          <a:ea typeface="+mn-ea"/>
                          <a:cs typeface="Almarai" pitchFamily="2" charset="-78"/>
                        </a:rPr>
                        <a:t>• تطبيق وتحسين جودة العمليات الداخلية</a:t>
                      </a:r>
                      <a:br>
                        <a:rPr lang="ar-SA" sz="1200" kern="1200" dirty="0">
                          <a:solidFill>
                            <a:schemeClr val="tx1"/>
                          </a:solidFill>
                          <a:latin typeface="Almarai" pitchFamily="2" charset="-78"/>
                          <a:ea typeface="+mn-ea"/>
                          <a:cs typeface="Almarai" pitchFamily="2" charset="-78"/>
                        </a:rPr>
                      </a:br>
                      <a:r>
                        <a:rPr lang="ar-SA" sz="1200" kern="1200" dirty="0">
                          <a:solidFill>
                            <a:schemeClr val="tx1"/>
                          </a:solidFill>
                          <a:latin typeface="Almarai" pitchFamily="2" charset="-78"/>
                          <a:ea typeface="+mn-ea"/>
                          <a:cs typeface="Almarai" pitchFamily="2" charset="-78"/>
                        </a:rPr>
                        <a:t>• تحسين سمعة الشركة وتعزيز علامتها التجارية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قياس معدل الرد على الجهات الرقابية في الوقت المحدد (7 أيام عمل) من تاريخ استلام الخطاب إلى تصديره</a:t>
                      </a:r>
                      <a:r>
                        <a:rPr lang="en-US" sz="1200" kern="1200" dirty="0">
                          <a:solidFill>
                            <a:schemeClr val="tx1"/>
                          </a:solidFill>
                          <a:latin typeface="Almarai" pitchFamily="2" charset="-78"/>
                          <a:ea typeface="+mn-ea"/>
                          <a:cs typeface="Almarai" pitchFamily="2" charset="-78"/>
                        </a:rPr>
                        <a:t> </a:t>
                      </a:r>
                      <a:r>
                        <a:rPr lang="ar-SA" sz="1200" kern="1200" dirty="0">
                          <a:solidFill>
                            <a:schemeClr val="tx1"/>
                          </a:solidFill>
                          <a:latin typeface="Almarai" pitchFamily="2" charset="-78"/>
                          <a:ea typeface="+mn-ea"/>
                          <a:cs typeface="Almarai" pitchFamily="2" charset="-78"/>
                        </a:rPr>
                        <a:t> بالنسبة على الطلبات الموجهة للإدارة القانونية و (14 يوم) للقطاعات الأخرى.</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فترة الرد على الجهات الرقابية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extLst>
                  <a:ext uri="{0D108BD9-81ED-4DB2-BD59-A6C34878D82A}">
                    <a16:rowId xmlns:a16="http://schemas.microsoft.com/office/drawing/2014/main" val="1569007360"/>
                  </a:ext>
                </a:extLst>
              </a:tr>
            </a:tbl>
          </a:graphicData>
        </a:graphic>
      </p:graphicFrame>
      <p:pic>
        <p:nvPicPr>
          <p:cNvPr id="7" name="Picture 6" descr="A picture containing graphical user interface&#10;&#10;Description automatically generated">
            <a:extLst>
              <a:ext uri="{FF2B5EF4-FFF2-40B4-BE49-F238E27FC236}">
                <a16:creationId xmlns:a16="http://schemas.microsoft.com/office/drawing/2014/main" id="{F61ED70F-545B-AB53-A0D1-969E0F7CF2BA}"/>
              </a:ext>
            </a:extLst>
          </p:cNvPr>
          <p:cNvPicPr>
            <a:picLocks noChangeAspect="1"/>
          </p:cNvPicPr>
          <p:nvPr/>
        </p:nvPicPr>
        <p:blipFill rotWithShape="1">
          <a:blip r:embed="rId3"/>
          <a:srcRect l="23677" t="39057" b="28402"/>
          <a:stretch/>
        </p:blipFill>
        <p:spPr>
          <a:xfrm>
            <a:off x="0" y="6477595"/>
            <a:ext cx="5382126" cy="380404"/>
          </a:xfrm>
          <a:prstGeom prst="rect">
            <a:avLst/>
          </a:prstGeom>
        </p:spPr>
      </p:pic>
    </p:spTree>
    <p:extLst>
      <p:ext uri="{BB962C8B-B14F-4D97-AF65-F5344CB8AC3E}">
        <p14:creationId xmlns:p14="http://schemas.microsoft.com/office/powerpoint/2010/main" val="7087443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2">
            <a:extLst>
              <a:ext uri="{FF2B5EF4-FFF2-40B4-BE49-F238E27FC236}">
                <a16:creationId xmlns:a16="http://schemas.microsoft.com/office/drawing/2014/main" id="{6E726AE5-756A-9E39-3065-70EB801487B9}"/>
              </a:ext>
            </a:extLst>
          </p:cNvPr>
          <p:cNvGraphicFramePr>
            <a:graphicFrameLocks noGrp="1"/>
          </p:cNvGraphicFramePr>
          <p:nvPr>
            <p:extLst>
              <p:ext uri="{D42A27DB-BD31-4B8C-83A1-F6EECF244321}">
                <p14:modId xmlns:p14="http://schemas.microsoft.com/office/powerpoint/2010/main" val="1464042543"/>
              </p:ext>
            </p:extLst>
          </p:nvPr>
        </p:nvGraphicFramePr>
        <p:xfrm>
          <a:off x="0" y="833293"/>
          <a:ext cx="12192000" cy="6024708"/>
        </p:xfrm>
        <a:graphic>
          <a:graphicData uri="http://schemas.openxmlformats.org/drawingml/2006/table">
            <a:tbl>
              <a:tblPr firstRow="1" bandRow="1">
                <a:tableStyleId>{5C22544A-7EE6-4342-B048-85BDC9FD1C3A}</a:tableStyleId>
              </a:tblPr>
              <a:tblGrid>
                <a:gridCol w="1253447">
                  <a:extLst>
                    <a:ext uri="{9D8B030D-6E8A-4147-A177-3AD203B41FA5}">
                      <a16:colId xmlns:a16="http://schemas.microsoft.com/office/drawing/2014/main" val="2055658794"/>
                    </a:ext>
                  </a:extLst>
                </a:gridCol>
                <a:gridCol w="1281206">
                  <a:extLst>
                    <a:ext uri="{9D8B030D-6E8A-4147-A177-3AD203B41FA5}">
                      <a16:colId xmlns:a16="http://schemas.microsoft.com/office/drawing/2014/main" val="3919127931"/>
                    </a:ext>
                  </a:extLst>
                </a:gridCol>
                <a:gridCol w="5865428">
                  <a:extLst>
                    <a:ext uri="{9D8B030D-6E8A-4147-A177-3AD203B41FA5}">
                      <a16:colId xmlns:a16="http://schemas.microsoft.com/office/drawing/2014/main" val="1759313315"/>
                    </a:ext>
                  </a:extLst>
                </a:gridCol>
                <a:gridCol w="2941019">
                  <a:extLst>
                    <a:ext uri="{9D8B030D-6E8A-4147-A177-3AD203B41FA5}">
                      <a16:colId xmlns:a16="http://schemas.microsoft.com/office/drawing/2014/main" val="3157918808"/>
                    </a:ext>
                  </a:extLst>
                </a:gridCol>
                <a:gridCol w="850900">
                  <a:extLst>
                    <a:ext uri="{9D8B030D-6E8A-4147-A177-3AD203B41FA5}">
                      <a16:colId xmlns:a16="http://schemas.microsoft.com/office/drawing/2014/main" val="635944514"/>
                    </a:ext>
                  </a:extLst>
                </a:gridCol>
              </a:tblGrid>
              <a:tr h="662260">
                <a:tc>
                  <a:txBody>
                    <a:bodyPr/>
                    <a:lstStyle/>
                    <a:p>
                      <a:pPr algn="ctr">
                        <a:lnSpc>
                          <a:spcPct val="150000"/>
                        </a:lnSpc>
                      </a:pPr>
                      <a:r>
                        <a:rPr lang="ar-SA" sz="1400" dirty="0">
                          <a:latin typeface="Almarai" pitchFamily="2" charset="-78"/>
                          <a:cs typeface="Almarai" pitchFamily="2" charset="-78"/>
                        </a:rPr>
                        <a:t>نوع 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الهدف</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المعادلة</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المؤشر</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tc>
                  <a:txBody>
                    <a:bodyPr/>
                    <a:lstStyle/>
                    <a:p>
                      <a:pPr algn="ctr">
                        <a:lnSpc>
                          <a:spcPct val="150000"/>
                        </a:lnSpc>
                      </a:pPr>
                      <a:r>
                        <a:rPr lang="ar-SA" sz="1400" dirty="0">
                          <a:latin typeface="Almarai" pitchFamily="2" charset="-78"/>
                          <a:cs typeface="Almarai" pitchFamily="2" charset="-78"/>
                        </a:rPr>
                        <a:t>الوزن</a:t>
                      </a:r>
                      <a:endParaRPr lang="en-US" sz="1400" dirty="0">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rgbClr val="002060"/>
                    </a:solidFill>
                  </a:tcPr>
                </a:tc>
                <a:extLst>
                  <a:ext uri="{0D108BD9-81ED-4DB2-BD59-A6C34878D82A}">
                    <a16:rowId xmlns:a16="http://schemas.microsoft.com/office/drawing/2014/main" val="1756768457"/>
                  </a:ext>
                </a:extLst>
              </a:tr>
              <a:tr h="1340612">
                <a:tc>
                  <a:txBody>
                    <a:bodyPr/>
                    <a:lstStyle/>
                    <a:p>
                      <a:pPr algn="ctr" rtl="1">
                        <a:lnSpc>
                          <a:spcPct val="150000"/>
                        </a:lnSpc>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solidFill>
                            <a:schemeClr val="tx1"/>
                          </a:solidFill>
                          <a:latin typeface="Almarai" pitchFamily="2" charset="-78"/>
                          <a:cs typeface="Almarai" pitchFamily="2" charset="-78"/>
                        </a:rPr>
                        <a:t>1</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200" kern="1200" dirty="0">
                          <a:solidFill>
                            <a:schemeClr val="tx1"/>
                          </a:solidFill>
                          <a:latin typeface="Almarai" pitchFamily="2" charset="-78"/>
                          <a:ea typeface="+mn-ea"/>
                          <a:cs typeface="Almarai" pitchFamily="2" charset="-78"/>
                        </a:rPr>
                        <a:t>لا يوجد معادلة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تقرير الالتزام</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25%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3082658606"/>
                  </a:ext>
                </a:extLst>
              </a:tr>
              <a:tr h="1340612">
                <a:tc>
                  <a:txBody>
                    <a:bodyPr/>
                    <a:lstStyle/>
                    <a:p>
                      <a:pPr algn="ctr" rtl="1">
                        <a:lnSpc>
                          <a:spcPct val="150000"/>
                        </a:lnSpc>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ctr" rtl="1">
                        <a:lnSpc>
                          <a:spcPct val="150000"/>
                        </a:lnSpc>
                      </a:pPr>
                      <a:r>
                        <a:rPr lang="en-US" sz="1200" dirty="0">
                          <a:solidFill>
                            <a:schemeClr val="tx1"/>
                          </a:solidFill>
                          <a:latin typeface="Almarai" pitchFamily="2" charset="-78"/>
                          <a:cs typeface="Almarai" pitchFamily="2" charset="-78"/>
                        </a:rPr>
                        <a:t>1</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algn="r" defTabSz="914400" rtl="1" eaLnBrk="1" fontAlgn="ctr" latinLnBrk="0" hangingPunct="1"/>
                      <a:r>
                        <a:rPr lang="ar-SA" sz="1200" kern="1200" dirty="0">
                          <a:solidFill>
                            <a:schemeClr val="tx1"/>
                          </a:solidFill>
                          <a:latin typeface="Almarai" pitchFamily="2" charset="-78"/>
                          <a:ea typeface="+mn-ea"/>
                          <a:cs typeface="Almarai" pitchFamily="2" charset="-78"/>
                        </a:rPr>
                        <a:t>لا يوجد معادلة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الحملات التوعوية للموظفين</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10%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2055332767"/>
                  </a:ext>
                </a:extLst>
              </a:tr>
              <a:tr h="1340612">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algn="r" defTabSz="914400" rtl="1" eaLnBrk="1" fontAlgn="ctr" latinLnBrk="0" hangingPunct="1"/>
                      <a:r>
                        <a:rPr lang="ar-SA" sz="1200" kern="1200" dirty="0">
                          <a:solidFill>
                            <a:schemeClr val="tx1"/>
                          </a:solidFill>
                          <a:latin typeface="Almarai" pitchFamily="2" charset="-78"/>
                          <a:ea typeface="+mn-ea"/>
                          <a:cs typeface="Almarai" pitchFamily="2" charset="-78"/>
                        </a:rPr>
                        <a:t>(المعاملات التي تم الرد عليها في الوقت المحدد / إجمالي عدد المعاملات) * 100</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فترة إبداء الرأي القانوني</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30%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175398007"/>
                  </a:ext>
                </a:extLst>
              </a:tr>
              <a:tr h="1340612">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Almarai" pitchFamily="2" charset="-78"/>
                          <a:cs typeface="Almarai" pitchFamily="2" charset="-78"/>
                        </a:rPr>
                        <a:t>100%</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marL="0" algn="r" defTabSz="914400" rtl="1" eaLnBrk="1" fontAlgn="ctr" latinLnBrk="0" hangingPunct="1"/>
                      <a:r>
                        <a:rPr lang="ar-SA" sz="1200" kern="1200" dirty="0">
                          <a:solidFill>
                            <a:schemeClr val="tx1"/>
                          </a:solidFill>
                          <a:latin typeface="Almarai" pitchFamily="2" charset="-78"/>
                          <a:ea typeface="+mn-ea"/>
                          <a:cs typeface="Almarai" pitchFamily="2" charset="-78"/>
                        </a:rPr>
                        <a:t>(المعاملات التي تم الرد عليها في الوقت المحدد / إجمالي عدد  المعاملات) * 100</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algn="r" rtl="1" fontAlgn="ctr"/>
                      <a:r>
                        <a:rPr lang="ar-SA" sz="1200" kern="1200" dirty="0">
                          <a:solidFill>
                            <a:schemeClr val="tx1"/>
                          </a:solidFill>
                          <a:latin typeface="Almarai" pitchFamily="2" charset="-78"/>
                          <a:ea typeface="+mn-ea"/>
                          <a:cs typeface="Almarai" pitchFamily="2" charset="-78"/>
                        </a:rPr>
                        <a:t>% فترة الرد على الجهات الرقابية</a:t>
                      </a:r>
                    </a:p>
                  </a:txBody>
                  <a:tcPr marL="0" marR="95250" marT="0" marB="0"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noFill/>
                  </a:tcPr>
                </a:tc>
                <a:tc>
                  <a:txBody>
                    <a:bodyPr/>
                    <a:lstStyle/>
                    <a:p>
                      <a:pPr lvl="0" algn="ctr" rtl="1">
                        <a:lnSpc>
                          <a:spcPct val="150000"/>
                        </a:lnSpc>
                      </a:pPr>
                      <a:r>
                        <a:rPr lang="en-US" sz="1200" dirty="0">
                          <a:solidFill>
                            <a:schemeClr val="tx1"/>
                          </a:solidFill>
                          <a:latin typeface="Almarai" pitchFamily="2" charset="-78"/>
                          <a:cs typeface="Almarai" pitchFamily="2" charset="-78"/>
                        </a:rPr>
                        <a:t>35%</a:t>
                      </a:r>
                    </a:p>
                  </a:txBody>
                  <a:tcPr anchor="ctr">
                    <a:lnL w="9525" cap="flat" cmpd="sng" algn="ctr">
                      <a:solidFill>
                        <a:schemeClr val="bg2">
                          <a:lumMod val="90000"/>
                        </a:schemeClr>
                      </a:solidFill>
                      <a:prstDash val="sysDot"/>
                      <a:round/>
                      <a:headEnd type="none" w="med" len="med"/>
                      <a:tailEnd type="none" w="med" len="med"/>
                    </a:lnL>
                    <a:lnR w="9525" cap="flat" cmpd="sng" algn="ctr">
                      <a:solidFill>
                        <a:schemeClr val="bg2">
                          <a:lumMod val="90000"/>
                        </a:schemeClr>
                      </a:solidFill>
                      <a:prstDash val="sysDot"/>
                      <a:round/>
                      <a:headEnd type="none" w="med" len="med"/>
                      <a:tailEnd type="none" w="med" len="med"/>
                    </a:lnR>
                    <a:lnT w="9525" cap="flat" cmpd="sng" algn="ctr">
                      <a:solidFill>
                        <a:schemeClr val="bg2">
                          <a:lumMod val="90000"/>
                        </a:schemeClr>
                      </a:solidFill>
                      <a:prstDash val="sysDot"/>
                      <a:round/>
                      <a:headEnd type="none" w="med" len="med"/>
                      <a:tailEnd type="none" w="med" len="med"/>
                    </a:lnT>
                    <a:lnB w="9525" cap="flat" cmpd="sng" algn="ctr">
                      <a:solidFill>
                        <a:schemeClr val="bg2">
                          <a:lumMod val="90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013659251"/>
                  </a:ext>
                </a:extLst>
              </a:tr>
            </a:tbl>
          </a:graphicData>
        </a:graphic>
      </p:graphicFrame>
      <p:pic>
        <p:nvPicPr>
          <p:cNvPr id="11" name="Picture 10" descr="Text&#10;&#10;Description automatically generated with medium confidence">
            <a:extLst>
              <a:ext uri="{FF2B5EF4-FFF2-40B4-BE49-F238E27FC236}">
                <a16:creationId xmlns:a16="http://schemas.microsoft.com/office/drawing/2014/main" id="{8F1C09D0-3513-08F1-C8E9-23B41B12925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b="14084"/>
          <a:stretch/>
        </p:blipFill>
        <p:spPr>
          <a:xfrm>
            <a:off x="181636" y="212558"/>
            <a:ext cx="778373" cy="515525"/>
          </a:xfrm>
          <a:prstGeom prst="rect">
            <a:avLst/>
          </a:prstGeom>
        </p:spPr>
      </p:pic>
      <p:sp>
        <p:nvSpPr>
          <p:cNvPr id="18" name="TextBox 17">
            <a:extLst>
              <a:ext uri="{FF2B5EF4-FFF2-40B4-BE49-F238E27FC236}">
                <a16:creationId xmlns:a16="http://schemas.microsoft.com/office/drawing/2014/main" id="{B9D1FA02-6CA1-4248-9B93-F2586D459D68}"/>
              </a:ext>
            </a:extLst>
          </p:cNvPr>
          <p:cNvSpPr txBox="1"/>
          <p:nvPr/>
        </p:nvSpPr>
        <p:spPr>
          <a:xfrm>
            <a:off x="5988050" y="212557"/>
            <a:ext cx="6102350" cy="515526"/>
          </a:xfrm>
          <a:prstGeom prst="rect">
            <a:avLst/>
          </a:prstGeom>
          <a:noFill/>
        </p:spPr>
        <p:txBody>
          <a:bodyPr wrap="square" anchor="ctr">
            <a:spAutoFit/>
          </a:bodyPr>
          <a:lstStyle/>
          <a:p>
            <a:pPr marL="0" marR="0" lvl="0" indent="0" algn="r" defTabSz="457154" rtl="1" eaLnBrk="1" fontAlgn="auto" latinLnBrk="0" hangingPunct="1">
              <a:lnSpc>
                <a:spcPct val="150000"/>
              </a:lnSpc>
              <a:spcBef>
                <a:spcPts val="0"/>
              </a:spcBef>
              <a:spcAft>
                <a:spcPts val="0"/>
              </a:spcAft>
              <a:buClrTx/>
              <a:buSzTx/>
              <a:buFontTx/>
              <a:buNone/>
              <a:tabLst/>
              <a:defRPr/>
            </a:pPr>
            <a:r>
              <a:rPr kumimoji="0" lang="ar-SA" sz="2000"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الإدارة القانونية</a:t>
            </a:r>
          </a:p>
        </p:txBody>
      </p:sp>
    </p:spTree>
    <p:extLst>
      <p:ext uri="{BB962C8B-B14F-4D97-AF65-F5344CB8AC3E}">
        <p14:creationId xmlns:p14="http://schemas.microsoft.com/office/powerpoint/2010/main" val="2379872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789BD45-5C08-4000-8B10-38CE89618E2B}"/>
              </a:ext>
            </a:extLst>
          </p:cNvPr>
          <p:cNvGraphicFramePr>
            <a:graphicFrameLocks noGrp="1"/>
          </p:cNvGraphicFramePr>
          <p:nvPr>
            <p:extLst>
              <p:ext uri="{D42A27DB-BD31-4B8C-83A1-F6EECF244321}">
                <p14:modId xmlns:p14="http://schemas.microsoft.com/office/powerpoint/2010/main" val="127198845"/>
              </p:ext>
            </p:extLst>
          </p:nvPr>
        </p:nvGraphicFramePr>
        <p:xfrm>
          <a:off x="0" y="801220"/>
          <a:ext cx="12191999" cy="6056780"/>
        </p:xfrm>
        <a:graphic>
          <a:graphicData uri="http://schemas.openxmlformats.org/drawingml/2006/table">
            <a:tbl>
              <a:tblPr firstRow="1" lastRow="1" bandRow="1">
                <a:tableStyleId>{BC89EF96-8CEA-46FF-86C4-4CE0E7609802}</a:tableStyleId>
              </a:tblPr>
              <a:tblGrid>
                <a:gridCol w="2381061">
                  <a:extLst>
                    <a:ext uri="{9D8B030D-6E8A-4147-A177-3AD203B41FA5}">
                      <a16:colId xmlns:a16="http://schemas.microsoft.com/office/drawing/2014/main" val="3528422332"/>
                    </a:ext>
                  </a:extLst>
                </a:gridCol>
                <a:gridCol w="181386">
                  <a:extLst>
                    <a:ext uri="{9D8B030D-6E8A-4147-A177-3AD203B41FA5}">
                      <a16:colId xmlns:a16="http://schemas.microsoft.com/office/drawing/2014/main" val="1404025555"/>
                    </a:ext>
                  </a:extLst>
                </a:gridCol>
                <a:gridCol w="1249062">
                  <a:extLst>
                    <a:ext uri="{9D8B030D-6E8A-4147-A177-3AD203B41FA5}">
                      <a16:colId xmlns:a16="http://schemas.microsoft.com/office/drawing/2014/main" val="3204294117"/>
                    </a:ext>
                  </a:extLst>
                </a:gridCol>
                <a:gridCol w="905346">
                  <a:extLst>
                    <a:ext uri="{9D8B030D-6E8A-4147-A177-3AD203B41FA5}">
                      <a16:colId xmlns:a16="http://schemas.microsoft.com/office/drawing/2014/main" val="290041181"/>
                    </a:ext>
                  </a:extLst>
                </a:gridCol>
                <a:gridCol w="887240">
                  <a:extLst>
                    <a:ext uri="{9D8B030D-6E8A-4147-A177-3AD203B41FA5}">
                      <a16:colId xmlns:a16="http://schemas.microsoft.com/office/drawing/2014/main" val="986504599"/>
                    </a:ext>
                  </a:extLst>
                </a:gridCol>
                <a:gridCol w="878186">
                  <a:extLst>
                    <a:ext uri="{9D8B030D-6E8A-4147-A177-3AD203B41FA5}">
                      <a16:colId xmlns:a16="http://schemas.microsoft.com/office/drawing/2014/main" val="3691410578"/>
                    </a:ext>
                  </a:extLst>
                </a:gridCol>
                <a:gridCol w="968721">
                  <a:extLst>
                    <a:ext uri="{9D8B030D-6E8A-4147-A177-3AD203B41FA5}">
                      <a16:colId xmlns:a16="http://schemas.microsoft.com/office/drawing/2014/main" val="692657871"/>
                    </a:ext>
                  </a:extLst>
                </a:gridCol>
                <a:gridCol w="1122630">
                  <a:extLst>
                    <a:ext uri="{9D8B030D-6E8A-4147-A177-3AD203B41FA5}">
                      <a16:colId xmlns:a16="http://schemas.microsoft.com/office/drawing/2014/main" val="786455139"/>
                    </a:ext>
                  </a:extLst>
                </a:gridCol>
                <a:gridCol w="1928388">
                  <a:extLst>
                    <a:ext uri="{9D8B030D-6E8A-4147-A177-3AD203B41FA5}">
                      <a16:colId xmlns:a16="http://schemas.microsoft.com/office/drawing/2014/main" val="313549563"/>
                    </a:ext>
                  </a:extLst>
                </a:gridCol>
                <a:gridCol w="679010">
                  <a:extLst>
                    <a:ext uri="{9D8B030D-6E8A-4147-A177-3AD203B41FA5}">
                      <a16:colId xmlns:a16="http://schemas.microsoft.com/office/drawing/2014/main" val="2142733880"/>
                    </a:ext>
                  </a:extLst>
                </a:gridCol>
                <a:gridCol w="1010969">
                  <a:extLst>
                    <a:ext uri="{9D8B030D-6E8A-4147-A177-3AD203B41FA5}">
                      <a16:colId xmlns:a16="http://schemas.microsoft.com/office/drawing/2014/main" val="481353969"/>
                    </a:ext>
                  </a:extLst>
                </a:gridCol>
              </a:tblGrid>
              <a:tr h="706985">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dirty="0">
                          <a:ln>
                            <a:noFill/>
                          </a:ln>
                          <a:solidFill>
                            <a:schemeClr val="bg1"/>
                          </a:solidFill>
                          <a:effectLst/>
                          <a:uLnTx/>
                          <a:uFillTx/>
                          <a:latin typeface="Almarai" pitchFamily="2" charset="-78"/>
                          <a:ea typeface="+mn-ea"/>
                          <a:cs typeface="Almarai" pitchFamily="2" charset="-78"/>
                        </a:rPr>
                        <a:t>الملاحظات</a:t>
                      </a:r>
                      <a:endParaRPr kumimoji="0" lang="en-GB" sz="1400" b="1" i="0" u="none" strike="noStrike" kern="1200" cap="none" spc="40" normalizeH="0" baseline="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2">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النتيجة النهائية</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dirty="0"/>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Q4</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Q3</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400" dirty="0">
                          <a:solidFill>
                            <a:schemeClr val="bg1"/>
                          </a:solidFill>
                          <a:latin typeface="Almarai" pitchFamily="2" charset="-78"/>
                          <a:cs typeface="Almarai" pitchFamily="2" charset="-78"/>
                        </a:rPr>
                        <a:t>Q2</a:t>
                      </a:r>
                      <a:endParaRPr sz="1400" dirty="0">
                        <a:solidFill>
                          <a:schemeClr val="bg1"/>
                        </a:solidFill>
                        <a:latin typeface="Almarai" pitchFamily="2" charset="-78"/>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Q1</a:t>
                      </a: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المستهدف</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الوزن</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1828983" rtl="0" eaLnBrk="1" fontAlgn="b" latinLnBrk="0" hangingPunct="1">
                        <a:lnSpc>
                          <a:spcPct val="100000"/>
                        </a:lnSpc>
                        <a:spcBef>
                          <a:spcPts val="0"/>
                        </a:spcBef>
                        <a:spcAft>
                          <a:spcPts val="0"/>
                        </a:spcAft>
                        <a:buClrTx/>
                        <a:buSzTx/>
                        <a:buFontTx/>
                        <a:buNone/>
                        <a:tabLst/>
                        <a:defRPr/>
                      </a:pPr>
                      <a:r>
                        <a:rPr kumimoji="0" lang="ar-SA"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rPr>
                        <a:t>نوع المؤشر</a:t>
                      </a:r>
                      <a:endParaRPr kumimoji="0" lang="en-GB" sz="1400" b="1" i="0" u="none" strike="noStrike" kern="1200" cap="none" spc="40" normalizeH="0" baseline="0" noProof="0" dirty="0">
                        <a:ln>
                          <a:noFill/>
                        </a:ln>
                        <a:solidFill>
                          <a:schemeClr val="bg1"/>
                        </a:solidFill>
                        <a:effectLst/>
                        <a:uLnTx/>
                        <a:uFillTx/>
                        <a:latin typeface="Almarai" pitchFamily="2" charset="-78"/>
                        <a:ea typeface="+mn-ea"/>
                        <a:cs typeface="Almarai" pitchFamily="2" charset="-78"/>
                      </a:endParaRPr>
                    </a:p>
                  </a:txBody>
                  <a:tcPr marL="91437" marR="91437" marT="30387" marB="30387"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506390058"/>
                  </a:ext>
                </a:extLst>
              </a:tr>
              <a:tr h="1326438">
                <a:tc>
                  <a:txBody>
                    <a:bodyPr/>
                    <a:lstStyle/>
                    <a:p>
                      <a:pPr marL="0" marR="0" lvl="0" indent="0" algn="justLow" defTabSz="914400" rtl="1" eaLnBrk="1" fontAlgn="b" latinLnBrk="0" hangingPunct="1">
                        <a:lnSpc>
                          <a:spcPct val="100000"/>
                        </a:lnSpc>
                        <a:spcBef>
                          <a:spcPts val="0"/>
                        </a:spcBef>
                        <a:spcAft>
                          <a:spcPts val="0"/>
                        </a:spcAft>
                        <a:buClrTx/>
                        <a:buSzTx/>
                        <a:buFontTx/>
                        <a:buNone/>
                        <a:tabLst/>
                        <a:defRPr/>
                      </a:pPr>
                      <a:r>
                        <a:rPr kumimoji="0" lang="en-US" sz="1100" b="0"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rPr>
                        <a:t> -</a:t>
                      </a:r>
                      <a:r>
                        <a:rPr kumimoji="0" lang="en-US" sz="1100" b="0" i="0" u="none" strike="noStrike" kern="1200" cap="none" spc="40" normalizeH="0" baseline="0" noProof="0" dirty="0">
                          <a:ln>
                            <a:noFill/>
                          </a:ln>
                          <a:solidFill>
                            <a:srgbClr val="262626">
                              <a:lumMod val="75000"/>
                              <a:lumOff val="25000"/>
                            </a:srgbClr>
                          </a:solidFill>
                          <a:effectLst/>
                          <a:uLnTx/>
                          <a:uFillTx/>
                          <a:latin typeface="Almarai" pitchFamily="2" charset="-78"/>
                          <a:ea typeface="+mn-ea"/>
                          <a:cs typeface="Almarai" pitchFamily="2" charset="-78"/>
                        </a:rPr>
                        <a:t>-</a:t>
                      </a:r>
                      <a:r>
                        <a:rPr kumimoji="0" lang="en-US" sz="1100" b="1" i="0" u="none" strike="noStrike" kern="1200" cap="none" spc="40" normalizeH="0" baseline="0" noProof="0" dirty="0">
                          <a:ln>
                            <a:noFill/>
                          </a:ln>
                          <a:solidFill>
                            <a:prstClr val="black"/>
                          </a:solidFill>
                          <a:effectLst/>
                          <a:uLnTx/>
                          <a:uFillTx/>
                          <a:latin typeface="Almarai" pitchFamily="2" charset="-78"/>
                          <a:ea typeface="+mn-ea"/>
                          <a:cs typeface="Almarai" pitchFamily="2" charset="-78"/>
                        </a:rPr>
                        <a:t>Q2</a:t>
                      </a:r>
                      <a:r>
                        <a:rPr kumimoji="0" lang="en-US" sz="1100" b="0" i="0" u="none" strike="noStrike" kern="1200" cap="none" spc="40" normalizeH="0" baseline="0" noProof="0" dirty="0">
                          <a:ln>
                            <a:noFill/>
                          </a:ln>
                          <a:solidFill>
                            <a:prstClr val="black"/>
                          </a:solidFill>
                          <a:effectLst/>
                          <a:uLnTx/>
                          <a:uFillTx/>
                          <a:latin typeface="Almarai" pitchFamily="2" charset="-78"/>
                          <a:ea typeface="+mn-ea"/>
                          <a:cs typeface="Almarai" pitchFamily="2" charset="-78"/>
                        </a:rPr>
                        <a:t>+</a:t>
                      </a:r>
                      <a:r>
                        <a:rPr kumimoji="0" lang="en-US" sz="1100" b="1"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rPr>
                        <a:t>Q1</a:t>
                      </a:r>
                      <a:r>
                        <a:rPr kumimoji="0" lang="ar-SA" sz="1100" b="0"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rPr>
                        <a:t>نظراً للوضع الحالي والتغيرات التي تحدث حالياً من تحديث بعض السياسات الجديدة من قبل الشركة القابضة وتفعيل الخدمات المشتركة وكذلك بناء مكتبة الالتزام في الوقت الحالي، مما يتعين معه التريث حتى اتضاح الرؤية بشكل كامل.</a:t>
                      </a: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rgbClr val="000000"/>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rgbClr val="000000"/>
                          </a:solidFill>
                          <a:effectLst/>
                          <a:latin typeface="Almarai" pitchFamily="2" charset="-78"/>
                          <a:ea typeface="+mn-ea"/>
                          <a:cs typeface="Almarai" pitchFamily="2" charset="-78"/>
                        </a:rPr>
                        <a:t>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rgbClr val="000000"/>
                          </a:solidFill>
                          <a:effectLst/>
                          <a:latin typeface="Almarai" pitchFamily="2" charset="-78"/>
                          <a:ea typeface="+mn-ea"/>
                          <a:cs typeface="Almarai" pitchFamily="2" charset="-78"/>
                        </a:rPr>
                        <a:t>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p>
                      <a:pPr algn="ctr" rtl="1">
                        <a:lnSpc>
                          <a:spcPct val="150000"/>
                        </a:lnSpc>
                      </a:pPr>
                      <a:r>
                        <a:rPr lang="en-US" sz="1200" dirty="0">
                          <a:latin typeface="Almarai" pitchFamily="2" charset="-78"/>
                          <a:cs typeface="Almarai" pitchFamily="2" charset="-78"/>
                        </a:rPr>
                        <a:t>1</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r>
                        <a:rPr lang="ar-SA" sz="1200" b="0" kern="1200" dirty="0">
                          <a:solidFill>
                            <a:schemeClr val="tx1"/>
                          </a:solidFill>
                          <a:latin typeface="Almarai" pitchFamily="2" charset="-78"/>
                          <a:ea typeface="+mn-ea"/>
                          <a:cs typeface="Almarai" pitchFamily="2" charset="-78"/>
                        </a:rPr>
                        <a:t># تقرير الالتزام</a:t>
                      </a:r>
                    </a:p>
                  </a:txBody>
                  <a:tcPr marL="0" marR="9525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25%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a:lnSpc>
                          <a:spcPct val="150000"/>
                        </a:lnSpc>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345933"/>
                  </a:ext>
                </a:extLst>
              </a:tr>
              <a:tr h="1370481">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kumimoji="0" lang="en-US" sz="1100" b="0"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rPr>
                        <a:t>-</a:t>
                      </a:r>
                      <a:r>
                        <a:rPr kumimoji="0" lang="en-US" sz="1100" b="1" i="0" u="none" strike="noStrike" kern="1200" cap="none" spc="40" normalizeH="0" baseline="0" noProof="0" dirty="0">
                          <a:ln>
                            <a:noFill/>
                          </a:ln>
                          <a:solidFill>
                            <a:schemeClr val="tx1"/>
                          </a:solidFill>
                          <a:effectLst/>
                          <a:uLnTx/>
                          <a:uFillTx/>
                          <a:latin typeface="Almarai" pitchFamily="2" charset="-78"/>
                          <a:ea typeface="+mn-ea"/>
                          <a:cs typeface="Almarai" pitchFamily="2" charset="-78"/>
                        </a:rPr>
                        <a:t>Q2</a:t>
                      </a:r>
                      <a:r>
                        <a:rPr kumimoji="0" lang="en-US" sz="1100" b="0" i="0" u="none" strike="noStrike" kern="1200" cap="none" spc="40" normalizeH="0" baseline="0" dirty="0">
                          <a:ln>
                            <a:noFill/>
                          </a:ln>
                          <a:solidFill>
                            <a:schemeClr val="tx1"/>
                          </a:solidFill>
                          <a:effectLst/>
                          <a:uLnTx/>
                          <a:uFillTx/>
                          <a:latin typeface="Almarai" pitchFamily="2" charset="-78"/>
                          <a:ea typeface="+mn-ea"/>
                          <a:cs typeface="Almarai" pitchFamily="2" charset="-78"/>
                        </a:rPr>
                        <a:t>+</a:t>
                      </a:r>
                      <a:r>
                        <a:rPr kumimoji="0" lang="en-US" sz="1100" b="1" i="0" u="none" strike="noStrike" kern="1200" cap="none" spc="40" normalizeH="0" baseline="0" dirty="0">
                          <a:ln>
                            <a:noFill/>
                          </a:ln>
                          <a:solidFill>
                            <a:schemeClr val="tx1"/>
                          </a:solidFill>
                          <a:effectLst/>
                          <a:uLnTx/>
                          <a:uFillTx/>
                          <a:latin typeface="Almarai" pitchFamily="2" charset="-78"/>
                          <a:ea typeface="+mn-ea"/>
                          <a:cs typeface="Almarai" pitchFamily="2" charset="-78"/>
                        </a:rPr>
                        <a:t>Q1</a:t>
                      </a:r>
                      <a:r>
                        <a:rPr kumimoji="0" lang="ar-SA" sz="1100" b="0"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rPr>
                        <a:t>حسب ما هو مخطط له أن يتم العمل عليها وإقفالها في الربعين الثالث والرابع من العام 2025م.</a:t>
                      </a:r>
                      <a:endParaRPr kumimoji="0" lang="en-US" sz="1100" b="0"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a:solidFill>
                          <a:srgbClr val="000000"/>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rgbClr val="000000"/>
                          </a:solidFill>
                          <a:effectLst/>
                          <a:latin typeface="Almarai" pitchFamily="2" charset="-78"/>
                          <a:ea typeface="+mn-ea"/>
                          <a:cs typeface="Almarai" pitchFamily="2" charset="-78"/>
                        </a:rPr>
                        <a:t>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rgbClr val="000000"/>
                          </a:solidFill>
                          <a:effectLst/>
                          <a:latin typeface="Almarai" pitchFamily="2" charset="-78"/>
                          <a:ea typeface="+mn-ea"/>
                          <a:cs typeface="Almarai" pitchFamily="2" charset="-78"/>
                        </a:rPr>
                        <a:t>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p>
                      <a:pPr algn="ctr" rtl="1">
                        <a:lnSpc>
                          <a:spcPct val="150000"/>
                        </a:lnSpc>
                      </a:pPr>
                      <a:r>
                        <a:rPr lang="en-US" sz="1200" dirty="0">
                          <a:latin typeface="Almarai" pitchFamily="2" charset="-78"/>
                          <a:cs typeface="Almarai" pitchFamily="2" charset="-78"/>
                        </a:rPr>
                        <a:t>1</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r>
                        <a:rPr lang="ar-SA" sz="1200" b="0" kern="1200" dirty="0">
                          <a:solidFill>
                            <a:schemeClr val="tx1"/>
                          </a:solidFill>
                          <a:latin typeface="Almarai" pitchFamily="2" charset="-78"/>
                          <a:ea typeface="+mn-ea"/>
                          <a:cs typeface="Almarai" pitchFamily="2" charset="-78"/>
                        </a:rPr>
                        <a:t># الحملات التوعوية للموظفين</a:t>
                      </a:r>
                    </a:p>
                  </a:txBody>
                  <a:tcPr marL="0" marR="9525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10%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2732480"/>
                  </a:ext>
                </a:extLst>
              </a:tr>
              <a:tr h="1326438">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kumimoji="0" lang="en-US" sz="1200" b="0" i="0" u="none" strike="noStrike" kern="1200" cap="none" spc="40" normalizeH="0" baseline="0" dirty="0">
                        <a:ln>
                          <a:noFill/>
                        </a:ln>
                        <a:solidFill>
                          <a:srgbClr val="262626">
                            <a:lumMod val="75000"/>
                            <a:lumOff val="25000"/>
                          </a:srgbClr>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rgbClr val="000000"/>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rgbClr val="000000"/>
                          </a:solidFill>
                          <a:effectLst/>
                          <a:latin typeface="Almarai" pitchFamily="2" charset="-78"/>
                          <a:ea typeface="+mn-ea"/>
                          <a:cs typeface="Almarai" pitchFamily="2" charset="-78"/>
                        </a:rPr>
                        <a:t>100%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rgbClr val="000000"/>
                          </a:solidFill>
                          <a:effectLst/>
                          <a:latin typeface="Almarai" pitchFamily="2" charset="-78"/>
                          <a:ea typeface="+mn-ea"/>
                          <a:cs typeface="Almarai" pitchFamily="2" charset="-78"/>
                        </a:rPr>
                        <a:t>100%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dirty="0">
                          <a:latin typeface="Almarai" pitchFamily="2" charset="-78"/>
                          <a:cs typeface="Almarai" pitchFamily="2" charset="-78"/>
                        </a:rPr>
                        <a:t>100%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r>
                        <a:rPr lang="ar-SA" sz="1200" b="0" kern="1200" dirty="0">
                          <a:solidFill>
                            <a:schemeClr val="tx1"/>
                          </a:solidFill>
                          <a:latin typeface="Almarai" pitchFamily="2" charset="-78"/>
                          <a:ea typeface="+mn-ea"/>
                          <a:cs typeface="Almarai" pitchFamily="2" charset="-78"/>
                        </a:rPr>
                        <a:t>% فترة إبداء الرأي القانوني</a:t>
                      </a:r>
                    </a:p>
                  </a:txBody>
                  <a:tcPr marL="0" marR="9525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30%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dirty="0">
                          <a:solidFill>
                            <a:schemeClr val="tx1"/>
                          </a:solidFill>
                          <a:latin typeface="Almarai" pitchFamily="2" charset="-78"/>
                          <a:cs typeface="Almarai" pitchFamily="2" charset="-78"/>
                        </a:rPr>
                        <a:t>سنوي</a:t>
                      </a:r>
                      <a:endParaRPr lang="en-US" sz="120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1117382"/>
                  </a:ext>
                </a:extLst>
              </a:tr>
              <a:tr h="1326438">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kumimoji="0" lang="en-US" sz="1100" b="0" i="0" u="none" strike="noStrike" kern="1200" cap="none" spc="40" normalizeH="0" baseline="0" noProof="0" dirty="0">
                          <a:ln>
                            <a:noFill/>
                          </a:ln>
                          <a:solidFill>
                            <a:srgbClr val="262626">
                              <a:lumMod val="75000"/>
                              <a:lumOff val="25000"/>
                            </a:srgbClr>
                          </a:solidFill>
                          <a:effectLst/>
                          <a:uLnTx/>
                          <a:uFillTx/>
                          <a:latin typeface="Almarai" pitchFamily="2" charset="-78"/>
                          <a:ea typeface="+mn-ea"/>
                          <a:cs typeface="Almarai" pitchFamily="2" charset="-78"/>
                        </a:rPr>
                        <a:t>-</a:t>
                      </a:r>
                      <a:r>
                        <a:rPr kumimoji="0" lang="en-US" sz="1100" b="1" i="0" u="none" strike="noStrike" kern="1200" cap="none" spc="40" normalizeH="0" baseline="0" noProof="0" dirty="0">
                          <a:ln>
                            <a:noFill/>
                          </a:ln>
                          <a:solidFill>
                            <a:prstClr val="black"/>
                          </a:solidFill>
                          <a:effectLst/>
                          <a:uLnTx/>
                          <a:uFillTx/>
                          <a:latin typeface="Almarai" pitchFamily="2" charset="-78"/>
                          <a:ea typeface="+mn-ea"/>
                          <a:cs typeface="Almarai" pitchFamily="2" charset="-78"/>
                        </a:rPr>
                        <a:t>Q2</a:t>
                      </a:r>
                      <a:r>
                        <a:rPr kumimoji="0" lang="ar-SA" sz="1100" b="0" i="0" u="none" strike="noStrike" kern="1200" cap="none" spc="40" normalizeH="0" baseline="0" noProof="0" dirty="0">
                          <a:ln>
                            <a:noFill/>
                          </a:ln>
                          <a:solidFill>
                            <a:srgbClr val="262626">
                              <a:lumMod val="75000"/>
                              <a:lumOff val="25000"/>
                            </a:srgbClr>
                          </a:solidFill>
                          <a:effectLst/>
                          <a:uLnTx/>
                          <a:uFillTx/>
                          <a:latin typeface="Almarai" pitchFamily="2" charset="-78"/>
                          <a:ea typeface="+mn-ea"/>
                          <a:cs typeface="Almarai" pitchFamily="2" charset="-78"/>
                        </a:rPr>
                        <a:t>يجميع الخطابات يتم الرد عليها في الوقت المحدد.</a:t>
                      </a:r>
                      <a:endParaRPr kumimoji="0" lang="en-US" sz="1100" b="0" i="0" u="none" strike="noStrike" kern="1200" cap="none" spc="40" normalizeH="0" baseline="0" noProof="0" dirty="0">
                        <a:ln>
                          <a:noFill/>
                        </a:ln>
                        <a:solidFill>
                          <a:srgbClr val="262626">
                            <a:lumMod val="75000"/>
                            <a:lumOff val="25000"/>
                          </a:srgbClr>
                        </a:solidFill>
                        <a:effectLst/>
                        <a:uLnTx/>
                        <a:uFillTx/>
                        <a:latin typeface="Almarai" pitchFamily="2" charset="-78"/>
                        <a:ea typeface="+mn-ea"/>
                        <a:cs typeface="Almarai" pitchFamily="2" charset="-78"/>
                      </a:endParaRPr>
                    </a:p>
                  </a:txBody>
                  <a:tcPr marL="91437" marR="91437" marT="30387" marB="30387"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endParaRPr lang="en-US" sz="1200" b="0" i="0" u="none" strike="noStrike" dirty="0">
                        <a:solidFill>
                          <a:srgbClr val="000000"/>
                        </a:solidFill>
                        <a:effectLst/>
                        <a:latin typeface="Almarai" pitchFamily="2" charset="-78"/>
                        <a:cs typeface="Almarai" pitchFamily="2" charset="-7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endParaRPr lang="ar-SA" sz="1200" b="0" i="0" u="none" strike="noStrike" kern="1200" dirty="0">
                        <a:solidFill>
                          <a:srgbClr val="000000"/>
                        </a:solidFill>
                        <a:effectLst/>
                        <a:latin typeface="Almarai" pitchFamily="2" charset="-78"/>
                        <a:ea typeface="+mn-ea"/>
                        <a:cs typeface="Almarai" pitchFamily="2" charset="-78"/>
                      </a:endParaRP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kern="1200" dirty="0">
                          <a:solidFill>
                            <a:srgbClr val="000000"/>
                          </a:solidFill>
                          <a:effectLst/>
                          <a:latin typeface="Almarai" pitchFamily="2" charset="-78"/>
                          <a:ea typeface="+mn-ea"/>
                          <a:cs typeface="Almarai" pitchFamily="2" charset="-78"/>
                        </a:rPr>
                        <a:t>100</a:t>
                      </a:r>
                      <a:r>
                        <a:rPr lang="ar-SA" sz="1200" b="0" i="0" u="none" strike="noStrike" kern="1200" dirty="0">
                          <a:solidFill>
                            <a:srgbClr val="000000"/>
                          </a:solidFill>
                          <a:effectLst/>
                          <a:latin typeface="Almarai" pitchFamily="2" charset="-78"/>
                          <a:ea typeface="+mn-ea"/>
                          <a:cs typeface="Almarai" pitchFamily="2" charset="-78"/>
                        </a:rPr>
                        <a:t>%</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p>
                      <a:pPr marL="0" marR="0" lvl="0" indent="0" algn="ctr" defTabSz="975390" rtl="1" eaLnBrk="1" fontAlgn="ctr" latinLnBrk="0" hangingPunct="1">
                        <a:lnSpc>
                          <a:spcPct val="100000"/>
                        </a:lnSpc>
                        <a:spcBef>
                          <a:spcPts val="0"/>
                        </a:spcBef>
                        <a:spcAft>
                          <a:spcPts val="0"/>
                        </a:spcAft>
                        <a:buClrTx/>
                        <a:buSzTx/>
                        <a:buFont typeface="Arial" panose="020B0604020202020204" pitchFamily="34" charset="0"/>
                        <a:buNone/>
                        <a:tabLst/>
                        <a:defRPr/>
                      </a:pPr>
                      <a:r>
                        <a:rPr lang="ar-SA" sz="1200" b="0" i="0" u="none" strike="noStrike" kern="1200" dirty="0">
                          <a:solidFill>
                            <a:srgbClr val="000000"/>
                          </a:solidFill>
                          <a:effectLst/>
                          <a:latin typeface="Almarai" pitchFamily="2" charset="-78"/>
                          <a:ea typeface="+mn-ea"/>
                          <a:cs typeface="Almarai" pitchFamily="2" charset="-78"/>
                        </a:rPr>
                        <a:t>100%</a:t>
                      </a:r>
                    </a:p>
                  </a:txBody>
                  <a:tcPr marL="6697" marR="6697" marT="669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en-US" sz="1200" b="0" dirty="0">
                          <a:latin typeface="Almarai" pitchFamily="2" charset="-78"/>
                          <a:cs typeface="Almarai" pitchFamily="2" charset="-78"/>
                        </a:rPr>
                        <a:t>100%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r>
                        <a:rPr lang="ar-SA" sz="1200" b="0" kern="1200" dirty="0">
                          <a:solidFill>
                            <a:schemeClr val="tx1"/>
                          </a:solidFill>
                          <a:latin typeface="Almarai" pitchFamily="2" charset="-78"/>
                          <a:ea typeface="+mn-ea"/>
                          <a:cs typeface="Almarai" pitchFamily="2" charset="-78"/>
                        </a:rPr>
                        <a:t>% فترة الرد على الجهات الرقابية</a:t>
                      </a:r>
                    </a:p>
                  </a:txBody>
                  <a:tcPr marL="0" marR="9525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rtl="1">
                        <a:lnSpc>
                          <a:spcPct val="150000"/>
                        </a:lnSpc>
                      </a:pPr>
                      <a:r>
                        <a:rPr lang="en-US" sz="1200" b="0" dirty="0">
                          <a:solidFill>
                            <a:schemeClr val="tx1"/>
                          </a:solidFill>
                          <a:latin typeface="Almarai" pitchFamily="2" charset="-78"/>
                          <a:cs typeface="Almarai" pitchFamily="2" charset="-78"/>
                        </a:rPr>
                        <a:t>35%</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lang="ar-SA" sz="1200" b="0" dirty="0">
                          <a:solidFill>
                            <a:schemeClr val="tx1"/>
                          </a:solidFill>
                          <a:latin typeface="Almarai" pitchFamily="2" charset="-78"/>
                          <a:cs typeface="Almarai" pitchFamily="2" charset="-78"/>
                        </a:rPr>
                        <a:t>سنوي</a:t>
                      </a:r>
                      <a:endParaRPr lang="en-US" sz="1200" b="0" dirty="0">
                        <a:solidFill>
                          <a:schemeClr val="tx1"/>
                        </a:solidFill>
                        <a:latin typeface="Almarai" pitchFamily="2" charset="-78"/>
                        <a:cs typeface="Almarai" pitchFamily="2" charset="-78"/>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0818292"/>
                  </a:ext>
                </a:extLst>
              </a:tr>
            </a:tbl>
          </a:graphicData>
        </a:graphic>
      </p:graphicFrame>
      <p:pic>
        <p:nvPicPr>
          <p:cNvPr id="26" name="Picture 25" descr="Text&#10;&#10;Description automatically generated with medium confidence">
            <a:extLst>
              <a:ext uri="{FF2B5EF4-FFF2-40B4-BE49-F238E27FC236}">
                <a16:creationId xmlns:a16="http://schemas.microsoft.com/office/drawing/2014/main" id="{4F4AF57B-9DE0-492B-9DB0-50C6A26A0F7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863" t="1" b="-21"/>
          <a:stretch/>
        </p:blipFill>
        <p:spPr>
          <a:xfrm>
            <a:off x="112358" y="84607"/>
            <a:ext cx="819076" cy="631548"/>
          </a:xfrm>
          <a:prstGeom prst="rect">
            <a:avLst/>
          </a:prstGeom>
        </p:spPr>
      </p:pic>
      <p:sp>
        <p:nvSpPr>
          <p:cNvPr id="10" name="Rectangle 9">
            <a:extLst>
              <a:ext uri="{FF2B5EF4-FFF2-40B4-BE49-F238E27FC236}">
                <a16:creationId xmlns:a16="http://schemas.microsoft.com/office/drawing/2014/main" id="{4D4FFFC4-E065-64A4-2E89-31676DB5159D}"/>
              </a:ext>
            </a:extLst>
          </p:cNvPr>
          <p:cNvSpPr/>
          <p:nvPr/>
        </p:nvSpPr>
        <p:spPr>
          <a:xfrm>
            <a:off x="5702157" y="136902"/>
            <a:ext cx="6396620" cy="509050"/>
          </a:xfrm>
          <a:prstGeom prst="rect">
            <a:avLst/>
          </a:prstGeom>
        </p:spPr>
        <p:txBody>
          <a:bodyPr wrap="square" anchor="ctr">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ar-SA" sz="1969" b="1" i="0" u="none" strike="noStrike" kern="1200" cap="none" spc="0" normalizeH="0" baseline="0" noProof="0" dirty="0">
                <a:ln>
                  <a:noFill/>
                </a:ln>
                <a:solidFill>
                  <a:srgbClr val="002959"/>
                </a:solidFill>
                <a:effectLst/>
                <a:uLnTx/>
                <a:uFillTx/>
                <a:latin typeface="Almarai" pitchFamily="2" charset="-78"/>
                <a:cs typeface="Almarai" pitchFamily="2" charset="-78"/>
              </a:rPr>
              <a:t>مؤشرات الإدارة القانونية</a:t>
            </a:r>
          </a:p>
        </p:txBody>
      </p:sp>
    </p:spTree>
    <p:extLst>
      <p:ext uri="{BB962C8B-B14F-4D97-AF65-F5344CB8AC3E}">
        <p14:creationId xmlns:p14="http://schemas.microsoft.com/office/powerpoint/2010/main" val="3729628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59852</TotalTime>
  <Words>5750</Words>
  <Application>Microsoft Office PowerPoint</Application>
  <PresentationFormat>Widescreen</PresentationFormat>
  <Paragraphs>1221</Paragraphs>
  <Slides>36</Slides>
  <Notes>12</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36</vt:i4>
      </vt:variant>
    </vt:vector>
  </HeadingPairs>
  <TitlesOfParts>
    <vt:vector size="49" baseType="lpstr">
      <vt:lpstr>Almarai</vt:lpstr>
      <vt:lpstr>Almarai Bold</vt:lpstr>
      <vt:lpstr>Almarai ExtraBold</vt:lpstr>
      <vt:lpstr>Almarai Light</vt:lpstr>
      <vt:lpstr>Aptos</vt:lpstr>
      <vt:lpstr>Aptos Display</vt:lpstr>
      <vt:lpstr>Arial</vt:lpstr>
      <vt:lpstr>Calibri</vt:lpstr>
      <vt:lpstr>Calibri Light</vt:lpstr>
      <vt:lpstr>Sakkal Majalla</vt:lpstr>
      <vt:lpstr>STC Regular</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Munirah Nasser Alassaf</dc:creator>
  <cp:lastModifiedBy>Almaha Sulaiman Alkhurayji</cp:lastModifiedBy>
  <cp:revision>98</cp:revision>
  <dcterms:created xsi:type="dcterms:W3CDTF">2024-04-28T10:24:23Z</dcterms:created>
  <dcterms:modified xsi:type="dcterms:W3CDTF">2025-09-15T09:25:11Z</dcterms:modified>
</cp:coreProperties>
</file>